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861f8d5-6937-0a2d-fdac-355bef3bab29}">
          <p14:sldIdLst>
            <p14:sldId id="256"/>
            <p14:sldId id="257"/>
          </p14:sldIdLst>
        </p14:section>
        <p14:section name="Task and diagnosis" id="{46098a83-b33a-01aa-e4c9-6fdac0d2bfd6}">
          <p14:sldIdLst>
            <p14:sldId id="258"/>
            <p14:sldId id="259"/>
            <p14:sldId id="260"/>
            <p14:sldId id="261"/>
          </p14:sldIdLst>
        </p14:section>
        <p14:section name="System" id="{a6fa5bb7-2cd3-9bc6-ac12-130e965d23a4}">
          <p14:sldIdLst>
            <p14:sldId id="262"/>
            <p14:sldId id="263"/>
            <p14:sldId id="264"/>
            <p14:sldId id="265"/>
          </p14:sldIdLst>
        </p14:section>
        <p14:section name="Results" id="{0827e000-d859-f042-d356-a199085bfca8}">
          <p14:sldIdLst>
            <p14:sldId id="266"/>
            <p14:sldId id="267"/>
            <p14:sldId id="268"/>
            <p14:sldId id="269"/>
            <p14:sldId id="270"/>
          </p14:sldIdLst>
        </p14:section>
        <p14:section name="Closing" id="{64d51b48-7ab5-dd1f-2453-201bde543fe7}">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D1117"/>
                </a:solidFill>
                <a:latin typeface="Calibri"/>
              </a:defRPr>
            </a:pPr>
            <a:r>
              <a:rPr sz="1300" b="0" i="0" u="none" strike="noStrike">
                <a:solidFill>
                  <a:srgbClr val="0D1117"/>
                </a:solidFill>
                <a:latin typeface="Calibri"/>
              </a:rPr>
              <a:t>Out-of-vocabulary token-occurrence rate by test dialect</a:t>
            </a:r>
          </a:p>
        </c:rich>
      </c:tx>
      <c:layout/>
      <c:overlay val="0"/>
    </c:title>
    <c:autoTitleDeleted val="0"/>
    <c:plotArea>
      <c:layout/>
      <c:barChart>
        <c:barDir val="col"/>
        <c:grouping val="clustered"/>
        <c:varyColors val="0"/>
        <c:ser>
          <c:idx val="0"/>
          <c:order val="0"/>
          <c:tx>
            <c:strRef>
              <c:f>Sheet1!$B$1</c:f>
              <c:strCache>
                <c:ptCount val="1"/>
                <c:pt idx="0">
                  <c:v>OOV token occurrences (%)</c:v>
                </c:pt>
              </c:strCache>
            </c:strRef>
          </c:tx>
          <c:spPr>
            <a:solidFill>
              <a:srgbClr val="B8C4D6"/>
            </a:solidFill>
            <a:effectLst/>
          </c:spPr>
          <c:invertIfNegative val="0"/>
          <c:dLbls>
            <c:numFmt formatCode="0.0&quot;%&quot;" sourceLinked="0"/>
            <c:txPr>
              <a:bodyPr/>
              <a:lstStyle/>
              <a:p>
                <a:pPr>
                  <a:defRPr b="1" i="0" strike="noStrike" sz="1300" u="none">
                    <a:solidFill>
                      <a:srgbClr val="0D1117"/>
                    </a:solidFill>
                    <a:latin typeface="Calibri"/>
                  </a:defRPr>
                </a:pPr>
              </a:p>
            </c:txPr>
            <c:showLegendKey val="0"/>
            <c:showVal val="1"/>
            <c:showCatName val="0"/>
            <c:showSerName val="0"/>
            <c:showPercent val="0"/>
            <c:showBubbleSize val="0"/>
            <c:showLeaderLines val="0"/>
          </c:dLbls>
          <c:dPt>
            <c:idx val="0"/>
            <c:invertIfNegative val="0"/>
            <c:bubble3D val="0"/>
            <c:spPr>
              <a:solidFill>
                <a:srgbClr val="B8C4D6"/>
              </a:solidFill>
              <a:effectLst/>
            </c:spPr>
          </c:dPt>
          <c:dPt>
            <c:idx val="1"/>
            <c:invertIfNegative val="0"/>
            <c:bubble3D val="0"/>
            <c:spPr>
              <a:solidFill>
                <a:srgbClr val="B8C4D6"/>
              </a:solidFill>
              <a:effectLst/>
            </c:spPr>
          </c:dPt>
          <c:dPt>
            <c:idx val="2"/>
            <c:invertIfNegative val="0"/>
            <c:bubble3D val="0"/>
            <c:spPr>
              <a:solidFill>
                <a:srgbClr val="B8C4D6"/>
              </a:solidFill>
              <a:effectLst/>
            </c:spPr>
          </c:dPt>
          <c:dPt>
            <c:idx val="3"/>
            <c:invertIfNegative val="0"/>
            <c:bubble3D val="0"/>
            <c:spPr>
              <a:solidFill>
                <a:srgbClr val="B8C4D6"/>
              </a:solidFill>
              <a:effectLst/>
            </c:spPr>
          </c:dPt>
          <c:dPt>
            <c:idx val="4"/>
            <c:invertIfNegative val="0"/>
            <c:bubble3D val="0"/>
            <c:spPr>
              <a:solidFill>
                <a:srgbClr val="1E6BFF"/>
              </a:solidFill>
              <a:effectLst/>
            </c:spPr>
          </c:dPt>
          <c:cat>
            <c:multiLvlStrRef>
              <c:f>Sheet1!$A$2:$A$6</c:f>
              <c:multiLvlStrCache>
                <c:ptCount val="5"/>
                <c:lvl>
                  <c:pt idx="0">
                    <c:v>Egyptian</c:v>
                  </c:pt>
                  <c:pt idx="1">
                    <c:v>Jordanian</c:v>
                  </c:pt>
                  <c:pt idx="2">
                    <c:v>Saudi</c:v>
                  </c:pt>
                  <c:pt idx="3">
                    <c:v>Darija</c:v>
                  </c:pt>
                  <c:pt idx="4">
                    <c:v>Lebanese (unseen)</c:v>
                  </c:pt>
                </c:lvl>
              </c:multiLvlStrCache>
            </c:multiLvlStrRef>
          </c:cat>
          <c:val>
            <c:numRef>
              <c:f>Sheet1!$B$2:$B$6</c:f>
              <c:numCache>
                <c:formatCode>General</c:formatCode>
                <c:ptCount val="5"/>
                <c:pt idx="0">
                  <c:v>10.9</c:v>
                </c:pt>
                <c:pt idx="1">
                  <c:v>20.8</c:v>
                </c:pt>
                <c:pt idx="2">
                  <c:v>21.6</c:v>
                </c:pt>
                <c:pt idx="3">
                  <c:v>21.8</c:v>
                </c:pt>
                <c:pt idx="4">
                  <c:v>34.3</c:v>
                </c:pt>
              </c:numCache>
            </c:numRef>
          </c:val>
        </c:ser>
        <c:dLbls>
          <c:numFmt formatCode="0.0&quot;%&quot;" sourceLinked="0"/>
          <c:txPr>
            <a:bodyPr/>
            <a:lstStyle/>
            <a:p>
              <a:pPr>
                <a:defRPr b="1" i="0" strike="noStrike" sz="1300" u="none">
                  <a:solidFill>
                    <a:srgbClr val="0D1117"/>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D1117"/>
                </a:solidFill>
                <a:latin typeface="Calibri"/>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9525" cap="flat">
              <a:solidFill>
                <a:srgbClr val="E3E9F2"/>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A93A0"/>
                </a:solidFill>
                <a:latin typeface="Calibri"/>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I'm Momen Ibrahim from the Faculty of Engineering at Alexandria University. This is joint work with Mariam Hassib, Ahmed Salem and Marwan Torki. I'm presenting Team ALEXIS's system for Subtask 1 of the DialectSentEval 2026 shared task at ArabicNLP 2026.
Our paper is titled: Adversarial Training and Iterative Self-Training for Zero-Shot Dialect Sentiment Analysis. Our system ranked first of twelve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official test set we reached a Macro F1 of 0.8667, four point six points ahead of the runner-up.
Accuracy was 0.8857. The number on the right shows why the task is hard: fifty-two percent of Lebanese word types never appear in the training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three-way sentiment classification, positive, negative or neutral, on hotel-review sentences from the MDS-3 dataset. Training covers four dialects: Moroccan Darija, Egyptian, Jordanian and Saudi. But the released test set adds a fifth dialect, Lebanese, with no labeled training data at all. The classes are close to balanced across dialects, so any gap between dialects reflects transfer difficulty, not label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led to our main diagnosis: the task is a zero-shot transfer problem, not just a classification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shows the out-of-vocabulary rate for each test dialect. Lebanese reaches thirty-four point three percent of token occurrences, more than one and a half times any seen dialect. Negation markers also appear in both negative and neutral sentences, so surface cues separate the classes poorly. That is why we use contextual transformers rather than lexicons or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diagnosis also changed how we validate. Ordinary k-fold cross-validation measures generalization to new sentences from dialects the model has already seen, so it cannot see this problem. We therefore added leave-one-dialect-out validation. Each fold trains on three seen dialects and tests on the fourth, simulating the official condition: train on all four, and test on unseen Lebanese.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transition: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system has five components, each aimed at the diagnosed failure. Here they are at a glance; the next two slides go through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three dialectally diverse encoders, MARBERT version 2, CAMeLBERT-DA and AraBERT version 2, with masked mean pooling and class-weighted cross-entropy. Second, Fast Gradient Method adversarial training. At every step we perturb the word embeddings along the loss gradient. We read this as a proxy for moving from a seen dialect's embedding neighborhood to an unseen one, and it was our largest single 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iterative self-training on the unlabeled test set. Over three rounds, a committee labels the test set, and confident agreements become pseudo-labels with a reduced loss weight. In the last round a per-class filter keeps the neutral class from being under-represented. Coverage grew from 386 to 499 of the 525 test rows. Fourth, character-level noise with Arabic letter-variant swaps, which attacks the vocabulary gap directly. Finally, a uniform softmax ensemble of the three backbones. The 58 test sentences that are byte-identical to training sentences are handled by an exact-match lookup.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transition: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official leaderboard our final submission ranked first of twelve teams, with a Macro F1 of 0.8667 against 0.8210 for the runner-up.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step of the system was scored on the real leaderboard. Starting from a gold-only ensemble at 0.7806, adversarial training added 0.040, self-training another 0.027, the per-class pseudo-label filter 0.018, and character noise brought us to the final 0.8667.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result was an instructive failure. A more aggressive filter that forced the pseudo-labels to match the class proportions of the seen dialects dropped to 0.8336, because it assumed Lebanese behaves like the seen dialects. We also tried many generic regularizers and domain-invariance methods. None of them beat adversarial training, which is consistent with our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leave-one-dialect-out error analysis shows that neutral is the hardest class to recover in every split. Jordanian, the Levantine relative of Lebanese, is the easiest held-out dialect, and Egyptian is the hardest. This proxy is optimistic, though: seen-dialect cross-validation exceeds 0.93 Macro F1, while the official score is 0.8667.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diagnose the failure mode first. With an unseen dialect at test time, validate leave-one-dialect-out, and choose interventions that match the lexical and orthographic shift. Lebanese is still the dominant error source, and closing that gap will likely need genuine Lebanese-domain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is on the ACL Anthology and our code is on GitHub. You can reach both through these QR codes. Thank you for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hyperparameters are listed here for reproducibility.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LIGHT-image-3.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png"/><Relationship Id="rId3" Type="http://schemas.openxmlformats.org/officeDocument/2006/relationships/image" Target="../media/DARK-image-3.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CLOSING-image-2.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image" Target="../media/image-1006-2.png"/><Relationship Id="rId3" Type="http://schemas.openxmlformats.org/officeDocument/2006/relationships/image" Target="../media/DIVIDER-image-3.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home/aigca/ALEXIS/Posters/build/pptx/media/logo_aimoment.png">    </p:cNvPr>
          <p:cNvPicPr>
            <a:picLocks noChangeAspect="1"/>
          </p:cNvPicPr>
          <p:nvPr/>
        </p:nvPicPr>
        <p:blipFill>
          <a:blip r:embed="rId1"/>
          <a:stretch>
            <a:fillRect/>
          </a:stretch>
        </p:blipFill>
        <p:spPr>
          <a:xfrm>
            <a:off x="9765792" y="274320"/>
            <a:ext cx="1965960" cy="249677"/>
          </a:xfrm>
          <a:prstGeom prst="rect">
            <a:avLst/>
          </a:prstGeom>
        </p:spPr>
      </p:pic>
      <p:pic>
        <p:nvPicPr>
          <p:cNvPr id="3" name="Image 1" descr="/home/aigca/ALEXIS/Posters/build/pptx/media/chevron.png">    </p:cNvPr>
          <p:cNvPicPr>
            <a:picLocks noChangeAspect="1"/>
          </p:cNvPicPr>
          <p:nvPr/>
        </p:nvPicPr>
        <p:blipFill>
          <a:blip r:embed="rId2"/>
          <a:stretch>
            <a:fillRect/>
          </a:stretch>
        </p:blipFill>
        <p:spPr>
          <a:xfrm>
            <a:off x="457200" y="457200"/>
            <a:ext cx="256032" cy="256032"/>
          </a:xfrm>
          <a:prstGeom prst="rect">
            <a:avLst/>
          </a:prstGeom>
        </p:spPr>
      </p:pic>
      <p:sp>
        <p:nvSpPr>
          <p:cNvPr id="4" name="Text 0"/>
          <p:cNvSpPr/>
          <p:nvPr/>
        </p:nvSpPr>
        <p:spPr>
          <a:xfrm>
            <a:off x="457200" y="6419088"/>
            <a:ext cx="7315200" cy="274320"/>
          </a:xfrm>
          <a:prstGeom prst="rect">
            <a:avLst/>
          </a:prstGeom>
          <a:noFill/>
          <a:ln/>
        </p:spPr>
        <p:txBody>
          <a:bodyPr wrap="square" lIns="0" tIns="0" rIns="0" bIns="0" rtlCol="0" anchor="ctr"/>
          <a:lstStyle/>
          <a:p>
            <a:pPr indent="0" marL="0">
              <a:buNone/>
            </a:pPr>
            <a:r>
              <a:rPr lang="en-US" sz="900" dirty="0">
                <a:solidFill>
                  <a:srgbClr val="8A93A0"/>
                </a:solidFill>
                <a:latin typeface="Calibri" pitchFamily="34" charset="0"/>
                <a:ea typeface="Calibri" pitchFamily="34" charset="-122"/>
                <a:cs typeface="Calibri" pitchFamily="34" charset="-120"/>
              </a:rPr>
              <a:t>ALEXIS  ·  DialectSentEval 2026 Subtask 1  ·  ArabicNLP 2026</a:t>
            </a:r>
            <a:endParaRPr lang="en-US" sz="900" dirty="0"/>
          </a:p>
        </p:txBody>
      </p:sp>
      <p:sp>
        <p:nvSpPr>
          <p:cNvPr id="5" name="Text 1"/>
          <p:cNvSpPr/>
          <p:nvPr>
            <p:ph idx="103" type="body" hasCustomPrompt="1"/>
          </p:nvPr>
        </p:nvSpPr>
        <p:spPr>
          <a:xfrm>
            <a:off x="786384" y="457200"/>
            <a:ext cx="8229600" cy="256032"/>
          </a:xfrm>
          <a:prstGeom prst="rect">
            <a:avLst/>
          </a:prstGeom>
          <a:noFill/>
          <a:ln/>
        </p:spPr>
        <p:txBody>
          <a:bodyPr wrap="square" rtlCol="0"/>
          <a:lstStyle>
            <a:lvl1pPr algn="l" indent="0" marL="0">
              <a:buNone/>
              <a:defRPr lang="en-US" sz="1100" b="1" spc="100" kern="0" dirty="0">
                <a:solidFill>
                  <a:srgbClr val="1E6BFF"/>
                </a:solidFill>
                <a:latin typeface="Arial" pitchFamily="34" charset="0"/>
                <a:ea typeface="Arial" pitchFamily="34" charset="-122"/>
                <a:cs typeface="Arial" pitchFamily="34" charset="-120"/>
              </a:defRPr>
            </a:lvl1pPr>
          </a:lstStyle>
          <a:p>
            <a:pPr algn="l" indent="0" marL="0">
              <a:buNone/>
            </a:pPr>
            <a:endParaRPr lang="en-US" sz="1100" dirty="0"/>
          </a:p>
        </p:txBody>
      </p:sp>
      <p:sp>
        <p:nvSpPr>
          <p:cNvPr id="6" name="Text 1"/>
          <p:cNvSpPr/>
          <p:nvPr>
            <p:ph idx="104" type="title" hasCustomPrompt="1"/>
          </p:nvPr>
        </p:nvSpPr>
        <p:spPr>
          <a:xfrm>
            <a:off x="457200" y="768096"/>
            <a:ext cx="11247120" cy="566928"/>
          </a:xfrm>
          <a:prstGeom prst="rect">
            <a:avLst/>
          </a:prstGeom>
          <a:noFill/>
          <a:ln/>
        </p:spPr>
        <p:txBody>
          <a:bodyPr wrap="square" rtlCol="0"/>
          <a:lstStyle>
            <a:lvl1pPr algn="l" indent="0" marL="0">
              <a:buNone/>
              <a:defRPr lang="en-US" sz="2800" b="1" dirty="0">
                <a:solidFill>
                  <a:srgbClr val="0D1117"/>
                </a:solidFill>
                <a:latin typeface="Arial" pitchFamily="34" charset="0"/>
                <a:ea typeface="Arial" pitchFamily="34" charset="-122"/>
                <a:cs typeface="Arial"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home/aigca/ALEXIS/Posters/build/pptx/media/logo_aimoment_white.png">    </p:cNvPr>
          <p:cNvPicPr>
            <a:picLocks noChangeAspect="1"/>
          </p:cNvPicPr>
          <p:nvPr/>
        </p:nvPicPr>
        <p:blipFill>
          <a:blip r:embed="rId1"/>
          <a:stretch>
            <a:fillRect/>
          </a:stretch>
        </p:blipFill>
        <p:spPr>
          <a:xfrm>
            <a:off x="9765792" y="274320"/>
            <a:ext cx="1965960" cy="249677"/>
          </a:xfrm>
          <a:prstGeom prst="rect">
            <a:avLst/>
          </a:prstGeom>
        </p:spPr>
      </p:pic>
      <p:pic>
        <p:nvPicPr>
          <p:cNvPr id="3" name="Image 1" descr="/home/aigca/ALEXIS/Posters/build/pptx/media/chevron.png">    </p:cNvPr>
          <p:cNvPicPr>
            <a:picLocks noChangeAspect="1"/>
          </p:cNvPicPr>
          <p:nvPr/>
        </p:nvPicPr>
        <p:blipFill>
          <a:blip r:embed="rId2"/>
          <a:stretch>
            <a:fillRect/>
          </a:stretch>
        </p:blipFill>
        <p:spPr>
          <a:xfrm>
            <a:off x="457200" y="548640"/>
            <a:ext cx="274320" cy="274320"/>
          </a:xfrm>
          <a:prstGeom prst="rect">
            <a:avLst/>
          </a:prstGeom>
        </p:spPr>
      </p:pic>
      <p:sp>
        <p:nvSpPr>
          <p:cNvPr id="4" name="Text 0"/>
          <p:cNvSpPr/>
          <p:nvPr/>
        </p:nvSpPr>
        <p:spPr>
          <a:xfrm>
            <a:off x="457200" y="6419088"/>
            <a:ext cx="7315200" cy="274320"/>
          </a:xfrm>
          <a:prstGeom prst="rect">
            <a:avLst/>
          </a:prstGeom>
          <a:noFill/>
          <a:ln/>
        </p:spPr>
        <p:txBody>
          <a:bodyPr wrap="square" lIns="0" tIns="0" rIns="0" bIns="0" rtlCol="0" anchor="ctr"/>
          <a:lstStyle/>
          <a:p>
            <a:pPr indent="0" marL="0">
              <a:buNone/>
            </a:pPr>
            <a:r>
              <a:rPr lang="en-US" sz="900" dirty="0">
                <a:solidFill>
                  <a:srgbClr val="8A93A0"/>
                </a:solidFill>
                <a:latin typeface="Calibri" pitchFamily="34" charset="0"/>
                <a:ea typeface="Calibri" pitchFamily="34" charset="-122"/>
                <a:cs typeface="Calibri" pitchFamily="34" charset="-120"/>
              </a:rPr>
              <a:t>ALEXIS  ·  DialectSentEval 2026 Subtask 1  ·  ArabicNLP 2026</a:t>
            </a:r>
            <a:endParaRPr lang="en-US" sz="900" dirty="0"/>
          </a:p>
        </p:txBody>
      </p:sp>
      <p:sp>
        <p:nvSpPr>
          <p:cNvPr id="5" name="Text 1"/>
          <p:cNvSpPr/>
          <p:nvPr>
            <p:ph idx="103" type="body" hasCustomPrompt="1"/>
          </p:nvPr>
        </p:nvSpPr>
        <p:spPr>
          <a:xfrm>
            <a:off x="822960" y="548640"/>
            <a:ext cx="8229600" cy="274320"/>
          </a:xfrm>
          <a:prstGeom prst="rect">
            <a:avLst/>
          </a:prstGeom>
          <a:noFill/>
          <a:ln/>
        </p:spPr>
        <p:txBody>
          <a:bodyPr wrap="square" rtlCol="0"/>
          <a:lstStyle>
            <a:lvl1pPr algn="l" indent="0" marL="0">
              <a:buNone/>
              <a:defRPr lang="en-US" sz="1200" b="1" spc="100" kern="0" dirty="0">
                <a:solidFill>
                  <a:srgbClr val="22C3FF"/>
                </a:solidFill>
                <a:latin typeface="Arial" pitchFamily="34" charset="0"/>
                <a:ea typeface="Arial" pitchFamily="34" charset="-122"/>
                <a:cs typeface="Arial" pitchFamily="34" charset="-120"/>
              </a:defRPr>
            </a:lvl1pPr>
          </a:lstStyle>
          <a:p>
            <a:pPr algn="l" indent="0" marL="0">
              <a:buNone/>
            </a:pPr>
            <a:endParaRPr lang="en-US" sz="1200" dirty="0"/>
          </a:p>
        </p:txBody>
      </p:sp>
      <p:sp>
        <p:nvSpPr>
          <p:cNvPr id="6" name="Text 1"/>
          <p:cNvSpPr/>
          <p:nvPr>
            <p:ph idx="104" type="title" hasCustomPrompt="1"/>
          </p:nvPr>
        </p:nvSpPr>
        <p:spPr>
          <a:xfrm>
            <a:off x="457200" y="1097280"/>
            <a:ext cx="11247120" cy="1188720"/>
          </a:xfrm>
          <a:prstGeom prst="rect">
            <a:avLst/>
          </a:prstGeom>
          <a:noFill/>
          <a:ln/>
        </p:spPr>
        <p:txBody>
          <a:bodyPr wrap="square" rtlCol="0"/>
          <a:lstStyle>
            <a:lvl1pPr algn="l" indent="0" marL="0">
              <a:buNone/>
              <a:defRPr lang="en-US" sz="3000" b="1" dirty="0">
                <a:solidFill>
                  <a:srgbClr val="FFFFFF"/>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2C3FF"/>
                </a:solidFill>
                <a:latin typeface="Arial"/>
                <a:ea typeface="Arial"/>
                <a:cs typeface="Arial"/>
              </a:defRPr>
            </a:lvl1pPr>
          </a:lstStyle>
          <a:p>
            <a:pPr algn="r"/>
            <a:fld id="{F7021451-1387-4CA6-816F-3879F97B5CBC}" type="slidenum">
              <a:rPr b="1"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home/aigca/ALEXIS/Posters/build/pptx/media/logo_aimoment_white.png">    </p:cNvPr>
          <p:cNvPicPr>
            <a:picLocks noChangeAspect="1"/>
          </p:cNvPicPr>
          <p:nvPr/>
        </p:nvPicPr>
        <p:blipFill>
          <a:blip r:embed="rId1"/>
          <a:stretch>
            <a:fillRect/>
          </a:stretch>
        </p:blipFill>
        <p:spPr>
          <a:xfrm>
            <a:off x="9765792" y="274320"/>
            <a:ext cx="1965960" cy="249677"/>
          </a:xfrm>
          <a:prstGeom prst="rect">
            <a:avLst/>
          </a:prstGeom>
        </p:spPr>
      </p:pic>
      <p:sp>
        <p:nvSpPr>
          <p:cNvPr id="3" name="Text 0"/>
          <p:cNvSpPr/>
          <p:nvPr/>
        </p:nvSpPr>
        <p:spPr>
          <a:xfrm>
            <a:off x="457200" y="6419088"/>
            <a:ext cx="7315200" cy="274320"/>
          </a:xfrm>
          <a:prstGeom prst="rect">
            <a:avLst/>
          </a:prstGeom>
          <a:noFill/>
          <a:ln/>
        </p:spPr>
        <p:txBody>
          <a:bodyPr wrap="square" lIns="0" tIns="0" rIns="0" bIns="0" rtlCol="0" anchor="ctr"/>
          <a:lstStyle/>
          <a:p>
            <a:pPr indent="0" marL="0">
              <a:buNone/>
            </a:pPr>
            <a:r>
              <a:rPr lang="en-US" sz="900" dirty="0">
                <a:solidFill>
                  <a:srgbClr val="8A93A0"/>
                </a:solidFill>
                <a:latin typeface="Calibri" pitchFamily="34" charset="0"/>
                <a:ea typeface="Calibri" pitchFamily="34" charset="-122"/>
                <a:cs typeface="Calibri" pitchFamily="34" charset="-120"/>
              </a:rPr>
              <a:t>ALEXIS  ·  DialectSentEval 2026 Subtask 1  ·  ArabicNLP 2026</a:t>
            </a:r>
            <a:endParaRPr lang="en-US" sz="9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IVIDER">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home/aigca/ALEXIS/Posters/build/pptx/media/logo_aimoment_white.png">    </p:cNvPr>
          <p:cNvPicPr>
            <a:picLocks noChangeAspect="1"/>
          </p:cNvPicPr>
          <p:nvPr/>
        </p:nvPicPr>
        <p:blipFill>
          <a:blip r:embed="rId1"/>
          <a:stretch>
            <a:fillRect/>
          </a:stretch>
        </p:blipFill>
        <p:spPr>
          <a:xfrm>
            <a:off x="9765792" y="274320"/>
            <a:ext cx="1965960" cy="249677"/>
          </a:xfrm>
          <a:prstGeom prst="rect">
            <a:avLst/>
          </a:prstGeom>
        </p:spPr>
      </p:pic>
      <p:pic>
        <p:nvPicPr>
          <p:cNvPr id="3" name="Image 1" descr="/home/aigca/ALEXIS/Posters/build/pptx/media/chevron_big.png">    </p:cNvPr>
          <p:cNvPicPr>
            <a:picLocks noChangeAspect="1"/>
          </p:cNvPicPr>
          <p:nvPr/>
        </p:nvPicPr>
        <p:blipFill>
          <a:blip r:embed="rId2"/>
          <a:stretch>
            <a:fillRect/>
          </a:stretch>
        </p:blipFill>
        <p:spPr>
          <a:xfrm>
            <a:off x="3977640" y="2788920"/>
            <a:ext cx="640080" cy="640080"/>
          </a:xfrm>
          <a:prstGeom prst="rect">
            <a:avLst/>
          </a:prstGeom>
        </p:spPr>
      </p:pic>
      <p:sp>
        <p:nvSpPr>
          <p:cNvPr id="4" name="Text 0"/>
          <p:cNvSpPr/>
          <p:nvPr/>
        </p:nvSpPr>
        <p:spPr>
          <a:xfrm>
            <a:off x="457200" y="6419088"/>
            <a:ext cx="7315200" cy="274320"/>
          </a:xfrm>
          <a:prstGeom prst="rect">
            <a:avLst/>
          </a:prstGeom>
          <a:noFill/>
          <a:ln/>
        </p:spPr>
        <p:txBody>
          <a:bodyPr wrap="square" lIns="0" tIns="0" rIns="0" bIns="0" rtlCol="0" anchor="ctr"/>
          <a:lstStyle/>
          <a:p>
            <a:pPr indent="0" marL="0">
              <a:buNone/>
            </a:pPr>
            <a:r>
              <a:rPr lang="en-US" sz="900" dirty="0">
                <a:solidFill>
                  <a:srgbClr val="8A93A0"/>
                </a:solidFill>
                <a:latin typeface="Calibri" pitchFamily="34" charset="0"/>
                <a:ea typeface="Calibri" pitchFamily="34" charset="-122"/>
                <a:cs typeface="Calibri" pitchFamily="34" charset="-120"/>
              </a:rPr>
              <a:t>ALEXIS  ·  DialectSentEval 2026 Subtask 1  ·  ArabicNLP 2026</a:t>
            </a:r>
            <a:endParaRPr lang="en-US" sz="900" dirty="0"/>
          </a:p>
        </p:txBody>
      </p:sp>
      <p:sp>
        <p:nvSpPr>
          <p:cNvPr id="5" name="Text 1"/>
          <p:cNvSpPr/>
          <p:nvPr>
            <p:ph idx="103" type="body" hasCustomPrompt="1"/>
          </p:nvPr>
        </p:nvSpPr>
        <p:spPr>
          <a:xfrm>
            <a:off x="822960" y="2011680"/>
            <a:ext cx="2926080" cy="1828800"/>
          </a:xfrm>
          <a:prstGeom prst="rect">
            <a:avLst/>
          </a:prstGeom>
          <a:noFill/>
          <a:ln/>
        </p:spPr>
        <p:txBody>
          <a:bodyPr wrap="square" rtlCol="0"/>
          <a:lstStyle>
            <a:lvl1pPr algn="l" indent="0" marL="0">
              <a:buNone/>
              <a:defRPr lang="en-US" sz="12000" b="1" dirty="0">
                <a:solidFill>
                  <a:srgbClr val="1E6BFF"/>
                </a:solidFill>
                <a:latin typeface="Arial" pitchFamily="34" charset="0"/>
                <a:ea typeface="Arial" pitchFamily="34" charset="-122"/>
                <a:cs typeface="Arial" pitchFamily="34" charset="-120"/>
              </a:defRPr>
            </a:lvl1pPr>
          </a:lstStyle>
          <a:p>
            <a:pPr algn="l" indent="0" marL="0">
              <a:buNone/>
            </a:pPr>
            <a:endParaRPr lang="en-US" sz="12000" dirty="0"/>
          </a:p>
        </p:txBody>
      </p:sp>
      <p:sp>
        <p:nvSpPr>
          <p:cNvPr id="6" name="Text 1"/>
          <p:cNvSpPr/>
          <p:nvPr>
            <p:ph idx="104" type="title" hasCustomPrompt="1"/>
          </p:nvPr>
        </p:nvSpPr>
        <p:spPr>
          <a:xfrm>
            <a:off x="4754880" y="2468880"/>
            <a:ext cx="6949440" cy="822960"/>
          </a:xfrm>
          <a:prstGeom prst="rect">
            <a:avLst/>
          </a:prstGeom>
          <a:noFill/>
          <a:ln/>
        </p:spPr>
        <p:txBody>
          <a:bodyPr wrap="square" rtlCol="0"/>
          <a:lstStyle>
            <a:lvl1pPr algn="l" indent="0" marL="0">
              <a:buNone/>
              <a:defRPr lang="en-US" sz="3600" b="1" dirty="0">
                <a:solidFill>
                  <a:srgbClr val="FFFFFF"/>
                </a:solidFill>
                <a:latin typeface="Arial" pitchFamily="34" charset="0"/>
                <a:ea typeface="Arial" pitchFamily="34" charset="-122"/>
                <a:cs typeface="Arial" pitchFamily="34" charset="-120"/>
              </a:defRPr>
            </a:lvl1pPr>
          </a:lstStyle>
          <a:p>
            <a:pPr algn="l" indent="0" marL="0">
              <a:buNone/>
            </a:pPr>
            <a:endParaRPr lang="en-US" sz="3600" dirty="0"/>
          </a:p>
        </p:txBody>
      </p:sp>
      <p:sp>
        <p:nvSpPr>
          <p:cNvPr id="7" name="Text 1"/>
          <p:cNvSpPr/>
          <p:nvPr>
            <p:ph idx="105" type="body" hasCustomPrompt="1"/>
          </p:nvPr>
        </p:nvSpPr>
        <p:spPr>
          <a:xfrm>
            <a:off x="4773168" y="3310128"/>
            <a:ext cx="6858000" cy="548640"/>
          </a:xfrm>
          <a:prstGeom prst="rect">
            <a:avLst/>
          </a:prstGeom>
          <a:noFill/>
          <a:ln/>
        </p:spPr>
        <p:txBody>
          <a:bodyPr wrap="square" rtlCol="0"/>
          <a:lstStyle>
            <a:lvl1pPr algn="l" indent="0" marL="0">
              <a:buNone/>
              <a:defRPr lang="en-US" sz="1600" dirty="0">
                <a:solidFill>
                  <a:srgbClr val="9FB3D0"/>
                </a:solidFill>
                <a:latin typeface="Calibri" pitchFamily="34" charset="0"/>
                <a:ea typeface="Calibri" pitchFamily="34" charset="-122"/>
                <a:cs typeface="Calibri" pitchFamily="34" charset="-120"/>
              </a:defRPr>
            </a:lvl1pPr>
          </a:lstStyle>
          <a:p>
            <a:pPr algn="l" indent="0" marL="0">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2.png"/><Relationship Id="rId5" Type="http://schemas.openxmlformats.org/officeDocument/2006/relationships/image" Target="../media/image-8-5.png"/><Relationship Id="rId6" Type="http://schemas.openxmlformats.org/officeDocument/2006/relationships/image" Target="../media/image-8-2.png"/><Relationship Id="rId7" Type="http://schemas.openxmlformats.org/officeDocument/2006/relationships/image" Target="../media/image-8-7.png"/><Relationship Id="rId8" Type="http://schemas.openxmlformats.org/officeDocument/2006/relationships/image" Target="../media/image-8-2.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slideLayout" Target="../slideLayouts/slideLayout3.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image" Target="../media/image-9-1.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3.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5.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30352" y="457200"/>
            <a:ext cx="3246120" cy="868680"/>
          </a:xfrm>
          <a:prstGeom prst="roundRect">
            <a:avLst>
              <a:gd name="adj" fmla="val 12632"/>
            </a:avLst>
          </a:prstGeom>
          <a:solidFill>
            <a:srgbClr val="FFFFFF"/>
          </a:solidFill>
          <a:ln w="9525">
            <a:solidFill>
              <a:srgbClr val="FFFFFF"/>
            </a:solidFill>
            <a:prstDash val="solid"/>
          </a:ln>
          <a:effectLst>
            <a:outerShdw sx="100000" sy="100000" kx="0" ky="0" algn="bl" rotWithShape="0" blurRad="101600" dist="25400" dir="5400000">
              <a:srgbClr val="0D1B3A">
                <a:alpha val="35000"/>
              </a:srgbClr>
            </a:outerShdw>
          </a:effectLst>
        </p:spPr>
      </p:sp>
      <p:pic>
        <p:nvPicPr>
          <p:cNvPr id="3" name="Image 0" descr="/home/aigca/ALEXIS/Posters/build/pptx/media/logo_emnlp.png">    </p:cNvPr>
          <p:cNvPicPr>
            <a:picLocks noChangeAspect="1"/>
          </p:cNvPicPr>
          <p:nvPr/>
        </p:nvPicPr>
        <p:blipFill>
          <a:blip r:embed="rId1"/>
          <a:stretch>
            <a:fillRect/>
          </a:stretch>
        </p:blipFill>
        <p:spPr>
          <a:xfrm>
            <a:off x="713232" y="708660"/>
            <a:ext cx="2103120" cy="366348"/>
          </a:xfrm>
          <a:prstGeom prst="rect">
            <a:avLst/>
          </a:prstGeom>
        </p:spPr>
      </p:pic>
      <p:pic>
        <p:nvPicPr>
          <p:cNvPr id="4" name="Image 1" descr="/home/aigca/ALEXIS/Posters/build/pptx/media/logo_sigarab.png">    </p:cNvPr>
          <p:cNvPicPr>
            <a:picLocks noChangeAspect="1"/>
          </p:cNvPicPr>
          <p:nvPr/>
        </p:nvPicPr>
        <p:blipFill>
          <a:blip r:embed="rId2"/>
          <a:stretch>
            <a:fillRect/>
          </a:stretch>
        </p:blipFill>
        <p:spPr>
          <a:xfrm>
            <a:off x="2971800" y="548640"/>
            <a:ext cx="685800" cy="685800"/>
          </a:xfrm>
          <a:prstGeom prst="rect">
            <a:avLst/>
          </a:prstGeom>
        </p:spPr>
      </p:pic>
      <p:pic>
        <p:nvPicPr>
          <p:cNvPr id="5" name="Image 2" descr="/home/aigca/ALEXIS/Posters/build/pptx/media/au_emblem.png">    </p:cNvPr>
          <p:cNvPicPr>
            <a:picLocks noChangeAspect="1"/>
          </p:cNvPicPr>
          <p:nvPr/>
        </p:nvPicPr>
        <p:blipFill>
          <a:blip r:embed="rId3"/>
          <a:stretch>
            <a:fillRect/>
          </a:stretch>
        </p:blipFill>
        <p:spPr>
          <a:xfrm>
            <a:off x="10241280" y="292608"/>
            <a:ext cx="1371600" cy="1371600"/>
          </a:xfrm>
          <a:prstGeom prst="rect">
            <a:avLst/>
          </a:prstGeom>
        </p:spPr>
      </p:pic>
      <p:sp>
        <p:nvSpPr>
          <p:cNvPr id="6" name="Text 1"/>
          <p:cNvSpPr txBox="1"/>
          <p:nvPr/>
        </p:nvSpPr>
        <p:spPr>
          <a:xfrm>
            <a:off x="1828800" y="1417320"/>
            <a:ext cx="8531352" cy="274320"/>
          </a:xfrm>
          <a:prstGeom prst="rect">
            <a:avLst/>
          </a:prstGeom>
          <a:noFill/>
          <a:ln/>
        </p:spPr>
        <p:txBody>
          <a:bodyPr wrap="square" lIns="0" tIns="0" rIns="0" bIns="0" rtlCol="0" anchor="t"/>
          <a:lstStyle/>
          <a:p>
            <a:pPr algn="ctr" indent="0" marL="0">
              <a:buNone/>
            </a:pPr>
            <a:r>
              <a:rPr lang="en-US" sz="1100" spc="100" kern="0" dirty="0">
                <a:solidFill>
                  <a:srgbClr val="9FB3D0"/>
                </a:solidFill>
                <a:latin typeface="Calibri" pitchFamily="34" charset="0"/>
                <a:ea typeface="Calibri" pitchFamily="34" charset="-122"/>
                <a:cs typeface="Calibri" pitchFamily="34" charset="-120"/>
              </a:rPr>
              <a:t>W13  ·  THE FOURTH ARABIC NLP CONFERENCE (ArabicNLP 2026)  ·  EMNLP 2026  ·  BUDAPEST</a:t>
            </a:r>
            <a:endParaRPr lang="en-US" sz="1100" dirty="0"/>
          </a:p>
        </p:txBody>
      </p:sp>
      <p:sp>
        <p:nvSpPr>
          <p:cNvPr id="7" name="Text 2"/>
          <p:cNvSpPr txBox="1"/>
          <p:nvPr/>
        </p:nvSpPr>
        <p:spPr>
          <a:xfrm>
            <a:off x="0" y="1920240"/>
            <a:ext cx="12191695" cy="320040"/>
          </a:xfrm>
          <a:prstGeom prst="rect">
            <a:avLst/>
          </a:prstGeom>
          <a:noFill/>
          <a:ln/>
        </p:spPr>
        <p:txBody>
          <a:bodyPr wrap="square" lIns="0" tIns="0" rIns="0" bIns="0" rtlCol="0" anchor="t"/>
          <a:lstStyle/>
          <a:p>
            <a:pPr algn="ctr" indent="0" marL="0">
              <a:buNone/>
            </a:pPr>
            <a:r>
              <a:rPr lang="en-US" sz="1300" b="1" spc="100" kern="0" dirty="0">
                <a:solidFill>
                  <a:srgbClr val="22C3FF"/>
                </a:solidFill>
                <a:latin typeface="Arial" pitchFamily="34" charset="0"/>
                <a:ea typeface="Arial" pitchFamily="34" charset="-122"/>
                <a:cs typeface="Arial" pitchFamily="34" charset="-120"/>
              </a:rPr>
              <a:t>ARABIC DIALECT SENTIMENT ANALYSIS  ·  DIALECTSENTEVAL 2026 SUBTASK 1</a:t>
            </a:r>
            <a:endParaRPr lang="en-US" sz="1300" dirty="0"/>
          </a:p>
        </p:txBody>
      </p:sp>
      <p:sp>
        <p:nvSpPr>
          <p:cNvPr id="8" name="Text 3"/>
          <p:cNvSpPr txBox="1"/>
          <p:nvPr/>
        </p:nvSpPr>
        <p:spPr>
          <a:xfrm>
            <a:off x="548640" y="2286000"/>
            <a:ext cx="11094415" cy="685800"/>
          </a:xfrm>
          <a:prstGeom prst="rect">
            <a:avLst/>
          </a:prstGeom>
          <a:noFill/>
          <a:ln/>
        </p:spPr>
        <p:txBody>
          <a:bodyPr wrap="square" lIns="0" tIns="0" rIns="0" bIns="0" rtlCol="0" anchor="ctr">
            <a:normAutofit/>
          </a:bodyPr>
          <a:lstStyle/>
          <a:p>
            <a:pPr algn="ctr" indent="0" marL="0">
              <a:buNone/>
            </a:pPr>
            <a:r>
              <a:rPr lang="en-US" sz="3400" b="1" dirty="0">
                <a:solidFill>
                  <a:srgbClr val="FFFFFF"/>
                </a:solidFill>
                <a:latin typeface="Arial" pitchFamily="34" charset="0"/>
                <a:ea typeface="Arial" pitchFamily="34" charset="-122"/>
                <a:cs typeface="Arial" pitchFamily="34" charset="-120"/>
              </a:rPr>
              <a:t>Adversarial Training and Iterative Self-Training</a:t>
            </a:r>
            <a:endParaRPr lang="en-US" sz="3400" dirty="0"/>
          </a:p>
        </p:txBody>
      </p:sp>
      <p:sp>
        <p:nvSpPr>
          <p:cNvPr id="9" name="Text 4"/>
          <p:cNvSpPr txBox="1"/>
          <p:nvPr/>
        </p:nvSpPr>
        <p:spPr>
          <a:xfrm>
            <a:off x="548640" y="2971800"/>
            <a:ext cx="11094415" cy="548640"/>
          </a:xfrm>
          <a:prstGeom prst="rect">
            <a:avLst/>
          </a:prstGeom>
          <a:noFill/>
          <a:ln/>
        </p:spPr>
        <p:txBody>
          <a:bodyPr wrap="square" lIns="0" tIns="0" rIns="0" bIns="0" rtlCol="0" anchor="ctr"/>
          <a:lstStyle/>
          <a:p>
            <a:pPr algn="ctr" indent="0" marL="0">
              <a:buNone/>
            </a:pPr>
            <a:r>
              <a:rPr lang="en-US" sz="2600" b="1" dirty="0">
                <a:solidFill>
                  <a:srgbClr val="22C3FF"/>
                </a:solidFill>
                <a:latin typeface="Arial" pitchFamily="34" charset="0"/>
                <a:ea typeface="Arial" pitchFamily="34" charset="-122"/>
                <a:cs typeface="Arial" pitchFamily="34" charset="-120"/>
              </a:rPr>
              <a:t>for Zero-Shot Dialect Sentiment Analysis</a:t>
            </a:r>
            <a:endParaRPr lang="en-US" sz="2600" dirty="0"/>
          </a:p>
        </p:txBody>
      </p:sp>
      <p:sp>
        <p:nvSpPr>
          <p:cNvPr id="10" name="Shape 5"/>
          <p:cNvSpPr/>
          <p:nvPr/>
        </p:nvSpPr>
        <p:spPr>
          <a:xfrm>
            <a:off x="4160520" y="3767328"/>
            <a:ext cx="713232" cy="804672"/>
          </a:xfrm>
          <a:prstGeom prst="roundRect">
            <a:avLst>
              <a:gd name="adj" fmla="val 12821"/>
            </a:avLst>
          </a:prstGeom>
          <a:solidFill>
            <a:srgbClr val="FFFFFF"/>
          </a:solidFill>
          <a:ln w="9525">
            <a:solidFill>
              <a:srgbClr val="FFFFFF"/>
            </a:solidFill>
            <a:prstDash val="solid"/>
          </a:ln>
          <a:effectLst>
            <a:outerShdw sx="100000" sy="100000" kx="0" ky="0" algn="bl" rotWithShape="0" blurRad="101600" dist="25400" dir="5400000">
              <a:srgbClr val="0D1B3A">
                <a:alpha val="35000"/>
              </a:srgbClr>
            </a:outerShdw>
          </a:effectLst>
        </p:spPr>
      </p:sp>
      <p:pic>
        <p:nvPicPr>
          <p:cNvPr id="11" name="Image 3" descr="/home/aigca/ALEXIS/Posters/build/pptx/media/logo_alexis.png">    </p:cNvPr>
          <p:cNvPicPr>
            <a:picLocks noChangeAspect="1"/>
          </p:cNvPicPr>
          <p:nvPr/>
        </p:nvPicPr>
        <p:blipFill>
          <a:blip r:embed="rId4"/>
          <a:stretch>
            <a:fillRect/>
          </a:stretch>
        </p:blipFill>
        <p:spPr>
          <a:xfrm>
            <a:off x="4233672" y="3813048"/>
            <a:ext cx="566928" cy="697758"/>
          </a:xfrm>
          <a:prstGeom prst="rect">
            <a:avLst/>
          </a:prstGeom>
        </p:spPr>
      </p:pic>
      <p:pic>
        <p:nvPicPr>
          <p:cNvPr id="12" name="Image 4" descr="/home/aigca/ALEXIS/Posters/build/pptx/media/logo_aimoment_white.png">    </p:cNvPr>
          <p:cNvPicPr>
            <a:picLocks noChangeAspect="1"/>
          </p:cNvPicPr>
          <p:nvPr/>
        </p:nvPicPr>
        <p:blipFill>
          <a:blip r:embed="rId5"/>
          <a:stretch>
            <a:fillRect/>
          </a:stretch>
        </p:blipFill>
        <p:spPr>
          <a:xfrm>
            <a:off x="5074920" y="4005072"/>
            <a:ext cx="2926080" cy="371612"/>
          </a:xfrm>
          <a:prstGeom prst="rect">
            <a:avLst/>
          </a:prstGeom>
        </p:spPr>
      </p:pic>
      <p:sp>
        <p:nvSpPr>
          <p:cNvPr id="13" name="Text 6"/>
          <p:cNvSpPr txBox="1"/>
          <p:nvPr/>
        </p:nvSpPr>
        <p:spPr>
          <a:xfrm>
            <a:off x="0" y="4754880"/>
            <a:ext cx="12191695" cy="320040"/>
          </a:xfrm>
          <a:prstGeom prst="rect">
            <a:avLst/>
          </a:prstGeom>
          <a:noFill/>
          <a:ln/>
        </p:spPr>
        <p:txBody>
          <a:bodyPr wrap="square" lIns="0" tIns="0" rIns="0" bIns="0" rtlCol="0" anchor="t"/>
          <a:lstStyle/>
          <a:p>
            <a:pPr algn="ctr" indent="0" marL="0">
              <a:buNone/>
            </a:pPr>
            <a:r>
              <a:rPr lang="en-US" sz="1500" dirty="0">
                <a:solidFill>
                  <a:srgbClr val="FFFFFF"/>
                </a:solidFill>
                <a:latin typeface="Calibri" pitchFamily="34" charset="0"/>
                <a:ea typeface="Calibri" pitchFamily="34" charset="-122"/>
                <a:cs typeface="Calibri" pitchFamily="34" charset="-120"/>
              </a:rPr>
              <a:t>Momen Ibrahim  ·  Mariam E. Hassib  ·  Ahmed Salem  ·  Marwan Torki</a:t>
            </a:r>
            <a:endParaRPr lang="en-US" sz="1500" dirty="0"/>
          </a:p>
        </p:txBody>
      </p:sp>
      <p:sp>
        <p:nvSpPr>
          <p:cNvPr id="14" name="Text 7"/>
          <p:cNvSpPr txBox="1"/>
          <p:nvPr/>
        </p:nvSpPr>
        <p:spPr>
          <a:xfrm>
            <a:off x="0" y="5138928"/>
            <a:ext cx="12191695" cy="292608"/>
          </a:xfrm>
          <a:prstGeom prst="rect">
            <a:avLst/>
          </a:prstGeom>
          <a:noFill/>
          <a:ln/>
        </p:spPr>
        <p:txBody>
          <a:bodyPr wrap="square" lIns="0" tIns="0" rIns="0" bIns="0" rtlCol="0" anchor="t"/>
          <a:lstStyle/>
          <a:p>
            <a:pPr algn="ctr" indent="0" marL="0">
              <a:buNone/>
            </a:pPr>
            <a:r>
              <a:rPr lang="en-US" sz="1200" dirty="0">
                <a:solidFill>
                  <a:srgbClr val="9FB3D0"/>
                </a:solidFill>
                <a:latin typeface="Calibri" pitchFamily="34" charset="0"/>
                <a:ea typeface="Calibri" pitchFamily="34" charset="-122"/>
                <a:cs typeface="Calibri" pitchFamily="34" charset="-120"/>
              </a:rPr>
              <a:t>Computer and Systems Engineering Department, Faculty of Engineering, Alexandria University, Egypt      |      Team ALEXIS</a:t>
            </a:r>
            <a:endParaRPr lang="en-US" sz="1200" dirty="0"/>
          </a:p>
        </p:txBody>
      </p:sp>
      <p:sp>
        <p:nvSpPr>
          <p:cNvPr id="15" name="Text 8"/>
          <p:cNvSpPr txBox="1"/>
          <p:nvPr/>
        </p:nvSpPr>
        <p:spPr>
          <a:xfrm>
            <a:off x="731520" y="5852160"/>
            <a:ext cx="10728655" cy="384048"/>
          </a:xfrm>
          <a:prstGeom prst="rect">
            <a:avLst/>
          </a:prstGeom>
          <a:noFill/>
          <a:ln/>
        </p:spPr>
        <p:txBody>
          <a:bodyPr wrap="square" lIns="0" tIns="0" rIns="0" bIns="0" rtlCol="0" anchor="ctr"/>
          <a:lstStyle/>
          <a:p>
            <a:pPr algn="ctr" indent="0" marL="0">
              <a:buNone/>
            </a:pPr>
            <a:r>
              <a:rPr lang="en-US" sz="1400" b="1" dirty="0">
                <a:solidFill>
                  <a:srgbClr val="22C3FF"/>
                </a:solidFill>
                <a:latin typeface="Arial" pitchFamily="34" charset="0"/>
                <a:ea typeface="Arial" pitchFamily="34" charset="-122"/>
                <a:cs typeface="Arial" pitchFamily="34" charset="-120"/>
              </a:rPr>
              <a:t>Rank #1 of 12 teams  ·  Macro F1 0.8667  ·  Accuracy 0.8857</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3" type="body" hasCustomPrompt="1"/>
          </p:nvPr>
        </p:nvSpPr>
        <p:spPr>
          <a:xfrm>
            <a:off x="786384" y="457200"/>
            <a:ext cx="8229600" cy="256032"/>
          </a:xfrm>
          <a:prstGeom prst="rect">
            <a:avLst/>
          </a:prstGeom>
          <a:noFill/>
          <a:ln/>
        </p:spPr>
        <p:txBody>
          <a:bodyPr wrap="square" lIns="0" tIns="0" rIns="0" bIns="0" rtlCol="0" anchor="ctr"/>
          <a:lstStyle/>
          <a:p>
            <a:pPr algn="l" indent="0" marL="0">
              <a:buNone/>
            </a:pPr>
            <a:r>
              <a:rPr lang="en-US" sz="1100" b="1" spc="100" kern="0" dirty="0">
                <a:solidFill>
                  <a:srgbClr val="1E6BFF"/>
                </a:solidFill>
                <a:latin typeface="Arial" pitchFamily="34" charset="0"/>
                <a:ea typeface="Arial" pitchFamily="34" charset="-122"/>
                <a:cs typeface="Arial" pitchFamily="34" charset="-120"/>
              </a:rPr>
              <a:t>RESULTS AT A GLANCE</a:t>
            </a:r>
            <a:endParaRPr lang="en-US" sz="1100" dirty="0"/>
          </a:p>
        </p:txBody>
      </p:sp>
      <p:sp>
        <p:nvSpPr>
          <p:cNvPr id="3" name="Text 1"/>
          <p:cNvSpPr/>
          <p:nvPr>
            <p:ph idx="104" type="title" hasCustomPrompt="1"/>
          </p:nvPr>
        </p:nvSpPr>
        <p:spPr>
          <a:xfrm>
            <a:off x="457200" y="768096"/>
            <a:ext cx="11247120" cy="566928"/>
          </a:xfrm>
          <a:prstGeom prst="rect">
            <a:avLst/>
          </a:prstGeom>
          <a:noFill/>
          <a:ln/>
        </p:spPr>
        <p:txBody>
          <a:bodyPr wrap="square" lIns="0" tIns="0" rIns="0" bIns="0" rtlCol="0" anchor="t"/>
          <a:lstStyle/>
          <a:p>
            <a:pPr algn="l" indent="0" marL="0">
              <a:buNone/>
            </a:pPr>
            <a:r>
              <a:rPr lang="en-US" sz="2800" b="1" dirty="0">
                <a:solidFill>
                  <a:srgbClr val="0D1117"/>
                </a:solidFill>
                <a:latin typeface="Arial" pitchFamily="34" charset="0"/>
                <a:ea typeface="Arial" pitchFamily="34" charset="-122"/>
                <a:cs typeface="Arial" pitchFamily="34" charset="-120"/>
              </a:rPr>
              <a:t>First of twelve teams on an unseen dialect</a:t>
            </a:r>
            <a:endParaRPr lang="en-US" sz="2800" dirty="0"/>
          </a:p>
        </p:txBody>
      </p:sp>
      <p:sp>
        <p:nvSpPr>
          <p:cNvPr id="5" name="Shape 2"/>
          <p:cNvSpPr/>
          <p:nvPr/>
        </p:nvSpPr>
        <p:spPr>
          <a:xfrm>
            <a:off x="457200" y="1783080"/>
            <a:ext cx="2651760" cy="1600200"/>
          </a:xfrm>
          <a:prstGeom prst="roundRect">
            <a:avLst>
              <a:gd name="adj" fmla="val 4571"/>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sp>
        <p:nvSpPr>
          <p:cNvPr id="6" name="Text 3"/>
          <p:cNvSpPr txBox="1"/>
          <p:nvPr/>
        </p:nvSpPr>
        <p:spPr>
          <a:xfrm>
            <a:off x="685800" y="1947672"/>
            <a:ext cx="2194560" cy="566928"/>
          </a:xfrm>
          <a:prstGeom prst="rect">
            <a:avLst/>
          </a:prstGeom>
          <a:noFill/>
          <a:ln/>
        </p:spPr>
        <p:txBody>
          <a:bodyPr wrap="square" lIns="0" tIns="0" rIns="0" bIns="0" rtlCol="0" anchor="ctr"/>
          <a:lstStyle/>
          <a:p>
            <a:pPr indent="0" marL="0">
              <a:buNone/>
            </a:pPr>
            <a:r>
              <a:rPr lang="en-US" sz="3000" b="1" dirty="0">
                <a:solidFill>
                  <a:srgbClr val="1E6BFF"/>
                </a:solidFill>
                <a:latin typeface="Arial" pitchFamily="34" charset="0"/>
                <a:ea typeface="Arial" pitchFamily="34" charset="-122"/>
                <a:cs typeface="Arial" pitchFamily="34" charset="-120"/>
              </a:rPr>
              <a:t>0.8667</a:t>
            </a:r>
            <a:endParaRPr lang="en-US" sz="3000" dirty="0"/>
          </a:p>
        </p:txBody>
      </p:sp>
      <p:sp>
        <p:nvSpPr>
          <p:cNvPr id="7" name="Text 4"/>
          <p:cNvSpPr txBox="1"/>
          <p:nvPr/>
        </p:nvSpPr>
        <p:spPr>
          <a:xfrm>
            <a:off x="685800" y="2532888"/>
            <a:ext cx="2194560" cy="274320"/>
          </a:xfrm>
          <a:prstGeom prst="rect">
            <a:avLst/>
          </a:prstGeom>
          <a:noFill/>
          <a:ln/>
        </p:spPr>
        <p:txBody>
          <a:bodyPr wrap="square" lIns="0" tIns="0" rIns="0" bIns="0" rtlCol="0" anchor="t"/>
          <a:lstStyle/>
          <a:p>
            <a:pPr indent="0" marL="0">
              <a:buNone/>
            </a:pPr>
            <a:r>
              <a:rPr lang="en-US" sz="1200" b="1" dirty="0">
                <a:solidFill>
                  <a:srgbClr val="0D1117"/>
                </a:solidFill>
                <a:latin typeface="Arial" pitchFamily="34" charset="0"/>
                <a:ea typeface="Arial" pitchFamily="34" charset="-122"/>
                <a:cs typeface="Arial" pitchFamily="34" charset="-120"/>
              </a:rPr>
              <a:t>Macro F1</a:t>
            </a:r>
            <a:endParaRPr lang="en-US" sz="1200" dirty="0"/>
          </a:p>
        </p:txBody>
      </p:sp>
      <p:sp>
        <p:nvSpPr>
          <p:cNvPr id="8" name="Text 5"/>
          <p:cNvSpPr txBox="1"/>
          <p:nvPr/>
        </p:nvSpPr>
        <p:spPr>
          <a:xfrm>
            <a:off x="685800" y="2788920"/>
            <a:ext cx="2194560" cy="502920"/>
          </a:xfrm>
          <a:prstGeom prst="rect">
            <a:avLst/>
          </a:prstGeom>
          <a:noFill/>
          <a:ln/>
        </p:spPr>
        <p:txBody>
          <a:bodyPr wrap="square" lIns="0" tIns="0" rIns="0" bIns="0" rtlCol="0" anchor="t"/>
          <a:lstStyle/>
          <a:p>
            <a:pPr indent="0" marL="0">
              <a:buNone/>
            </a:pPr>
            <a:r>
              <a:rPr lang="en-US" sz="1150" dirty="0">
                <a:solidFill>
                  <a:srgbClr val="5A6472"/>
                </a:solidFill>
                <a:latin typeface="Calibri" pitchFamily="34" charset="0"/>
                <a:ea typeface="Calibri" pitchFamily="34" charset="-122"/>
                <a:cs typeface="Calibri" pitchFamily="34" charset="-120"/>
              </a:rPr>
              <a:t>official test set, rank 1 of 12</a:t>
            </a:r>
            <a:endParaRPr lang="en-US" sz="1150" dirty="0"/>
          </a:p>
        </p:txBody>
      </p:sp>
      <p:sp>
        <p:nvSpPr>
          <p:cNvPr id="9" name="Shape 6"/>
          <p:cNvSpPr/>
          <p:nvPr/>
        </p:nvSpPr>
        <p:spPr>
          <a:xfrm>
            <a:off x="3319272" y="1783080"/>
            <a:ext cx="2651760" cy="1600200"/>
          </a:xfrm>
          <a:prstGeom prst="roundRect">
            <a:avLst>
              <a:gd name="adj" fmla="val 4571"/>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sp>
        <p:nvSpPr>
          <p:cNvPr id="10" name="Text 7"/>
          <p:cNvSpPr txBox="1"/>
          <p:nvPr/>
        </p:nvSpPr>
        <p:spPr>
          <a:xfrm>
            <a:off x="3547872" y="1947672"/>
            <a:ext cx="2194560" cy="566928"/>
          </a:xfrm>
          <a:prstGeom prst="rect">
            <a:avLst/>
          </a:prstGeom>
          <a:noFill/>
          <a:ln/>
        </p:spPr>
        <p:txBody>
          <a:bodyPr wrap="square" lIns="0" tIns="0" rIns="0" bIns="0" rtlCol="0" anchor="ctr"/>
          <a:lstStyle/>
          <a:p>
            <a:pPr indent="0" marL="0">
              <a:buNone/>
            </a:pPr>
            <a:r>
              <a:rPr lang="en-US" sz="3000" b="1" dirty="0">
                <a:solidFill>
                  <a:srgbClr val="B57400"/>
                </a:solidFill>
                <a:latin typeface="Arial" pitchFamily="34" charset="0"/>
                <a:ea typeface="Arial" pitchFamily="34" charset="-122"/>
                <a:cs typeface="Arial" pitchFamily="34" charset="-120"/>
              </a:rPr>
              <a:t>+4.6 pts</a:t>
            </a:r>
            <a:endParaRPr lang="en-US" sz="3000" dirty="0"/>
          </a:p>
        </p:txBody>
      </p:sp>
      <p:sp>
        <p:nvSpPr>
          <p:cNvPr id="11" name="Text 8"/>
          <p:cNvSpPr txBox="1"/>
          <p:nvPr/>
        </p:nvSpPr>
        <p:spPr>
          <a:xfrm>
            <a:off x="3547872" y="2532888"/>
            <a:ext cx="2194560" cy="274320"/>
          </a:xfrm>
          <a:prstGeom prst="rect">
            <a:avLst/>
          </a:prstGeom>
          <a:noFill/>
          <a:ln/>
        </p:spPr>
        <p:txBody>
          <a:bodyPr wrap="square" lIns="0" tIns="0" rIns="0" bIns="0" rtlCol="0" anchor="t"/>
          <a:lstStyle/>
          <a:p>
            <a:pPr indent="0" marL="0">
              <a:buNone/>
            </a:pPr>
            <a:r>
              <a:rPr lang="en-US" sz="1200" b="1" dirty="0">
                <a:solidFill>
                  <a:srgbClr val="0D1117"/>
                </a:solidFill>
                <a:latin typeface="Arial" pitchFamily="34" charset="0"/>
                <a:ea typeface="Arial" pitchFamily="34" charset="-122"/>
                <a:cs typeface="Arial" pitchFamily="34" charset="-120"/>
              </a:rPr>
              <a:t>Ahead of the runner-up</a:t>
            </a:r>
            <a:endParaRPr lang="en-US" sz="1200" dirty="0"/>
          </a:p>
        </p:txBody>
      </p:sp>
      <p:sp>
        <p:nvSpPr>
          <p:cNvPr id="12" name="Text 9"/>
          <p:cNvSpPr txBox="1"/>
          <p:nvPr/>
        </p:nvSpPr>
        <p:spPr>
          <a:xfrm>
            <a:off x="3547872" y="2788920"/>
            <a:ext cx="2194560" cy="502920"/>
          </a:xfrm>
          <a:prstGeom prst="rect">
            <a:avLst/>
          </a:prstGeom>
          <a:noFill/>
          <a:ln/>
        </p:spPr>
        <p:txBody>
          <a:bodyPr wrap="square" lIns="0" tIns="0" rIns="0" bIns="0" rtlCol="0" anchor="t"/>
          <a:lstStyle/>
          <a:p>
            <a:pPr indent="0" marL="0">
              <a:buNone/>
            </a:pPr>
            <a:r>
              <a:rPr lang="en-US" sz="1150" dirty="0">
                <a:solidFill>
                  <a:srgbClr val="5A6472"/>
                </a:solidFill>
                <a:latin typeface="Calibri" pitchFamily="34" charset="0"/>
                <a:ea typeface="Calibri" pitchFamily="34" charset="-122"/>
                <a:cs typeface="Calibri" pitchFamily="34" charset="-120"/>
              </a:rPr>
              <a:t>0.8667 vs 0.8210 Macro F1</a:t>
            </a:r>
            <a:endParaRPr lang="en-US" sz="1150" dirty="0"/>
          </a:p>
        </p:txBody>
      </p:sp>
      <p:sp>
        <p:nvSpPr>
          <p:cNvPr id="13" name="Shape 10"/>
          <p:cNvSpPr/>
          <p:nvPr/>
        </p:nvSpPr>
        <p:spPr>
          <a:xfrm>
            <a:off x="6181344" y="1783080"/>
            <a:ext cx="2651760" cy="1600200"/>
          </a:xfrm>
          <a:prstGeom prst="roundRect">
            <a:avLst>
              <a:gd name="adj" fmla="val 4571"/>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sp>
        <p:nvSpPr>
          <p:cNvPr id="14" name="Text 11"/>
          <p:cNvSpPr txBox="1"/>
          <p:nvPr/>
        </p:nvSpPr>
        <p:spPr>
          <a:xfrm>
            <a:off x="6409944" y="1947672"/>
            <a:ext cx="2194560" cy="566928"/>
          </a:xfrm>
          <a:prstGeom prst="rect">
            <a:avLst/>
          </a:prstGeom>
          <a:noFill/>
          <a:ln/>
        </p:spPr>
        <p:txBody>
          <a:bodyPr wrap="square" lIns="0" tIns="0" rIns="0" bIns="0" rtlCol="0" anchor="ctr"/>
          <a:lstStyle/>
          <a:p>
            <a:pPr indent="0" marL="0">
              <a:buNone/>
            </a:pPr>
            <a:r>
              <a:rPr lang="en-US" sz="3000" b="1" dirty="0">
                <a:solidFill>
                  <a:srgbClr val="1E6BFF"/>
                </a:solidFill>
                <a:latin typeface="Arial" pitchFamily="34" charset="0"/>
                <a:ea typeface="Arial" pitchFamily="34" charset="-122"/>
                <a:cs typeface="Arial" pitchFamily="34" charset="-120"/>
              </a:rPr>
              <a:t>0.8857</a:t>
            </a:r>
            <a:endParaRPr lang="en-US" sz="3000" dirty="0"/>
          </a:p>
        </p:txBody>
      </p:sp>
      <p:sp>
        <p:nvSpPr>
          <p:cNvPr id="15" name="Text 12"/>
          <p:cNvSpPr txBox="1"/>
          <p:nvPr/>
        </p:nvSpPr>
        <p:spPr>
          <a:xfrm>
            <a:off x="6409944" y="2532888"/>
            <a:ext cx="2194560" cy="274320"/>
          </a:xfrm>
          <a:prstGeom prst="rect">
            <a:avLst/>
          </a:prstGeom>
          <a:noFill/>
          <a:ln/>
        </p:spPr>
        <p:txBody>
          <a:bodyPr wrap="square" lIns="0" tIns="0" rIns="0" bIns="0" rtlCol="0" anchor="t"/>
          <a:lstStyle/>
          <a:p>
            <a:pPr indent="0" marL="0">
              <a:buNone/>
            </a:pPr>
            <a:r>
              <a:rPr lang="en-US" sz="1200" b="1" dirty="0">
                <a:solidFill>
                  <a:srgbClr val="0D1117"/>
                </a:solidFill>
                <a:latin typeface="Arial" pitchFamily="34" charset="0"/>
                <a:ea typeface="Arial" pitchFamily="34" charset="-122"/>
                <a:cs typeface="Arial" pitchFamily="34" charset="-120"/>
              </a:rPr>
              <a:t>Accuracy</a:t>
            </a:r>
            <a:endParaRPr lang="en-US" sz="1200" dirty="0"/>
          </a:p>
        </p:txBody>
      </p:sp>
      <p:sp>
        <p:nvSpPr>
          <p:cNvPr id="16" name="Text 13"/>
          <p:cNvSpPr txBox="1"/>
          <p:nvPr/>
        </p:nvSpPr>
        <p:spPr>
          <a:xfrm>
            <a:off x="6409944" y="2788920"/>
            <a:ext cx="2194560" cy="502920"/>
          </a:xfrm>
          <a:prstGeom prst="rect">
            <a:avLst/>
          </a:prstGeom>
          <a:noFill/>
          <a:ln/>
        </p:spPr>
        <p:txBody>
          <a:bodyPr wrap="square" lIns="0" tIns="0" rIns="0" bIns="0" rtlCol="0" anchor="t"/>
          <a:lstStyle/>
          <a:p>
            <a:pPr indent="0" marL="0">
              <a:buNone/>
            </a:pPr>
            <a:r>
              <a:rPr lang="en-US" sz="1150" dirty="0">
                <a:solidFill>
                  <a:srgbClr val="5A6472"/>
                </a:solidFill>
                <a:latin typeface="Calibri" pitchFamily="34" charset="0"/>
                <a:ea typeface="Calibri" pitchFamily="34" charset="-122"/>
                <a:cs typeface="Calibri" pitchFamily="34" charset="-120"/>
              </a:rPr>
              <a:t>official test set</a:t>
            </a:r>
            <a:endParaRPr lang="en-US" sz="1150" dirty="0"/>
          </a:p>
        </p:txBody>
      </p:sp>
      <p:sp>
        <p:nvSpPr>
          <p:cNvPr id="17" name="Shape 14"/>
          <p:cNvSpPr/>
          <p:nvPr/>
        </p:nvSpPr>
        <p:spPr>
          <a:xfrm>
            <a:off x="9043416" y="1783080"/>
            <a:ext cx="2651760" cy="1600200"/>
          </a:xfrm>
          <a:prstGeom prst="roundRect">
            <a:avLst>
              <a:gd name="adj" fmla="val 4571"/>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sp>
        <p:nvSpPr>
          <p:cNvPr id="18" name="Text 15"/>
          <p:cNvSpPr txBox="1"/>
          <p:nvPr/>
        </p:nvSpPr>
        <p:spPr>
          <a:xfrm>
            <a:off x="9272016" y="1947672"/>
            <a:ext cx="2194560" cy="566928"/>
          </a:xfrm>
          <a:prstGeom prst="rect">
            <a:avLst/>
          </a:prstGeom>
          <a:noFill/>
          <a:ln/>
        </p:spPr>
        <p:txBody>
          <a:bodyPr wrap="square" lIns="0" tIns="0" rIns="0" bIns="0" rtlCol="0" anchor="ctr"/>
          <a:lstStyle/>
          <a:p>
            <a:pPr indent="0" marL="0">
              <a:buNone/>
            </a:pPr>
            <a:r>
              <a:rPr lang="en-US" sz="3000" b="1" dirty="0">
                <a:solidFill>
                  <a:srgbClr val="0D1117"/>
                </a:solidFill>
                <a:latin typeface="Arial" pitchFamily="34" charset="0"/>
                <a:ea typeface="Arial" pitchFamily="34" charset="-122"/>
                <a:cs typeface="Arial" pitchFamily="34" charset="-120"/>
              </a:rPr>
              <a:t>52.0%</a:t>
            </a:r>
            <a:endParaRPr lang="en-US" sz="3000" dirty="0"/>
          </a:p>
        </p:txBody>
      </p:sp>
      <p:sp>
        <p:nvSpPr>
          <p:cNvPr id="19" name="Text 16"/>
          <p:cNvSpPr txBox="1"/>
          <p:nvPr/>
        </p:nvSpPr>
        <p:spPr>
          <a:xfrm>
            <a:off x="9272016" y="2532888"/>
            <a:ext cx="2194560" cy="274320"/>
          </a:xfrm>
          <a:prstGeom prst="rect">
            <a:avLst/>
          </a:prstGeom>
          <a:noFill/>
          <a:ln/>
        </p:spPr>
        <p:txBody>
          <a:bodyPr wrap="square" lIns="0" tIns="0" rIns="0" bIns="0" rtlCol="0" anchor="t"/>
          <a:lstStyle/>
          <a:p>
            <a:pPr indent="0" marL="0">
              <a:buNone/>
            </a:pPr>
            <a:r>
              <a:rPr lang="en-US" sz="1200" b="1" dirty="0">
                <a:solidFill>
                  <a:srgbClr val="0D1117"/>
                </a:solidFill>
                <a:latin typeface="Arial" pitchFamily="34" charset="0"/>
                <a:ea typeface="Arial" pitchFamily="34" charset="-122"/>
                <a:cs typeface="Arial" pitchFamily="34" charset="-120"/>
              </a:rPr>
              <a:t>Lebanese OOV word types</a:t>
            </a:r>
            <a:endParaRPr lang="en-US" sz="1200" dirty="0"/>
          </a:p>
        </p:txBody>
      </p:sp>
      <p:sp>
        <p:nvSpPr>
          <p:cNvPr id="20" name="Text 17"/>
          <p:cNvSpPr txBox="1"/>
          <p:nvPr/>
        </p:nvSpPr>
        <p:spPr>
          <a:xfrm>
            <a:off x="9272016" y="2788920"/>
            <a:ext cx="2194560" cy="502920"/>
          </a:xfrm>
          <a:prstGeom prst="rect">
            <a:avLst/>
          </a:prstGeom>
          <a:noFill/>
          <a:ln/>
        </p:spPr>
        <p:txBody>
          <a:bodyPr wrap="square" lIns="0" tIns="0" rIns="0" bIns="0" rtlCol="0" anchor="t"/>
          <a:lstStyle/>
          <a:p>
            <a:pPr indent="0" marL="0">
              <a:buNone/>
            </a:pPr>
            <a:r>
              <a:rPr lang="en-US" sz="1150" dirty="0">
                <a:solidFill>
                  <a:srgbClr val="5A6472"/>
                </a:solidFill>
                <a:latin typeface="Calibri" pitchFamily="34" charset="0"/>
                <a:ea typeface="Calibri" pitchFamily="34" charset="-122"/>
                <a:cs typeface="Calibri" pitchFamily="34" charset="-120"/>
              </a:rPr>
              <a:t>a dialect with zero training rows</a:t>
            </a:r>
            <a:endParaRPr lang="en-US" sz="1150" dirty="0"/>
          </a:p>
        </p:txBody>
      </p:sp>
      <p:sp>
        <p:nvSpPr>
          <p:cNvPr id="21" name="Shape 18"/>
          <p:cNvSpPr/>
          <p:nvPr/>
        </p:nvSpPr>
        <p:spPr>
          <a:xfrm>
            <a:off x="457200" y="3703320"/>
            <a:ext cx="5532120" cy="1600200"/>
          </a:xfrm>
          <a:prstGeom prst="roundRect">
            <a:avLst>
              <a:gd name="adj" fmla="val 4571"/>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22" name="Image 0" descr="/home/aigca/ALEXIS/Posters/build/pptx/icons/target_blue.png">    </p:cNvPr>
          <p:cNvPicPr>
            <a:picLocks noChangeAspect="1"/>
          </p:cNvPicPr>
          <p:nvPr/>
        </p:nvPicPr>
        <p:blipFill>
          <a:blip r:embed="rId1"/>
          <a:stretch>
            <a:fillRect/>
          </a:stretch>
        </p:blipFill>
        <p:spPr>
          <a:xfrm>
            <a:off x="658368" y="3904488"/>
            <a:ext cx="329184" cy="329184"/>
          </a:xfrm>
          <a:prstGeom prst="rect">
            <a:avLst/>
          </a:prstGeom>
        </p:spPr>
      </p:pic>
      <p:sp>
        <p:nvSpPr>
          <p:cNvPr id="23" name="Text 19"/>
          <p:cNvSpPr txBox="1"/>
          <p:nvPr/>
        </p:nvSpPr>
        <p:spPr>
          <a:xfrm>
            <a:off x="1115568" y="3895344"/>
            <a:ext cx="4672584" cy="365760"/>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The setting</a:t>
            </a:r>
            <a:endParaRPr lang="en-US" sz="1400" dirty="0"/>
          </a:p>
        </p:txBody>
      </p:sp>
      <p:sp>
        <p:nvSpPr>
          <p:cNvPr id="24" name="Text 20"/>
          <p:cNvSpPr txBox="1"/>
          <p:nvPr/>
        </p:nvSpPr>
        <p:spPr>
          <a:xfrm>
            <a:off x="658368" y="4379976"/>
            <a:ext cx="5129784" cy="923544"/>
          </a:xfrm>
          <a:prstGeom prst="rect">
            <a:avLst/>
          </a:prstGeom>
          <a:noFill/>
          <a:ln/>
        </p:spPr>
        <p:txBody>
          <a:bodyPr wrap="square" lIns="0" tIns="0" rIns="0" bIns="0" rtlCol="0" anchor="t"/>
          <a:lstStyle/>
          <a:p>
            <a:pPr indent="0" marL="0">
              <a:spcAft>
                <a:spcPts val="400"/>
              </a:spcAft>
              <a:buNone/>
            </a:pPr>
            <a:r>
              <a:rPr lang="en-US" sz="1200" dirty="0">
                <a:solidFill>
                  <a:srgbClr val="5A6472"/>
                </a:solidFill>
                <a:latin typeface="Calibri" pitchFamily="34" charset="0"/>
                <a:ea typeface="Calibri" pitchFamily="34" charset="-122"/>
                <a:cs typeface="Calibri" pitchFamily="34" charset="-120"/>
              </a:rPr>
              <a:t>Classify hotel-review sentences as positive, negative or neutral. Training covers four Arabic dialects; the test set adds a fifth, Lebanese, with no labeled data at all.</a:t>
            </a:r>
            <a:endParaRPr lang="en-US" sz="1200" dirty="0"/>
          </a:p>
        </p:txBody>
      </p:sp>
      <p:sp>
        <p:nvSpPr>
          <p:cNvPr id="25" name="Shape 21"/>
          <p:cNvSpPr/>
          <p:nvPr/>
        </p:nvSpPr>
        <p:spPr>
          <a:xfrm>
            <a:off x="6199632" y="3703320"/>
            <a:ext cx="5532120" cy="1600200"/>
          </a:xfrm>
          <a:prstGeom prst="roundRect">
            <a:avLst>
              <a:gd name="adj" fmla="val 4571"/>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26" name="Image 1" descr="/home/aigca/ALEXIS/Posters/build/pptx/icons/bulb_blue.png">    </p:cNvPr>
          <p:cNvPicPr>
            <a:picLocks noChangeAspect="1"/>
          </p:cNvPicPr>
          <p:nvPr/>
        </p:nvPicPr>
        <p:blipFill>
          <a:blip r:embed="rId2"/>
          <a:stretch>
            <a:fillRect/>
          </a:stretch>
        </p:blipFill>
        <p:spPr>
          <a:xfrm>
            <a:off x="6400800" y="3904488"/>
            <a:ext cx="329184" cy="329184"/>
          </a:xfrm>
          <a:prstGeom prst="rect">
            <a:avLst/>
          </a:prstGeom>
        </p:spPr>
      </p:pic>
      <p:sp>
        <p:nvSpPr>
          <p:cNvPr id="27" name="Text 22"/>
          <p:cNvSpPr txBox="1"/>
          <p:nvPr/>
        </p:nvSpPr>
        <p:spPr>
          <a:xfrm>
            <a:off x="6858000" y="3895344"/>
            <a:ext cx="4672584" cy="365760"/>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Our approach</a:t>
            </a:r>
            <a:endParaRPr lang="en-US" sz="1400" dirty="0"/>
          </a:p>
        </p:txBody>
      </p:sp>
      <p:sp>
        <p:nvSpPr>
          <p:cNvPr id="28" name="Text 23"/>
          <p:cNvSpPr txBox="1"/>
          <p:nvPr/>
        </p:nvSpPr>
        <p:spPr>
          <a:xfrm>
            <a:off x="6400800" y="4379976"/>
            <a:ext cx="5129784" cy="923544"/>
          </a:xfrm>
          <a:prstGeom prst="rect">
            <a:avLst/>
          </a:prstGeom>
          <a:noFill/>
          <a:ln/>
        </p:spPr>
        <p:txBody>
          <a:bodyPr wrap="square" lIns="0" tIns="0" rIns="0" bIns="0" rtlCol="0" anchor="t"/>
          <a:lstStyle/>
          <a:p>
            <a:pPr indent="0" marL="0">
              <a:spcAft>
                <a:spcPts val="400"/>
              </a:spcAft>
              <a:buNone/>
            </a:pPr>
            <a:r>
              <a:rPr lang="en-US" sz="1200" dirty="0">
                <a:solidFill>
                  <a:srgbClr val="5A6472"/>
                </a:solidFill>
                <a:latin typeface="Calibri" pitchFamily="34" charset="0"/>
                <a:ea typeface="Calibri" pitchFamily="34" charset="-122"/>
                <a:cs typeface="Calibri" pitchFamily="34" charset="-120"/>
              </a:rPr>
              <a:t>Treat the task as zero-shot transfer: validate leave-one-dialect-out, and choose interventions that match the lexical and orthographic shift.</a:t>
            </a:r>
            <a:endParaRPr lang="en-US" sz="120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3" type="body" hasCustomPrompt="1"/>
          </p:nvPr>
        </p:nvSpPr>
        <p:spPr>
          <a:xfrm>
            <a:off x="786384" y="457200"/>
            <a:ext cx="8229600" cy="256032"/>
          </a:xfrm>
          <a:prstGeom prst="rect">
            <a:avLst/>
          </a:prstGeom>
          <a:noFill/>
          <a:ln/>
        </p:spPr>
        <p:txBody>
          <a:bodyPr wrap="square" lIns="0" tIns="0" rIns="0" bIns="0" rtlCol="0" anchor="ctr"/>
          <a:lstStyle/>
          <a:p>
            <a:pPr algn="l" indent="0" marL="0">
              <a:buNone/>
            </a:pPr>
            <a:r>
              <a:rPr lang="en-US" sz="1100" b="1" spc="100" kern="0" dirty="0">
                <a:solidFill>
                  <a:srgbClr val="1E6BFF"/>
                </a:solidFill>
                <a:latin typeface="Arial" pitchFamily="34" charset="0"/>
                <a:ea typeface="Arial" pitchFamily="34" charset="-122"/>
                <a:cs typeface="Arial" pitchFamily="34" charset="-120"/>
              </a:rPr>
              <a:t>THE TASK</a:t>
            </a:r>
            <a:endParaRPr lang="en-US" sz="1100" dirty="0"/>
          </a:p>
        </p:txBody>
      </p:sp>
      <p:sp>
        <p:nvSpPr>
          <p:cNvPr id="3" name="Text 1"/>
          <p:cNvSpPr/>
          <p:nvPr>
            <p:ph idx="104" type="title" hasCustomPrompt="1"/>
          </p:nvPr>
        </p:nvSpPr>
        <p:spPr>
          <a:xfrm>
            <a:off x="457200" y="768096"/>
            <a:ext cx="11247120" cy="566928"/>
          </a:xfrm>
          <a:prstGeom prst="rect">
            <a:avLst/>
          </a:prstGeom>
          <a:noFill/>
          <a:ln/>
        </p:spPr>
        <p:txBody>
          <a:bodyPr wrap="square" lIns="0" tIns="0" rIns="0" bIns="0" rtlCol="0" anchor="t"/>
          <a:lstStyle/>
          <a:p>
            <a:pPr algn="l" indent="0" marL="0">
              <a:buNone/>
            </a:pPr>
            <a:r>
              <a:rPr lang="en-US" sz="2800" b="1" dirty="0">
                <a:solidFill>
                  <a:srgbClr val="0D1117"/>
                </a:solidFill>
                <a:latin typeface="Arial" pitchFamily="34" charset="0"/>
                <a:ea typeface="Arial" pitchFamily="34" charset="-122"/>
                <a:cs typeface="Arial" pitchFamily="34" charset="-120"/>
              </a:rPr>
              <a:t>Three-way sentiment of dialectal hotel reviews</a:t>
            </a:r>
            <a:endParaRPr lang="en-US" sz="2800" dirty="0"/>
          </a:p>
        </p:txBody>
      </p:sp>
      <p:sp>
        <p:nvSpPr>
          <p:cNvPr id="5" name="Text 2"/>
          <p:cNvSpPr txBox="1"/>
          <p:nvPr/>
        </p:nvSpPr>
        <p:spPr>
          <a:xfrm>
            <a:off x="457200" y="1600200"/>
            <a:ext cx="5577840" cy="1097280"/>
          </a:xfrm>
          <a:prstGeom prst="rect">
            <a:avLst/>
          </a:prstGeom>
          <a:noFill/>
          <a:ln/>
        </p:spPr>
        <p:txBody>
          <a:bodyPr wrap="square" lIns="0" tIns="0" rIns="0" bIns="0" rtlCol="0" anchor="t"/>
          <a:lstStyle/>
          <a:p>
            <a:pPr indent="0" marL="0">
              <a:buNone/>
            </a:pPr>
            <a:r>
              <a:rPr lang="en-US" sz="1500" dirty="0">
                <a:solidFill>
                  <a:srgbClr val="5A6472"/>
                </a:solidFill>
                <a:latin typeface="Calibri" pitchFamily="34" charset="0"/>
                <a:ea typeface="Calibri" pitchFamily="34" charset="-122"/>
                <a:cs typeface="Calibri" pitchFamily="34" charset="-120"/>
              </a:rPr>
              <a:t>Classify MDS-3 hotel-review sentences as </a:t>
            </a:r>
            <a:pPr indent="0" marL="0">
              <a:buNone/>
            </a:pPr>
            <a:r>
              <a:rPr lang="en-US" sz="1500" b="1" dirty="0">
                <a:solidFill>
                  <a:srgbClr val="0D1117"/>
                </a:solidFill>
                <a:latin typeface="Calibri" pitchFamily="34" charset="0"/>
                <a:ea typeface="Calibri" pitchFamily="34" charset="-122"/>
                <a:cs typeface="Calibri" pitchFamily="34" charset="-120"/>
              </a:rPr>
              <a:t>positive</a:t>
            </a:r>
            <a:pPr indent="0" marL="0">
              <a:buNone/>
            </a:pPr>
            <a:r>
              <a:rPr lang="en-US" sz="1500" dirty="0">
                <a:solidFill>
                  <a:srgbClr val="5A6472"/>
                </a:solidFill>
                <a:latin typeface="Calibri" pitchFamily="34" charset="0"/>
                <a:ea typeface="Calibri" pitchFamily="34" charset="-122"/>
                <a:cs typeface="Calibri" pitchFamily="34" charset="-120"/>
              </a:rPr>
              <a:t>, </a:t>
            </a:r>
            <a:pPr indent="0" marL="0">
              <a:buNone/>
            </a:pPr>
            <a:r>
              <a:rPr lang="en-US" sz="1500" b="1" dirty="0">
                <a:solidFill>
                  <a:srgbClr val="0D1117"/>
                </a:solidFill>
                <a:latin typeface="Calibri" pitchFamily="34" charset="0"/>
                <a:ea typeface="Calibri" pitchFamily="34" charset="-122"/>
                <a:cs typeface="Calibri" pitchFamily="34" charset="-120"/>
              </a:rPr>
              <a:t>negative</a:t>
            </a:r>
            <a:pPr indent="0" marL="0">
              <a:buNone/>
            </a:pPr>
            <a:r>
              <a:rPr lang="en-US" sz="1500" dirty="0">
                <a:solidFill>
                  <a:srgbClr val="5A6472"/>
                </a:solidFill>
                <a:latin typeface="Calibri" pitchFamily="34" charset="0"/>
                <a:ea typeface="Calibri" pitchFamily="34" charset="-122"/>
                <a:cs typeface="Calibri" pitchFamily="34" charset="-120"/>
              </a:rPr>
              <a:t> or </a:t>
            </a:r>
            <a:pPr indent="0" marL="0">
              <a:buNone/>
            </a:pPr>
            <a:r>
              <a:rPr lang="en-US" sz="1500" b="1" dirty="0">
                <a:solidFill>
                  <a:srgbClr val="0D1117"/>
                </a:solidFill>
                <a:latin typeface="Calibri" pitchFamily="34" charset="0"/>
                <a:ea typeface="Calibri" pitchFamily="34" charset="-122"/>
                <a:cs typeface="Calibri" pitchFamily="34" charset="-120"/>
              </a:rPr>
              <a:t>neutral</a:t>
            </a:r>
            <a:pPr indent="0" marL="0">
              <a:buNone/>
            </a:pPr>
            <a:r>
              <a:rPr lang="en-US" sz="1500" dirty="0">
                <a:solidFill>
                  <a:srgbClr val="5A6472"/>
                </a:solidFill>
                <a:latin typeface="Calibri" pitchFamily="34" charset="0"/>
                <a:ea typeface="Calibri" pitchFamily="34" charset="-122"/>
                <a:cs typeface="Calibri" pitchFamily="34" charset="-120"/>
              </a:rPr>
              <a:t>. Training covers four dialects; the released test set adds a fifth, </a:t>
            </a:r>
            <a:pPr indent="0" marL="0">
              <a:buNone/>
            </a:pPr>
            <a:r>
              <a:rPr lang="en-US" sz="1500" b="1" dirty="0">
                <a:solidFill>
                  <a:srgbClr val="1E6BFF"/>
                </a:solidFill>
                <a:latin typeface="Calibri" pitchFamily="34" charset="0"/>
                <a:ea typeface="Calibri" pitchFamily="34" charset="-122"/>
                <a:cs typeface="Calibri" pitchFamily="34" charset="-120"/>
              </a:rPr>
              <a:t>Lebanese</a:t>
            </a:r>
            <a:pPr indent="0" marL="0">
              <a:buNone/>
            </a:pPr>
            <a:r>
              <a:rPr lang="en-US" sz="1500" dirty="0">
                <a:solidFill>
                  <a:srgbClr val="5A6472"/>
                </a:solidFill>
                <a:latin typeface="Calibri" pitchFamily="34" charset="0"/>
                <a:ea typeface="Calibri" pitchFamily="34" charset="-122"/>
                <a:cs typeface="Calibri" pitchFamily="34" charset="-120"/>
              </a:rPr>
              <a:t>, with no labeled training data at all.</a:t>
            </a:r>
            <a:endParaRPr lang="en-US" sz="1500" dirty="0"/>
          </a:p>
        </p:txBody>
      </p:sp>
      <p:sp>
        <p:nvSpPr>
          <p:cNvPr id="6" name="Shape 3"/>
          <p:cNvSpPr/>
          <p:nvPr/>
        </p:nvSpPr>
        <p:spPr>
          <a:xfrm>
            <a:off x="457200" y="2880360"/>
            <a:ext cx="1737360" cy="1143000"/>
          </a:xfrm>
          <a:prstGeom prst="roundRect">
            <a:avLst>
              <a:gd name="adj" fmla="val 6400"/>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sp>
        <p:nvSpPr>
          <p:cNvPr id="7" name="Text 4"/>
          <p:cNvSpPr txBox="1"/>
          <p:nvPr/>
        </p:nvSpPr>
        <p:spPr>
          <a:xfrm>
            <a:off x="685800" y="3044952"/>
            <a:ext cx="1280160" cy="566928"/>
          </a:xfrm>
          <a:prstGeom prst="rect">
            <a:avLst/>
          </a:prstGeom>
          <a:noFill/>
          <a:ln/>
        </p:spPr>
        <p:txBody>
          <a:bodyPr wrap="square" lIns="0" tIns="0" rIns="0" bIns="0" rtlCol="0" anchor="ctr"/>
          <a:lstStyle/>
          <a:p>
            <a:pPr indent="0" marL="0">
              <a:buNone/>
            </a:pPr>
            <a:r>
              <a:rPr lang="en-US" sz="2400" b="1" dirty="0">
                <a:solidFill>
                  <a:srgbClr val="1E6BFF"/>
                </a:solidFill>
                <a:latin typeface="Arial" pitchFamily="34" charset="0"/>
                <a:ea typeface="Arial" pitchFamily="34" charset="-122"/>
                <a:cs typeface="Arial" pitchFamily="34" charset="-120"/>
              </a:rPr>
              <a:t>38.0%</a:t>
            </a:r>
            <a:endParaRPr lang="en-US" sz="2400" dirty="0"/>
          </a:p>
        </p:txBody>
      </p:sp>
      <p:sp>
        <p:nvSpPr>
          <p:cNvPr id="8" name="Text 5"/>
          <p:cNvSpPr txBox="1"/>
          <p:nvPr/>
        </p:nvSpPr>
        <p:spPr>
          <a:xfrm>
            <a:off x="685800" y="3630168"/>
            <a:ext cx="1280160" cy="274320"/>
          </a:xfrm>
          <a:prstGeom prst="rect">
            <a:avLst/>
          </a:prstGeom>
          <a:noFill/>
          <a:ln/>
        </p:spPr>
        <p:txBody>
          <a:bodyPr wrap="square" lIns="0" tIns="0" rIns="0" bIns="0" rtlCol="0" anchor="t"/>
          <a:lstStyle/>
          <a:p>
            <a:pPr indent="0" marL="0">
              <a:buNone/>
            </a:pPr>
            <a:r>
              <a:rPr lang="en-US" sz="1200" b="1" dirty="0">
                <a:solidFill>
                  <a:srgbClr val="0D1117"/>
                </a:solidFill>
                <a:latin typeface="Arial" pitchFamily="34" charset="0"/>
                <a:ea typeface="Arial" pitchFamily="34" charset="-122"/>
                <a:cs typeface="Arial" pitchFamily="34" charset="-120"/>
              </a:rPr>
              <a:t>negative</a:t>
            </a:r>
            <a:endParaRPr lang="en-US" sz="1200" dirty="0"/>
          </a:p>
        </p:txBody>
      </p:sp>
      <p:sp>
        <p:nvSpPr>
          <p:cNvPr id="9" name="Shape 6"/>
          <p:cNvSpPr/>
          <p:nvPr/>
        </p:nvSpPr>
        <p:spPr>
          <a:xfrm>
            <a:off x="2331720" y="2880360"/>
            <a:ext cx="1737360" cy="1143000"/>
          </a:xfrm>
          <a:prstGeom prst="roundRect">
            <a:avLst>
              <a:gd name="adj" fmla="val 6400"/>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sp>
        <p:nvSpPr>
          <p:cNvPr id="10" name="Text 7"/>
          <p:cNvSpPr txBox="1"/>
          <p:nvPr/>
        </p:nvSpPr>
        <p:spPr>
          <a:xfrm>
            <a:off x="2560320" y="3044952"/>
            <a:ext cx="1280160" cy="566928"/>
          </a:xfrm>
          <a:prstGeom prst="rect">
            <a:avLst/>
          </a:prstGeom>
          <a:noFill/>
          <a:ln/>
        </p:spPr>
        <p:txBody>
          <a:bodyPr wrap="square" lIns="0" tIns="0" rIns="0" bIns="0" rtlCol="0" anchor="ctr"/>
          <a:lstStyle/>
          <a:p>
            <a:pPr indent="0" marL="0">
              <a:buNone/>
            </a:pPr>
            <a:r>
              <a:rPr lang="en-US" sz="2400" b="1" dirty="0">
                <a:solidFill>
                  <a:srgbClr val="1E6BFF"/>
                </a:solidFill>
                <a:latin typeface="Arial" pitchFamily="34" charset="0"/>
                <a:ea typeface="Arial" pitchFamily="34" charset="-122"/>
                <a:cs typeface="Arial" pitchFamily="34" charset="-120"/>
              </a:rPr>
              <a:t>35.2%</a:t>
            </a:r>
            <a:endParaRPr lang="en-US" sz="2400" dirty="0"/>
          </a:p>
        </p:txBody>
      </p:sp>
      <p:sp>
        <p:nvSpPr>
          <p:cNvPr id="11" name="Text 8"/>
          <p:cNvSpPr txBox="1"/>
          <p:nvPr/>
        </p:nvSpPr>
        <p:spPr>
          <a:xfrm>
            <a:off x="2560320" y="3630168"/>
            <a:ext cx="1280160" cy="274320"/>
          </a:xfrm>
          <a:prstGeom prst="rect">
            <a:avLst/>
          </a:prstGeom>
          <a:noFill/>
          <a:ln/>
        </p:spPr>
        <p:txBody>
          <a:bodyPr wrap="square" lIns="0" tIns="0" rIns="0" bIns="0" rtlCol="0" anchor="t"/>
          <a:lstStyle/>
          <a:p>
            <a:pPr indent="0" marL="0">
              <a:buNone/>
            </a:pPr>
            <a:r>
              <a:rPr lang="en-US" sz="1200" b="1" dirty="0">
                <a:solidFill>
                  <a:srgbClr val="0D1117"/>
                </a:solidFill>
                <a:latin typeface="Arial" pitchFamily="34" charset="0"/>
                <a:ea typeface="Arial" pitchFamily="34" charset="-122"/>
                <a:cs typeface="Arial" pitchFamily="34" charset="-120"/>
              </a:rPr>
              <a:t>positive</a:t>
            </a:r>
            <a:endParaRPr lang="en-US" sz="1200" dirty="0"/>
          </a:p>
        </p:txBody>
      </p:sp>
      <p:sp>
        <p:nvSpPr>
          <p:cNvPr id="12" name="Shape 9"/>
          <p:cNvSpPr/>
          <p:nvPr/>
        </p:nvSpPr>
        <p:spPr>
          <a:xfrm>
            <a:off x="4206240" y="2880360"/>
            <a:ext cx="1737360" cy="1143000"/>
          </a:xfrm>
          <a:prstGeom prst="roundRect">
            <a:avLst>
              <a:gd name="adj" fmla="val 6400"/>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sp>
        <p:nvSpPr>
          <p:cNvPr id="13" name="Text 10"/>
          <p:cNvSpPr txBox="1"/>
          <p:nvPr/>
        </p:nvSpPr>
        <p:spPr>
          <a:xfrm>
            <a:off x="4434840" y="3044952"/>
            <a:ext cx="1280160" cy="566928"/>
          </a:xfrm>
          <a:prstGeom prst="rect">
            <a:avLst/>
          </a:prstGeom>
          <a:noFill/>
          <a:ln/>
        </p:spPr>
        <p:txBody>
          <a:bodyPr wrap="square" lIns="0" tIns="0" rIns="0" bIns="0" rtlCol="0" anchor="ctr"/>
          <a:lstStyle/>
          <a:p>
            <a:pPr indent="0" marL="0">
              <a:buNone/>
            </a:pPr>
            <a:r>
              <a:rPr lang="en-US" sz="2400" b="1" dirty="0">
                <a:solidFill>
                  <a:srgbClr val="1E6BFF"/>
                </a:solidFill>
                <a:latin typeface="Arial" pitchFamily="34" charset="0"/>
                <a:ea typeface="Arial" pitchFamily="34" charset="-122"/>
                <a:cs typeface="Arial" pitchFamily="34" charset="-120"/>
              </a:rPr>
              <a:t>26.9%</a:t>
            </a:r>
            <a:endParaRPr lang="en-US" sz="2400" dirty="0"/>
          </a:p>
        </p:txBody>
      </p:sp>
      <p:sp>
        <p:nvSpPr>
          <p:cNvPr id="14" name="Text 11"/>
          <p:cNvSpPr txBox="1"/>
          <p:nvPr/>
        </p:nvSpPr>
        <p:spPr>
          <a:xfrm>
            <a:off x="4434840" y="3630168"/>
            <a:ext cx="1280160" cy="274320"/>
          </a:xfrm>
          <a:prstGeom prst="rect">
            <a:avLst/>
          </a:prstGeom>
          <a:noFill/>
          <a:ln/>
        </p:spPr>
        <p:txBody>
          <a:bodyPr wrap="square" lIns="0" tIns="0" rIns="0" bIns="0" rtlCol="0" anchor="t"/>
          <a:lstStyle/>
          <a:p>
            <a:pPr indent="0" marL="0">
              <a:buNone/>
            </a:pPr>
            <a:r>
              <a:rPr lang="en-US" sz="1200" b="1" dirty="0">
                <a:solidFill>
                  <a:srgbClr val="0D1117"/>
                </a:solidFill>
                <a:latin typeface="Arial" pitchFamily="34" charset="0"/>
                <a:ea typeface="Arial" pitchFamily="34" charset="-122"/>
                <a:cs typeface="Arial" pitchFamily="34" charset="-120"/>
              </a:rPr>
              <a:t>neutral</a:t>
            </a:r>
            <a:endParaRPr lang="en-US" sz="1200" dirty="0"/>
          </a:p>
        </p:txBody>
      </p:sp>
      <p:sp>
        <p:nvSpPr>
          <p:cNvPr id="15" name="Shape 12"/>
          <p:cNvSpPr/>
          <p:nvPr/>
        </p:nvSpPr>
        <p:spPr>
          <a:xfrm>
            <a:off x="457200" y="4251960"/>
            <a:ext cx="5532120" cy="868680"/>
          </a:xfrm>
          <a:prstGeom prst="roundRect">
            <a:avLst>
              <a:gd name="adj" fmla="val 8421"/>
            </a:avLst>
          </a:prstGeom>
          <a:solidFill>
            <a:srgbClr val="EAF1FF"/>
          </a:solidFill>
          <a:ln w="9525">
            <a:solidFill>
              <a:srgbClr val="C9DAFD"/>
            </a:solidFill>
            <a:prstDash val="solid"/>
          </a:ln>
        </p:spPr>
      </p:sp>
      <p:pic>
        <p:nvPicPr>
          <p:cNvPr id="16" name="Image 0" descr="/home/aigca/ALEXIS/Posters/build/pptx/icons/scale_blue.png">    </p:cNvPr>
          <p:cNvPicPr>
            <a:picLocks noChangeAspect="1"/>
          </p:cNvPicPr>
          <p:nvPr/>
        </p:nvPicPr>
        <p:blipFill>
          <a:blip r:embed="rId1"/>
          <a:stretch>
            <a:fillRect/>
          </a:stretch>
        </p:blipFill>
        <p:spPr>
          <a:xfrm>
            <a:off x="640080" y="4549140"/>
            <a:ext cx="274320" cy="274320"/>
          </a:xfrm>
          <a:prstGeom prst="rect">
            <a:avLst/>
          </a:prstGeom>
        </p:spPr>
      </p:pic>
      <p:sp>
        <p:nvSpPr>
          <p:cNvPr id="17" name="Text 13"/>
          <p:cNvSpPr txBox="1"/>
          <p:nvPr/>
        </p:nvSpPr>
        <p:spPr>
          <a:xfrm>
            <a:off x="1051560" y="4251960"/>
            <a:ext cx="4754880" cy="868680"/>
          </a:xfrm>
          <a:prstGeom prst="rect">
            <a:avLst/>
          </a:prstGeom>
          <a:noFill/>
          <a:ln/>
        </p:spPr>
        <p:txBody>
          <a:bodyPr wrap="square" lIns="0" tIns="0" rIns="0" bIns="0" rtlCol="0" anchor="ctr"/>
          <a:lstStyle/>
          <a:p>
            <a:pPr indent="0" marL="0">
              <a:buNone/>
            </a:pPr>
            <a:r>
              <a:rPr lang="en-US" sz="1300" dirty="0">
                <a:solidFill>
                  <a:srgbClr val="0D1117"/>
                </a:solidFill>
                <a:latin typeface="Calibri" pitchFamily="34" charset="0"/>
                <a:ea typeface="Calibri" pitchFamily="34" charset="-122"/>
                <a:cs typeface="Calibri" pitchFamily="34" charset="-120"/>
              </a:rPr>
              <a:t>Classes are near-balanced and near-uniform across dialects, so dialect gaps reflect transfer difficulty, not label shift.</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92240" y="1645920"/>
          <a:ext cx="5212080" cy="914400"/>
        </p:xfrm>
        <a:graphic>
          <a:graphicData uri="http://schemas.openxmlformats.org/drawingml/2006/table">
            <a:tbl>
              <a:tblPr/>
              <a:tblGrid>
                <a:gridCol w="2834640"/>
                <a:gridCol w="1188720"/>
                <a:gridCol w="1188720"/>
              </a:tblGrid>
              <a:tr h="438912">
                <a:tc>
                  <a:txBody>
                    <a:bodyPr/>
                    <a:lstStyle/>
                    <a:p>
                      <a:pPr algn="l" indent="0" marL="0">
                        <a:buNone/>
                      </a:pPr>
                      <a:r>
                        <a:rPr lang="en-US" sz="1250" b="1" spc="50" kern="0" dirty="0">
                          <a:solidFill>
                            <a:srgbClr val="FFFFFF"/>
                          </a:solidFill>
                          <a:latin typeface="Arial" pitchFamily="34" charset="0"/>
                          <a:ea typeface="Arial" pitchFamily="34" charset="-122"/>
                          <a:cs typeface="Arial" pitchFamily="34" charset="-120"/>
                        </a:rPr>
                        <a:t>Dialect</a:t>
                      </a:r>
                      <a:endParaRPr lang="en-US" sz="1250" dirty="0">
                        <a:latin typeface="Arial" charset="0"/>
                        <a:ea typeface="Arial" charset="0"/>
                        <a:cs typeface="Arial"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0D1117"/>
                    </a:solidFill>
                  </a:tcPr>
                </a:tc>
                <a:tc>
                  <a:txBody>
                    <a:bodyPr/>
                    <a:lstStyle/>
                    <a:p>
                      <a:pPr algn="r" indent="0" marL="0">
                        <a:buNone/>
                      </a:pPr>
                      <a:r>
                        <a:rPr lang="en-US" sz="1250" b="1" spc="50" kern="0" dirty="0">
                          <a:solidFill>
                            <a:srgbClr val="FFFFFF"/>
                          </a:solidFill>
                          <a:latin typeface="Arial" pitchFamily="34" charset="0"/>
                          <a:ea typeface="Arial" pitchFamily="34" charset="-122"/>
                          <a:cs typeface="Arial" pitchFamily="34" charset="-120"/>
                        </a:rPr>
                        <a:t>Train</a:t>
                      </a:r>
                      <a:endParaRPr lang="en-US" sz="1250" dirty="0">
                        <a:latin typeface="Arial" charset="0"/>
                        <a:ea typeface="Arial" charset="0"/>
                        <a:cs typeface="Arial"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0D1117"/>
                    </a:solidFill>
                  </a:tcPr>
                </a:tc>
                <a:tc>
                  <a:txBody>
                    <a:bodyPr/>
                    <a:lstStyle/>
                    <a:p>
                      <a:pPr algn="r" indent="0" marL="0">
                        <a:buNone/>
                      </a:pPr>
                      <a:r>
                        <a:rPr lang="en-US" sz="1250" b="1" spc="50" kern="0" dirty="0">
                          <a:solidFill>
                            <a:srgbClr val="FFFFFF"/>
                          </a:solidFill>
                          <a:latin typeface="Arial" pitchFamily="34" charset="0"/>
                          <a:ea typeface="Arial" pitchFamily="34" charset="-122"/>
                          <a:cs typeface="Arial" pitchFamily="34" charset="-120"/>
                        </a:rPr>
                        <a:t>Test</a:t>
                      </a:r>
                      <a:endParaRPr lang="en-US" sz="1250" dirty="0">
                        <a:latin typeface="Arial" charset="0"/>
                        <a:ea typeface="Arial" charset="0"/>
                        <a:cs typeface="Arial"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0D1117"/>
                    </a:solidFill>
                  </a:tcPr>
                </a:tc>
              </a:tr>
              <a:tr h="438912">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Darija (Moroccan)</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D1117"/>
                          </a:solidFill>
                          <a:latin typeface="Calibri" pitchFamily="34" charset="0"/>
                          <a:ea typeface="Calibri" pitchFamily="34" charset="-122"/>
                          <a:cs typeface="Calibri" pitchFamily="34" charset="-120"/>
                        </a:rPr>
                        <a:t>433</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D1117"/>
                          </a:solidFill>
                          <a:latin typeface="Calibri" pitchFamily="34" charset="0"/>
                          <a:ea typeface="Calibri" pitchFamily="34" charset="-122"/>
                          <a:cs typeface="Calibri" pitchFamily="34" charset="-120"/>
                        </a:rPr>
                        <a:t>105</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438912">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Egyptian</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D1117"/>
                          </a:solidFill>
                          <a:latin typeface="Calibri" pitchFamily="34" charset="0"/>
                          <a:ea typeface="Calibri" pitchFamily="34" charset="-122"/>
                          <a:cs typeface="Calibri" pitchFamily="34" charset="-120"/>
                        </a:rPr>
                        <a:t>432</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D1117"/>
                          </a:solidFill>
                          <a:latin typeface="Calibri" pitchFamily="34" charset="0"/>
                          <a:ea typeface="Calibri" pitchFamily="34" charset="-122"/>
                          <a:cs typeface="Calibri" pitchFamily="34" charset="-120"/>
                        </a:rPr>
                        <a:t>105</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438912">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Jordanian</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D1117"/>
                          </a:solidFill>
                          <a:latin typeface="Calibri" pitchFamily="34" charset="0"/>
                          <a:ea typeface="Calibri" pitchFamily="34" charset="-122"/>
                          <a:cs typeface="Calibri" pitchFamily="34" charset="-120"/>
                        </a:rPr>
                        <a:t>433</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D1117"/>
                          </a:solidFill>
                          <a:latin typeface="Calibri" pitchFamily="34" charset="0"/>
                          <a:ea typeface="Calibri" pitchFamily="34" charset="-122"/>
                          <a:cs typeface="Calibri" pitchFamily="34" charset="-120"/>
                        </a:rPr>
                        <a:t>105</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438912">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Saudi</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D1117"/>
                          </a:solidFill>
                          <a:latin typeface="Calibri" pitchFamily="34" charset="0"/>
                          <a:ea typeface="Calibri" pitchFamily="34" charset="-122"/>
                          <a:cs typeface="Calibri" pitchFamily="34" charset="-120"/>
                        </a:rPr>
                        <a:t>433</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D1117"/>
                          </a:solidFill>
                          <a:latin typeface="Calibri" pitchFamily="34" charset="0"/>
                          <a:ea typeface="Calibri" pitchFamily="34" charset="-122"/>
                          <a:cs typeface="Calibri" pitchFamily="34" charset="-120"/>
                        </a:rPr>
                        <a:t>105</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438912">
                <a:tc>
                  <a:txBody>
                    <a:bodyPr/>
                    <a:lstStyle/>
                    <a:p>
                      <a:pPr algn="l" indent="0" marL="0">
                        <a:buNone/>
                      </a:pPr>
                      <a:r>
                        <a:rPr lang="en-US" sz="1400" b="1" dirty="0">
                          <a:solidFill>
                            <a:srgbClr val="1553CC"/>
                          </a:solidFill>
                          <a:latin typeface="Calibri" pitchFamily="34" charset="0"/>
                          <a:ea typeface="Calibri" pitchFamily="34" charset="-122"/>
                          <a:cs typeface="Calibri" pitchFamily="34" charset="-120"/>
                        </a:rPr>
                        <a:t>Lebanese (unseen)</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EAF1FF"/>
                    </a:solidFill>
                  </a:tcPr>
                </a:tc>
                <a:tc>
                  <a:txBody>
                    <a:bodyPr/>
                    <a:lstStyle/>
                    <a:p>
                      <a:pPr algn="r" indent="0" marL="0">
                        <a:buNone/>
                      </a:pPr>
                      <a:r>
                        <a:rPr lang="en-US" sz="1400" b="1" dirty="0">
                          <a:solidFill>
                            <a:srgbClr val="1553CC"/>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EAF1FF"/>
                    </a:solidFill>
                  </a:tcPr>
                </a:tc>
                <a:tc>
                  <a:txBody>
                    <a:bodyPr/>
                    <a:lstStyle/>
                    <a:p>
                      <a:pPr algn="r" indent="0" marL="0">
                        <a:buNone/>
                      </a:pPr>
                      <a:r>
                        <a:rPr lang="en-US" sz="1400" b="1" dirty="0">
                          <a:solidFill>
                            <a:srgbClr val="1553CC"/>
                          </a:solidFill>
                          <a:latin typeface="Calibri" pitchFamily="34" charset="0"/>
                          <a:ea typeface="Calibri" pitchFamily="34" charset="-122"/>
                          <a:cs typeface="Calibri" pitchFamily="34" charset="-120"/>
                        </a:rPr>
                        <a:t>105</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EAF1FF"/>
                    </a:solidFill>
                  </a:tcPr>
                </a:tc>
              </a:tr>
              <a:tr h="438912">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Total</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D1117"/>
                          </a:solidFill>
                          <a:latin typeface="Calibri" pitchFamily="34" charset="0"/>
                          <a:ea typeface="Calibri" pitchFamily="34" charset="-122"/>
                          <a:cs typeface="Calibri" pitchFamily="34" charset="-120"/>
                        </a:rPr>
                        <a:t>1,731</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D1117"/>
                          </a:solidFill>
                          <a:latin typeface="Calibri" pitchFamily="34" charset="0"/>
                          <a:ea typeface="Calibri" pitchFamily="34" charset="-122"/>
                          <a:cs typeface="Calibri" pitchFamily="34" charset="-120"/>
                        </a:rPr>
                        <a:t>525</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bl>
          </a:graphicData>
        </a:graphic>
      </p:graphicFrame>
      <p:sp>
        <p:nvSpPr>
          <p:cNvPr id="19" name="Text 14"/>
          <p:cNvSpPr txBox="1"/>
          <p:nvPr/>
        </p:nvSpPr>
        <p:spPr>
          <a:xfrm>
            <a:off x="6492240" y="4846320"/>
            <a:ext cx="5212080" cy="274320"/>
          </a:xfrm>
          <a:prstGeom prst="rect">
            <a:avLst/>
          </a:prstGeom>
          <a:noFill/>
          <a:ln/>
        </p:spPr>
        <p:txBody>
          <a:bodyPr wrap="square" lIns="0" tIns="0" rIns="0" bIns="0" rtlCol="0" anchor="t"/>
          <a:lstStyle/>
          <a:p>
            <a:pPr indent="0" marL="0">
              <a:buNone/>
            </a:pPr>
            <a:r>
              <a:rPr lang="en-US" sz="1100" dirty="0">
                <a:solidFill>
                  <a:srgbClr val="8A93A0"/>
                </a:solidFill>
                <a:latin typeface="Calibri" pitchFamily="34" charset="0"/>
                <a:ea typeface="Calibri" pitchFamily="34" charset="-122"/>
                <a:cs typeface="Calibri" pitchFamily="34" charset="-120"/>
              </a:rPr>
              <a:t>MDS-3 splits per dialect (rows). Lebanese has zero training examples.</a:t>
            </a:r>
            <a:endParaRPr lang="en-US" sz="110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3" type="body" hasCustomPrompt="1"/>
          </p:nvPr>
        </p:nvSpPr>
        <p:spPr>
          <a:xfrm>
            <a:off x="822960" y="548640"/>
            <a:ext cx="8229600" cy="274320"/>
          </a:xfrm>
          <a:prstGeom prst="rect">
            <a:avLst/>
          </a:prstGeom>
          <a:noFill/>
          <a:ln/>
        </p:spPr>
        <p:txBody>
          <a:bodyPr wrap="square" lIns="0" tIns="0" rIns="0" bIns="0" rtlCol="0" anchor="ctr"/>
          <a:lstStyle/>
          <a:p>
            <a:pPr algn="l" indent="0" marL="0">
              <a:buNone/>
            </a:pPr>
            <a:r>
              <a:rPr lang="en-US" sz="1200" b="1" spc="100" kern="0" dirty="0">
                <a:solidFill>
                  <a:srgbClr val="22C3FF"/>
                </a:solidFill>
                <a:latin typeface="Arial" pitchFamily="34" charset="0"/>
                <a:ea typeface="Arial" pitchFamily="34" charset="-122"/>
                <a:cs typeface="Arial" pitchFamily="34" charset="-120"/>
              </a:rPr>
              <a:t>THE DIAGNOSIS</a:t>
            </a:r>
            <a:endParaRPr lang="en-US" sz="1200" dirty="0"/>
          </a:p>
        </p:txBody>
      </p:sp>
      <p:sp>
        <p:nvSpPr>
          <p:cNvPr id="3" name="Text 1"/>
          <p:cNvSpPr/>
          <p:nvPr>
            <p:ph idx="104" type="title" hasCustomPrompt="1"/>
          </p:nvPr>
        </p:nvSpPr>
        <p:spPr>
          <a:xfrm>
            <a:off x="457200" y="1097280"/>
            <a:ext cx="11247120" cy="1188720"/>
          </a:xfrm>
          <a:prstGeom prst="rect">
            <a:avLst/>
          </a:prstGeom>
          <a:noFill/>
          <a:ln/>
        </p:spPr>
        <p:txBody>
          <a:bodyPr wrap="square" lIns="0" tIns="0" rIns="0" bIns="0" rtlCol="0" anchor="t"/>
          <a:lstStyle/>
          <a:p>
            <a:pPr algn="l" indent="0" marL="0">
              <a:buNone/>
            </a:pPr>
            <a:r>
              <a:rPr lang="en-US" sz="3000" b="1" dirty="0">
                <a:solidFill>
                  <a:srgbClr val="FFFFFF"/>
                </a:solidFill>
                <a:latin typeface="Arial" pitchFamily="34" charset="0"/>
                <a:ea typeface="Arial" pitchFamily="34" charset="-122"/>
                <a:cs typeface="Arial" pitchFamily="34" charset="-120"/>
              </a:rPr>
              <a:t>A zero-shot transfer problem,</a:t>
            </a:r>
            <a:endParaRPr lang="en-US" sz="3000" dirty="0"/>
          </a:p>
          <a:p>
            <a:pPr algn="l" indent="0" marL="0">
              <a:buNone/>
            </a:pPr>
            <a:r>
              <a:rPr lang="en-US" sz="3000" b="1" dirty="0">
                <a:solidFill>
                  <a:srgbClr val="FFFFFF"/>
                </a:solidFill>
                <a:latin typeface="Arial" pitchFamily="34" charset="0"/>
                <a:ea typeface="Arial" pitchFamily="34" charset="-122"/>
                <a:cs typeface="Arial" pitchFamily="34" charset="-120"/>
              </a:rPr>
              <a:t>not a classification problem</a:t>
            </a:r>
            <a:endParaRPr lang="en-US" sz="3000" dirty="0"/>
          </a:p>
        </p:txBody>
      </p:sp>
      <p:sp>
        <p:nvSpPr>
          <p:cNvPr id="5" name="Text 2"/>
          <p:cNvSpPr txBox="1"/>
          <p:nvPr/>
        </p:nvSpPr>
        <p:spPr>
          <a:xfrm>
            <a:off x="457200" y="2514600"/>
            <a:ext cx="10972800" cy="548640"/>
          </a:xfrm>
          <a:prstGeom prst="rect">
            <a:avLst/>
          </a:prstGeom>
          <a:noFill/>
          <a:ln/>
        </p:spPr>
        <p:txBody>
          <a:bodyPr wrap="square" lIns="0" tIns="0" rIns="0" bIns="0" rtlCol="0" anchor="t"/>
          <a:lstStyle/>
          <a:p>
            <a:pPr indent="0" marL="0">
              <a:buNone/>
            </a:pPr>
            <a:r>
              <a:rPr lang="en-US" sz="1500" i="1" dirty="0">
                <a:solidFill>
                  <a:srgbClr val="B8C4D6"/>
                </a:solidFill>
                <a:latin typeface="Calibri" pitchFamily="34" charset="0"/>
                <a:ea typeface="Calibri" pitchFamily="34" charset="-122"/>
                <a:cs typeface="Calibri" pitchFamily="34" charset="-120"/>
              </a:rPr>
              <a:t>k-fold scores on seen dialects look excellent, but the test set measures something else: transfer to a dialect the model has never seen.</a:t>
            </a:r>
            <a:endParaRPr lang="en-US" sz="1500" dirty="0"/>
          </a:p>
        </p:txBody>
      </p:sp>
      <p:sp>
        <p:nvSpPr>
          <p:cNvPr id="6" name="Shape 3"/>
          <p:cNvSpPr/>
          <p:nvPr/>
        </p:nvSpPr>
        <p:spPr>
          <a:xfrm>
            <a:off x="457200" y="3429000"/>
            <a:ext cx="3611880" cy="2103120"/>
          </a:xfrm>
          <a:prstGeom prst="roundRect">
            <a:avLst>
              <a:gd name="adj" fmla="val 3478"/>
            </a:avLst>
          </a:prstGeom>
          <a:solidFill>
            <a:srgbClr val="12203A"/>
          </a:solidFill>
          <a:ln w="9525">
            <a:solidFill>
              <a:srgbClr val="26406E"/>
            </a:solidFill>
            <a:prstDash val="solid"/>
          </a:ln>
          <a:effectLst>
            <a:outerShdw sx="100000" sy="100000" kx="0" ky="0" algn="bl" rotWithShape="0" blurRad="101600" dist="25400" dir="5400000">
              <a:srgbClr val="0D1B3A">
                <a:alpha val="35000"/>
              </a:srgbClr>
            </a:outerShdw>
          </a:effectLst>
        </p:spPr>
      </p:sp>
      <p:sp>
        <p:nvSpPr>
          <p:cNvPr id="7" name="Text 4"/>
          <p:cNvSpPr txBox="1"/>
          <p:nvPr/>
        </p:nvSpPr>
        <p:spPr>
          <a:xfrm>
            <a:off x="685800" y="3593592"/>
            <a:ext cx="3154680" cy="566928"/>
          </a:xfrm>
          <a:prstGeom prst="rect">
            <a:avLst/>
          </a:prstGeom>
          <a:noFill/>
          <a:ln/>
        </p:spPr>
        <p:txBody>
          <a:bodyPr wrap="square" lIns="0" tIns="0" rIns="0" bIns="0" rtlCol="0" anchor="ctr"/>
          <a:lstStyle/>
          <a:p>
            <a:pPr indent="0" marL="0">
              <a:buNone/>
            </a:pPr>
            <a:r>
              <a:rPr lang="en-US" sz="2800" b="1" dirty="0">
                <a:solidFill>
                  <a:srgbClr val="22C3FF"/>
                </a:solidFill>
                <a:latin typeface="Arial" pitchFamily="34" charset="0"/>
                <a:ea typeface="Arial" pitchFamily="34" charset="-122"/>
                <a:cs typeface="Arial" pitchFamily="34" charset="-120"/>
              </a:rPr>
              <a:t>0</a:t>
            </a:r>
            <a:endParaRPr lang="en-US" sz="2800" dirty="0"/>
          </a:p>
        </p:txBody>
      </p:sp>
      <p:sp>
        <p:nvSpPr>
          <p:cNvPr id="8" name="Text 5"/>
          <p:cNvSpPr txBox="1"/>
          <p:nvPr/>
        </p:nvSpPr>
        <p:spPr>
          <a:xfrm>
            <a:off x="685800" y="4178808"/>
            <a:ext cx="3154680" cy="274320"/>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training rows for Lebanese</a:t>
            </a:r>
            <a:endParaRPr lang="en-US" sz="1200" dirty="0"/>
          </a:p>
        </p:txBody>
      </p:sp>
      <p:sp>
        <p:nvSpPr>
          <p:cNvPr id="9" name="Text 6"/>
          <p:cNvSpPr txBox="1"/>
          <p:nvPr/>
        </p:nvSpPr>
        <p:spPr>
          <a:xfrm>
            <a:off x="685800" y="4434840"/>
            <a:ext cx="3154680" cy="1005840"/>
          </a:xfrm>
          <a:prstGeom prst="rect">
            <a:avLst/>
          </a:prstGeom>
          <a:noFill/>
          <a:ln/>
        </p:spPr>
        <p:txBody>
          <a:bodyPr wrap="square" lIns="0" tIns="0" rIns="0" bIns="0" rtlCol="0" anchor="t"/>
          <a:lstStyle/>
          <a:p>
            <a:pPr indent="0" marL="0">
              <a:buNone/>
            </a:pPr>
            <a:r>
              <a:rPr lang="en-US" sz="1150" dirty="0">
                <a:solidFill>
                  <a:srgbClr val="9FB3D0"/>
                </a:solidFill>
                <a:latin typeface="Calibri" pitchFamily="34" charset="0"/>
                <a:ea typeface="Calibri" pitchFamily="34" charset="-122"/>
                <a:cs typeface="Calibri" pitchFamily="34" charset="-120"/>
              </a:rPr>
              <a:t>It appears only in the test set: 105 of the 525 test rows.</a:t>
            </a:r>
            <a:endParaRPr lang="en-US" sz="1150" dirty="0"/>
          </a:p>
        </p:txBody>
      </p:sp>
      <p:sp>
        <p:nvSpPr>
          <p:cNvPr id="10" name="Shape 7"/>
          <p:cNvSpPr/>
          <p:nvPr/>
        </p:nvSpPr>
        <p:spPr>
          <a:xfrm>
            <a:off x="4279392" y="3429000"/>
            <a:ext cx="3611880" cy="2103120"/>
          </a:xfrm>
          <a:prstGeom prst="roundRect">
            <a:avLst>
              <a:gd name="adj" fmla="val 3478"/>
            </a:avLst>
          </a:prstGeom>
          <a:solidFill>
            <a:srgbClr val="12203A"/>
          </a:solidFill>
          <a:ln w="9525">
            <a:solidFill>
              <a:srgbClr val="26406E"/>
            </a:solidFill>
            <a:prstDash val="solid"/>
          </a:ln>
          <a:effectLst>
            <a:outerShdw sx="100000" sy="100000" kx="0" ky="0" algn="bl" rotWithShape="0" blurRad="101600" dist="25400" dir="5400000">
              <a:srgbClr val="0D1B3A">
                <a:alpha val="35000"/>
              </a:srgbClr>
            </a:outerShdw>
          </a:effectLst>
        </p:spPr>
      </p:sp>
      <p:sp>
        <p:nvSpPr>
          <p:cNvPr id="11" name="Text 8"/>
          <p:cNvSpPr txBox="1"/>
          <p:nvPr/>
        </p:nvSpPr>
        <p:spPr>
          <a:xfrm>
            <a:off x="4507992" y="3593592"/>
            <a:ext cx="3154680" cy="566928"/>
          </a:xfrm>
          <a:prstGeom prst="rect">
            <a:avLst/>
          </a:prstGeom>
          <a:noFill/>
          <a:ln/>
        </p:spPr>
        <p:txBody>
          <a:bodyPr wrap="square" lIns="0" tIns="0" rIns="0" bIns="0" rtlCol="0" anchor="ctr"/>
          <a:lstStyle/>
          <a:p>
            <a:pPr indent="0" marL="0">
              <a:buNone/>
            </a:pPr>
            <a:r>
              <a:rPr lang="en-US" sz="2800" b="1" dirty="0">
                <a:solidFill>
                  <a:srgbClr val="22C3FF"/>
                </a:solidFill>
                <a:latin typeface="Arial" pitchFamily="34" charset="0"/>
                <a:ea typeface="Arial" pitchFamily="34" charset="-122"/>
                <a:cs typeface="Arial" pitchFamily="34" charset="-120"/>
              </a:rPr>
              <a:t>34.3%</a:t>
            </a:r>
            <a:endParaRPr lang="en-US" sz="2800" dirty="0"/>
          </a:p>
        </p:txBody>
      </p:sp>
      <p:sp>
        <p:nvSpPr>
          <p:cNvPr id="12" name="Text 9"/>
          <p:cNvSpPr txBox="1"/>
          <p:nvPr/>
        </p:nvSpPr>
        <p:spPr>
          <a:xfrm>
            <a:off x="4507992" y="4178808"/>
            <a:ext cx="3154680" cy="274320"/>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OOV token occurrences</a:t>
            </a:r>
            <a:endParaRPr lang="en-US" sz="1200" dirty="0"/>
          </a:p>
        </p:txBody>
      </p:sp>
      <p:sp>
        <p:nvSpPr>
          <p:cNvPr id="13" name="Text 10"/>
          <p:cNvSpPr txBox="1"/>
          <p:nvPr/>
        </p:nvSpPr>
        <p:spPr>
          <a:xfrm>
            <a:off x="4507992" y="4434840"/>
            <a:ext cx="3154680" cy="1005840"/>
          </a:xfrm>
          <a:prstGeom prst="rect">
            <a:avLst/>
          </a:prstGeom>
          <a:noFill/>
          <a:ln/>
        </p:spPr>
        <p:txBody>
          <a:bodyPr wrap="square" lIns="0" tIns="0" rIns="0" bIns="0" rtlCol="0" anchor="t"/>
          <a:lstStyle/>
          <a:p>
            <a:pPr indent="0" marL="0">
              <a:buNone/>
            </a:pPr>
            <a:r>
              <a:rPr lang="en-US" sz="1150" dirty="0">
                <a:solidFill>
                  <a:srgbClr val="9FB3D0"/>
                </a:solidFill>
                <a:latin typeface="Calibri" pitchFamily="34" charset="0"/>
                <a:ea typeface="Calibri" pitchFamily="34" charset="-122"/>
                <a:cs typeface="Calibri" pitchFamily="34" charset="-120"/>
              </a:rPr>
              <a:t>Lebanese, against 10.9–21.8% for the seen dialects; 52.0% of its word types are unseen.</a:t>
            </a:r>
            <a:endParaRPr lang="en-US" sz="1150" dirty="0"/>
          </a:p>
        </p:txBody>
      </p:sp>
      <p:sp>
        <p:nvSpPr>
          <p:cNvPr id="14" name="Shape 11"/>
          <p:cNvSpPr/>
          <p:nvPr/>
        </p:nvSpPr>
        <p:spPr>
          <a:xfrm>
            <a:off x="8101584" y="3429000"/>
            <a:ext cx="3611880" cy="2103120"/>
          </a:xfrm>
          <a:prstGeom prst="roundRect">
            <a:avLst>
              <a:gd name="adj" fmla="val 3478"/>
            </a:avLst>
          </a:prstGeom>
          <a:solidFill>
            <a:srgbClr val="12203A"/>
          </a:solidFill>
          <a:ln w="9525">
            <a:solidFill>
              <a:srgbClr val="26406E"/>
            </a:solidFill>
            <a:prstDash val="solid"/>
          </a:ln>
          <a:effectLst>
            <a:outerShdw sx="100000" sy="100000" kx="0" ky="0" algn="bl" rotWithShape="0" blurRad="101600" dist="25400" dir="5400000">
              <a:srgbClr val="0D1B3A">
                <a:alpha val="35000"/>
              </a:srgbClr>
            </a:outerShdw>
          </a:effectLst>
        </p:spPr>
      </p:sp>
      <p:sp>
        <p:nvSpPr>
          <p:cNvPr id="15" name="Text 12"/>
          <p:cNvSpPr txBox="1"/>
          <p:nvPr/>
        </p:nvSpPr>
        <p:spPr>
          <a:xfrm>
            <a:off x="8330184" y="3593592"/>
            <a:ext cx="3154680" cy="566928"/>
          </a:xfrm>
          <a:prstGeom prst="rect">
            <a:avLst/>
          </a:prstGeom>
          <a:noFill/>
          <a:ln/>
        </p:spPr>
        <p:txBody>
          <a:bodyPr wrap="square" lIns="0" tIns="0" rIns="0" bIns="0" rtlCol="0" anchor="ctr"/>
          <a:lstStyle/>
          <a:p>
            <a:pPr indent="0" marL="0">
              <a:buNone/>
            </a:pPr>
            <a:r>
              <a:rPr lang="en-US" sz="2800" b="1" dirty="0">
                <a:solidFill>
                  <a:srgbClr val="22C3FF"/>
                </a:solidFill>
                <a:latin typeface="Arial" pitchFamily="34" charset="0"/>
                <a:ea typeface="Arial" pitchFamily="34" charset="-122"/>
                <a:cs typeface="Arial" pitchFamily="34" charset="-120"/>
              </a:rPr>
              <a:t>44.4% / 37.8%</a:t>
            </a:r>
            <a:endParaRPr lang="en-US" sz="2800" dirty="0"/>
          </a:p>
        </p:txBody>
      </p:sp>
      <p:sp>
        <p:nvSpPr>
          <p:cNvPr id="16" name="Text 13"/>
          <p:cNvSpPr txBox="1"/>
          <p:nvPr/>
        </p:nvSpPr>
        <p:spPr>
          <a:xfrm>
            <a:off x="8330184" y="4178808"/>
            <a:ext cx="3154680" cy="274320"/>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negation in negative / neutral</a:t>
            </a:r>
            <a:endParaRPr lang="en-US" sz="1200" dirty="0"/>
          </a:p>
        </p:txBody>
      </p:sp>
      <p:sp>
        <p:nvSpPr>
          <p:cNvPr id="17" name="Text 14"/>
          <p:cNvSpPr txBox="1"/>
          <p:nvPr/>
        </p:nvSpPr>
        <p:spPr>
          <a:xfrm>
            <a:off x="8330184" y="4434840"/>
            <a:ext cx="3154680" cy="1005840"/>
          </a:xfrm>
          <a:prstGeom prst="rect">
            <a:avLst/>
          </a:prstGeom>
          <a:noFill/>
          <a:ln/>
        </p:spPr>
        <p:txBody>
          <a:bodyPr wrap="square" lIns="0" tIns="0" rIns="0" bIns="0" rtlCol="0" anchor="t"/>
          <a:lstStyle/>
          <a:p>
            <a:pPr indent="0" marL="0">
              <a:buNone/>
            </a:pPr>
            <a:r>
              <a:rPr lang="en-US" sz="1150" dirty="0">
                <a:solidFill>
                  <a:srgbClr val="9FB3D0"/>
                </a:solidFill>
                <a:latin typeface="Calibri" pitchFamily="34" charset="0"/>
                <a:ea typeface="Calibri" pitchFamily="34" charset="-122"/>
                <a:cs typeface="Calibri" pitchFamily="34" charset="-120"/>
              </a:rPr>
              <a:t>Surface cues separate the classes poorly, so we use contextual encoders, not lexicons or rules.</a:t>
            </a:r>
            <a:endParaRPr lang="en-US" sz="115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22C3FF"/>
                </a:solidFill>
                <a:latin typeface="Arial"/>
                <a:ea typeface="Arial"/>
                <a:cs typeface="Arial"/>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3" type="body" hasCustomPrompt="1"/>
          </p:nvPr>
        </p:nvSpPr>
        <p:spPr>
          <a:xfrm>
            <a:off x="786384" y="457200"/>
            <a:ext cx="8229600" cy="256032"/>
          </a:xfrm>
          <a:prstGeom prst="rect">
            <a:avLst/>
          </a:prstGeom>
          <a:noFill/>
          <a:ln/>
        </p:spPr>
        <p:txBody>
          <a:bodyPr wrap="square" lIns="0" tIns="0" rIns="0" bIns="0" rtlCol="0" anchor="ctr"/>
          <a:lstStyle/>
          <a:p>
            <a:pPr algn="l" indent="0" marL="0">
              <a:buNone/>
            </a:pPr>
            <a:r>
              <a:rPr lang="en-US" sz="1100" b="1" spc="100" kern="0" dirty="0">
                <a:solidFill>
                  <a:srgbClr val="1E6BFF"/>
                </a:solidFill>
                <a:latin typeface="Arial" pitchFamily="34" charset="0"/>
                <a:ea typeface="Arial" pitchFamily="34" charset="-122"/>
                <a:cs typeface="Arial" pitchFamily="34" charset="-120"/>
              </a:rPr>
              <a:t>VOCABULARY OVERLAP</a:t>
            </a:r>
            <a:endParaRPr lang="en-US" sz="1100" dirty="0"/>
          </a:p>
        </p:txBody>
      </p:sp>
      <p:sp>
        <p:nvSpPr>
          <p:cNvPr id="3" name="Text 1"/>
          <p:cNvSpPr/>
          <p:nvPr>
            <p:ph idx="104" type="title" hasCustomPrompt="1"/>
          </p:nvPr>
        </p:nvSpPr>
        <p:spPr>
          <a:xfrm>
            <a:off x="457200" y="768096"/>
            <a:ext cx="11247120" cy="566928"/>
          </a:xfrm>
          <a:prstGeom prst="rect">
            <a:avLst/>
          </a:prstGeom>
          <a:noFill/>
          <a:ln/>
        </p:spPr>
        <p:txBody>
          <a:bodyPr wrap="square" lIns="0" tIns="0" rIns="0" bIns="0" rtlCol="0" anchor="t"/>
          <a:lstStyle/>
          <a:p>
            <a:pPr algn="l" indent="0" marL="0">
              <a:buNone/>
            </a:pPr>
            <a:r>
              <a:rPr lang="en-US" sz="2800" b="1" dirty="0">
                <a:solidFill>
                  <a:srgbClr val="0D1117"/>
                </a:solidFill>
                <a:latin typeface="Arial" pitchFamily="34" charset="0"/>
                <a:ea typeface="Arial" pitchFamily="34" charset="-122"/>
                <a:cs typeface="Arial" pitchFamily="34" charset="-120"/>
              </a:rPr>
              <a:t>Lebanese words are mostly unseen in training</a:t>
            </a:r>
            <a:endParaRPr lang="en-US" sz="2800" dirty="0"/>
          </a:p>
        </p:txBody>
      </p:sp>
      <p:sp>
        <p:nvSpPr>
          <p:cNvPr id="5" name="Shape 2"/>
          <p:cNvSpPr/>
          <p:nvPr/>
        </p:nvSpPr>
        <p:spPr>
          <a:xfrm>
            <a:off x="457200" y="1600200"/>
            <a:ext cx="6949440" cy="4526280"/>
          </a:xfrm>
          <a:prstGeom prst="roundRect">
            <a:avLst>
              <a:gd name="adj" fmla="val 1616"/>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graphicFrame>
        <p:nvGraphicFramePr>
          <p:cNvPr id="6" name="Chart 0" descr=""/>
          <p:cNvGraphicFramePr/>
          <p:nvPr/>
        </p:nvGraphicFramePr>
        <p:xfrm>
          <a:off x="640080" y="1737360"/>
          <a:ext cx="6583680" cy="4251960"/>
        </p:xfrm>
        <a:graphic xmlns:a="http://schemas.openxmlformats.org/drawingml/2006/main">
          <a:graphicData uri="http://schemas.openxmlformats.org/drawingml/2006/chart">
            <c:chart xmlns:c="http://schemas.openxmlformats.org/drawingml/2006/chart" r:id="rId1"/>
          </a:graphicData>
        </a:graphic>
      </p:graphicFrame>
      <p:sp>
        <p:nvSpPr>
          <p:cNvPr id="7" name="Text 3"/>
          <p:cNvSpPr txBox="1"/>
          <p:nvPr/>
        </p:nvSpPr>
        <p:spPr>
          <a:xfrm>
            <a:off x="7726680" y="1691640"/>
            <a:ext cx="4023360" cy="320040"/>
          </a:xfrm>
          <a:prstGeom prst="rect">
            <a:avLst/>
          </a:prstGeom>
          <a:noFill/>
          <a:ln/>
        </p:spPr>
        <p:txBody>
          <a:bodyPr wrap="square" lIns="0" tIns="0" rIns="0" bIns="0" rtlCol="0" anchor="t"/>
          <a:lstStyle/>
          <a:p>
            <a:pPr indent="0" marL="0">
              <a:buNone/>
            </a:pPr>
            <a:r>
              <a:rPr lang="en-US" sz="1400" b="1" dirty="0">
                <a:solidFill>
                  <a:srgbClr val="0D1117"/>
                </a:solidFill>
                <a:latin typeface="Arial" pitchFamily="34" charset="0"/>
                <a:ea typeface="Arial" pitchFamily="34" charset="-122"/>
                <a:cs typeface="Arial" pitchFamily="34" charset="-120"/>
              </a:rPr>
              <a:t>Reading the chart</a:t>
            </a:r>
            <a:endParaRPr lang="en-US" sz="1400" dirty="0"/>
          </a:p>
        </p:txBody>
      </p:sp>
      <p:pic>
        <p:nvPicPr>
          <p:cNvPr id="8" name="Image 0" descr="/home/aigca/ALEXIS/Posters/build/pptx/icons/chart_blue.png">    </p:cNvPr>
          <p:cNvPicPr>
            <a:picLocks noChangeAspect="1"/>
          </p:cNvPicPr>
          <p:nvPr/>
        </p:nvPicPr>
        <p:blipFill>
          <a:blip r:embed="rId2"/>
          <a:stretch>
            <a:fillRect/>
          </a:stretch>
        </p:blipFill>
        <p:spPr>
          <a:xfrm>
            <a:off x="7726680" y="2176272"/>
            <a:ext cx="274320" cy="274320"/>
          </a:xfrm>
          <a:prstGeom prst="rect">
            <a:avLst/>
          </a:prstGeom>
        </p:spPr>
      </p:pic>
      <p:sp>
        <p:nvSpPr>
          <p:cNvPr id="9" name="Text 4"/>
          <p:cNvSpPr txBox="1"/>
          <p:nvPr/>
        </p:nvSpPr>
        <p:spPr>
          <a:xfrm>
            <a:off x="8138160" y="2130552"/>
            <a:ext cx="3566160" cy="777240"/>
          </a:xfrm>
          <a:prstGeom prst="rect">
            <a:avLst/>
          </a:prstGeom>
          <a:noFill/>
          <a:ln/>
        </p:spPr>
        <p:txBody>
          <a:bodyPr wrap="square" lIns="0" tIns="0" rIns="0" bIns="0" rtlCol="0" anchor="t"/>
          <a:lstStyle/>
          <a:p>
            <a:pPr indent="0" marL="0">
              <a:buNone/>
            </a:pPr>
            <a:r>
              <a:rPr lang="en-US" sz="1300" dirty="0">
                <a:solidFill>
                  <a:srgbClr val="5A6472"/>
                </a:solidFill>
                <a:latin typeface="Calibri" pitchFamily="34" charset="0"/>
                <a:ea typeface="Calibri" pitchFamily="34" charset="-122"/>
                <a:cs typeface="Calibri" pitchFamily="34" charset="-120"/>
              </a:rPr>
              <a:t>Lebanese reaches 34.3% of token occurrences, more than 1.5× any seen dialect.</a:t>
            </a:r>
            <a:endParaRPr lang="en-US" sz="1300" dirty="0"/>
          </a:p>
        </p:txBody>
      </p:sp>
      <p:pic>
        <p:nvPicPr>
          <p:cNvPr id="10" name="Image 1" descr="/home/aigca/ALEXIS/Posters/build/pptx/icons/type_blue.png">    </p:cNvPr>
          <p:cNvPicPr>
            <a:picLocks noChangeAspect="1"/>
          </p:cNvPicPr>
          <p:nvPr/>
        </p:nvPicPr>
        <p:blipFill>
          <a:blip r:embed="rId3"/>
          <a:stretch>
            <a:fillRect/>
          </a:stretch>
        </p:blipFill>
        <p:spPr>
          <a:xfrm>
            <a:off x="7726680" y="3044952"/>
            <a:ext cx="274320" cy="274320"/>
          </a:xfrm>
          <a:prstGeom prst="rect">
            <a:avLst/>
          </a:prstGeom>
        </p:spPr>
      </p:pic>
      <p:sp>
        <p:nvSpPr>
          <p:cNvPr id="11" name="Text 5"/>
          <p:cNvSpPr txBox="1"/>
          <p:nvPr/>
        </p:nvSpPr>
        <p:spPr>
          <a:xfrm>
            <a:off x="8138160" y="2999232"/>
            <a:ext cx="3566160" cy="777240"/>
          </a:xfrm>
          <a:prstGeom prst="rect">
            <a:avLst/>
          </a:prstGeom>
          <a:noFill/>
          <a:ln/>
        </p:spPr>
        <p:txBody>
          <a:bodyPr wrap="square" lIns="0" tIns="0" rIns="0" bIns="0" rtlCol="0" anchor="t"/>
          <a:lstStyle/>
          <a:p>
            <a:pPr indent="0" marL="0">
              <a:buNone/>
            </a:pPr>
            <a:r>
              <a:rPr lang="en-US" sz="1300" dirty="0">
                <a:solidFill>
                  <a:srgbClr val="5A6472"/>
                </a:solidFill>
                <a:latin typeface="Calibri" pitchFamily="34" charset="0"/>
                <a:ea typeface="Calibri" pitchFamily="34" charset="-122"/>
                <a:cs typeface="Calibri" pitchFamily="34" charset="-120"/>
              </a:rPr>
              <a:t>Over word types the rate is 52.0%, against 19.5–41.0% for the seen dialects.</a:t>
            </a:r>
            <a:endParaRPr lang="en-US" sz="1300" dirty="0"/>
          </a:p>
        </p:txBody>
      </p:sp>
      <p:pic>
        <p:nvPicPr>
          <p:cNvPr id="12" name="Image 2" descr="/home/aigca/ALEXIS/Posters/build/pptx/icons/alert_blue.png">    </p:cNvPr>
          <p:cNvPicPr>
            <a:picLocks noChangeAspect="1"/>
          </p:cNvPicPr>
          <p:nvPr/>
        </p:nvPicPr>
        <p:blipFill>
          <a:blip r:embed="rId4"/>
          <a:stretch>
            <a:fillRect/>
          </a:stretch>
        </p:blipFill>
        <p:spPr>
          <a:xfrm>
            <a:off x="7726680" y="3913632"/>
            <a:ext cx="274320" cy="274320"/>
          </a:xfrm>
          <a:prstGeom prst="rect">
            <a:avLst/>
          </a:prstGeom>
        </p:spPr>
      </p:pic>
      <p:sp>
        <p:nvSpPr>
          <p:cNvPr id="13" name="Text 6"/>
          <p:cNvSpPr txBox="1"/>
          <p:nvPr/>
        </p:nvSpPr>
        <p:spPr>
          <a:xfrm>
            <a:off x="8138160" y="3867912"/>
            <a:ext cx="3566160" cy="777240"/>
          </a:xfrm>
          <a:prstGeom prst="rect">
            <a:avLst/>
          </a:prstGeom>
          <a:noFill/>
          <a:ln/>
        </p:spPr>
        <p:txBody>
          <a:bodyPr wrap="square" lIns="0" tIns="0" rIns="0" bIns="0" rtlCol="0" anchor="t"/>
          <a:lstStyle/>
          <a:p>
            <a:pPr indent="0" marL="0">
              <a:buNone/>
            </a:pPr>
            <a:r>
              <a:rPr lang="en-US" sz="1300" dirty="0">
                <a:solidFill>
                  <a:srgbClr val="5A6472"/>
                </a:solidFill>
                <a:latin typeface="Calibri" pitchFamily="34" charset="0"/>
                <a:ea typeface="Calibri" pitchFamily="34" charset="-122"/>
                <a:cs typeface="Calibri" pitchFamily="34" charset="-120"/>
              </a:rPr>
              <a:t>A model that memorises dialect-specific function words will fail on Lebanese.</a:t>
            </a:r>
            <a:endParaRPr lang="en-US" sz="1300" dirty="0"/>
          </a:p>
        </p:txBody>
      </p:sp>
      <p:pic>
        <p:nvPicPr>
          <p:cNvPr id="14" name="Image 3" descr="/home/aigca/ALEXIS/Posters/build/pptx/icons/ruler_blue.png">    </p:cNvPr>
          <p:cNvPicPr>
            <a:picLocks noChangeAspect="1"/>
          </p:cNvPicPr>
          <p:nvPr/>
        </p:nvPicPr>
        <p:blipFill>
          <a:blip r:embed="rId5"/>
          <a:stretch>
            <a:fillRect/>
          </a:stretch>
        </p:blipFill>
        <p:spPr>
          <a:xfrm>
            <a:off x="7726680" y="4782312"/>
            <a:ext cx="274320" cy="274320"/>
          </a:xfrm>
          <a:prstGeom prst="rect">
            <a:avLst/>
          </a:prstGeom>
        </p:spPr>
      </p:pic>
      <p:sp>
        <p:nvSpPr>
          <p:cNvPr id="15" name="Text 7"/>
          <p:cNvSpPr txBox="1"/>
          <p:nvPr/>
        </p:nvSpPr>
        <p:spPr>
          <a:xfrm>
            <a:off x="8138160" y="4736592"/>
            <a:ext cx="3566160" cy="777240"/>
          </a:xfrm>
          <a:prstGeom prst="rect">
            <a:avLst/>
          </a:prstGeom>
          <a:noFill/>
          <a:ln/>
        </p:spPr>
        <p:txBody>
          <a:bodyPr wrap="square" lIns="0" tIns="0" rIns="0" bIns="0" rtlCol="0" anchor="t"/>
          <a:lstStyle/>
          <a:p>
            <a:pPr indent="0" marL="0">
              <a:buNone/>
            </a:pPr>
            <a:r>
              <a:rPr lang="en-US" sz="1300" dirty="0">
                <a:solidFill>
                  <a:srgbClr val="5A6472"/>
                </a:solidFill>
                <a:latin typeface="Calibri" pitchFamily="34" charset="0"/>
                <a:ea typeface="Calibri" pitchFamily="34" charset="-122"/>
                <a:cs typeface="Calibri" pitchFamily="34" charset="-120"/>
              </a:rPr>
              <a:t>Median length is 16–19 words, so a 128 sub-word cap discards almost nothing.</a:t>
            </a:r>
            <a:endParaRPr lang="en-US" sz="130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3" type="body" hasCustomPrompt="1"/>
          </p:nvPr>
        </p:nvSpPr>
        <p:spPr>
          <a:xfrm>
            <a:off x="786384" y="457200"/>
            <a:ext cx="8229600" cy="256032"/>
          </a:xfrm>
          <a:prstGeom prst="rect">
            <a:avLst/>
          </a:prstGeom>
          <a:noFill/>
          <a:ln/>
        </p:spPr>
        <p:txBody>
          <a:bodyPr wrap="square" lIns="0" tIns="0" rIns="0" bIns="0" rtlCol="0" anchor="ctr"/>
          <a:lstStyle/>
          <a:p>
            <a:pPr algn="l" indent="0" marL="0">
              <a:buNone/>
            </a:pPr>
            <a:r>
              <a:rPr lang="en-US" sz="1100" b="1" spc="100" kern="0" dirty="0">
                <a:solidFill>
                  <a:srgbClr val="1E6BFF"/>
                </a:solidFill>
                <a:latin typeface="Arial" pitchFamily="34" charset="0"/>
                <a:ea typeface="Arial" pitchFamily="34" charset="-122"/>
                <a:cs typeface="Arial" pitchFamily="34" charset="-120"/>
              </a:rPr>
              <a:t>VALIDATION PROTOCOL</a:t>
            </a:r>
            <a:endParaRPr lang="en-US" sz="1100" dirty="0"/>
          </a:p>
        </p:txBody>
      </p:sp>
      <p:sp>
        <p:nvSpPr>
          <p:cNvPr id="3" name="Text 1"/>
          <p:cNvSpPr/>
          <p:nvPr>
            <p:ph idx="104" type="title" hasCustomPrompt="1"/>
          </p:nvPr>
        </p:nvSpPr>
        <p:spPr>
          <a:xfrm>
            <a:off x="457200" y="768096"/>
            <a:ext cx="11247120" cy="566928"/>
          </a:xfrm>
          <a:prstGeom prst="rect">
            <a:avLst/>
          </a:prstGeom>
          <a:noFill/>
          <a:ln/>
        </p:spPr>
        <p:txBody>
          <a:bodyPr wrap="square" lIns="0" tIns="0" rIns="0" bIns="0" rtlCol="0" anchor="t"/>
          <a:lstStyle/>
          <a:p>
            <a:pPr algn="l" indent="0" marL="0">
              <a:buNone/>
            </a:pPr>
            <a:r>
              <a:rPr lang="en-US" sz="2800" b="1" dirty="0">
                <a:solidFill>
                  <a:srgbClr val="0D1117"/>
                </a:solidFill>
                <a:latin typeface="Arial" pitchFamily="34" charset="0"/>
                <a:ea typeface="Arial" pitchFamily="34" charset="-122"/>
                <a:cs typeface="Arial" pitchFamily="34" charset="-120"/>
              </a:rPr>
              <a:t>k-fold cross-validation cannot see an unseen dialect</a:t>
            </a:r>
            <a:endParaRPr lang="en-US" sz="2800" dirty="0"/>
          </a:p>
        </p:txBody>
      </p:sp>
      <p:sp>
        <p:nvSpPr>
          <p:cNvPr id="5" name="Shape 2"/>
          <p:cNvSpPr/>
          <p:nvPr/>
        </p:nvSpPr>
        <p:spPr>
          <a:xfrm>
            <a:off x="457200" y="1600200"/>
            <a:ext cx="3749040" cy="1874520"/>
          </a:xfrm>
          <a:prstGeom prst="roundRect">
            <a:avLst>
              <a:gd name="adj" fmla="val 3902"/>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6" name="Image 0" descr="/home/aigca/ALEXIS/Posters/build/pptx/icons/repeat_amber.png">    </p:cNvPr>
          <p:cNvPicPr>
            <a:picLocks noChangeAspect="1"/>
          </p:cNvPicPr>
          <p:nvPr/>
        </p:nvPicPr>
        <p:blipFill>
          <a:blip r:embed="rId1"/>
          <a:stretch>
            <a:fillRect/>
          </a:stretch>
        </p:blipFill>
        <p:spPr>
          <a:xfrm>
            <a:off x="658368" y="1801368"/>
            <a:ext cx="329184" cy="329184"/>
          </a:xfrm>
          <a:prstGeom prst="rect">
            <a:avLst/>
          </a:prstGeom>
        </p:spPr>
      </p:pic>
      <p:sp>
        <p:nvSpPr>
          <p:cNvPr id="7" name="Text 3"/>
          <p:cNvSpPr txBox="1"/>
          <p:nvPr/>
        </p:nvSpPr>
        <p:spPr>
          <a:xfrm>
            <a:off x="1115568" y="1792224"/>
            <a:ext cx="2889504" cy="365760"/>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5-fold cross-validation</a:t>
            </a:r>
            <a:endParaRPr lang="en-US" sz="1400" dirty="0"/>
          </a:p>
        </p:txBody>
      </p:sp>
      <p:sp>
        <p:nvSpPr>
          <p:cNvPr id="8" name="Text 4"/>
          <p:cNvSpPr txBox="1"/>
          <p:nvPr/>
        </p:nvSpPr>
        <p:spPr>
          <a:xfrm>
            <a:off x="658368" y="2276856"/>
            <a:ext cx="3346704" cy="1197864"/>
          </a:xfrm>
          <a:prstGeom prst="rect">
            <a:avLst/>
          </a:prstGeom>
          <a:noFill/>
          <a:ln/>
        </p:spPr>
        <p:txBody>
          <a:bodyPr wrap="square" lIns="0" tIns="0" rIns="0" bIns="0" rtlCol="0" anchor="t"/>
          <a:lstStyle/>
          <a:p>
            <a:pPr indent="0" marL="0">
              <a:spcAft>
                <a:spcPts val="400"/>
              </a:spcAft>
              <a:buNone/>
            </a:pPr>
            <a:r>
              <a:rPr lang="en-US" sz="1200" dirty="0">
                <a:solidFill>
                  <a:srgbClr val="5A6472"/>
                </a:solidFill>
                <a:latin typeface="Calibri" pitchFamily="34" charset="0"/>
                <a:ea typeface="Calibri" pitchFamily="34" charset="-122"/>
                <a:cs typeface="Calibri" pitchFamily="34" charset="-120"/>
              </a:rPr>
              <a:t>StratifiedGroupKFold, grouped by exact text so the 17 duplicated training sentences never straddle folds. Measures generalization to new sentences from seen dialects only.</a:t>
            </a:r>
            <a:endParaRPr lang="en-US" sz="1200" dirty="0"/>
          </a:p>
        </p:txBody>
      </p:sp>
      <p:sp>
        <p:nvSpPr>
          <p:cNvPr id="9" name="Shape 5"/>
          <p:cNvSpPr/>
          <p:nvPr/>
        </p:nvSpPr>
        <p:spPr>
          <a:xfrm>
            <a:off x="457200" y="3657600"/>
            <a:ext cx="3749040" cy="1874520"/>
          </a:xfrm>
          <a:prstGeom prst="roundRect">
            <a:avLst>
              <a:gd name="adj" fmla="val 3902"/>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10" name="Image 1" descr="/home/aigca/ALEXIS/Posters/build/pptx/icons/split_blue.png">    </p:cNvPr>
          <p:cNvPicPr>
            <a:picLocks noChangeAspect="1"/>
          </p:cNvPicPr>
          <p:nvPr/>
        </p:nvPicPr>
        <p:blipFill>
          <a:blip r:embed="rId2"/>
          <a:stretch>
            <a:fillRect/>
          </a:stretch>
        </p:blipFill>
        <p:spPr>
          <a:xfrm>
            <a:off x="658368" y="3858768"/>
            <a:ext cx="329184" cy="329184"/>
          </a:xfrm>
          <a:prstGeom prst="rect">
            <a:avLst/>
          </a:prstGeom>
        </p:spPr>
      </p:pic>
      <p:sp>
        <p:nvSpPr>
          <p:cNvPr id="11" name="Text 6"/>
          <p:cNvSpPr txBox="1"/>
          <p:nvPr/>
        </p:nvSpPr>
        <p:spPr>
          <a:xfrm>
            <a:off x="1115568" y="3849624"/>
            <a:ext cx="2889504" cy="365760"/>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Leave-one-dialect-out (LODO)</a:t>
            </a:r>
            <a:endParaRPr lang="en-US" sz="1400" dirty="0"/>
          </a:p>
        </p:txBody>
      </p:sp>
      <p:sp>
        <p:nvSpPr>
          <p:cNvPr id="12" name="Text 7"/>
          <p:cNvSpPr txBox="1"/>
          <p:nvPr/>
        </p:nvSpPr>
        <p:spPr>
          <a:xfrm>
            <a:off x="658368" y="4334256"/>
            <a:ext cx="3346704" cy="1197864"/>
          </a:xfrm>
          <a:prstGeom prst="rect">
            <a:avLst/>
          </a:prstGeom>
          <a:noFill/>
          <a:ln/>
        </p:spPr>
        <p:txBody>
          <a:bodyPr wrap="square" lIns="0" tIns="0" rIns="0" bIns="0" rtlCol="0" anchor="t"/>
          <a:lstStyle/>
          <a:p>
            <a:pPr indent="0" marL="0">
              <a:spcAft>
                <a:spcPts val="400"/>
              </a:spcAft>
              <a:buNone/>
            </a:pPr>
            <a:r>
              <a:rPr lang="en-US" sz="1200" dirty="0">
                <a:solidFill>
                  <a:srgbClr val="5A6472"/>
                </a:solidFill>
                <a:latin typeface="Calibri" pitchFamily="34" charset="0"/>
                <a:ea typeface="Calibri" pitchFamily="34" charset="-122"/>
                <a:cs typeface="Calibri" pitchFamily="34" charset="-120"/>
              </a:rPr>
              <a:t>Train on three seen dialects, test on the fourth: simulates the official unseen-dialect condition. Our primary diagnostic; every component is also scored on the leaderboard.</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26280" y="1600200"/>
          <a:ext cx="7178040" cy="914400"/>
        </p:xfrm>
        <a:graphic>
          <a:graphicData uri="http://schemas.openxmlformats.org/drawingml/2006/table">
            <a:tbl>
              <a:tblPr/>
              <a:tblGrid>
                <a:gridCol w="1463040"/>
                <a:gridCol w="1143000"/>
                <a:gridCol w="1143000"/>
                <a:gridCol w="1143000"/>
                <a:gridCol w="1143000"/>
                <a:gridCol w="1143000"/>
              </a:tblGrid>
              <a:tr h="566928">
                <a:tc>
                  <a:txBody>
                    <a:bodyPr/>
                    <a:lstStyle/>
                    <a:p>
                      <a:pPr algn="ctr" indent="0" marL="0">
                        <a:buNone/>
                      </a:pPr>
                      <a:endParaRPr lang="en-US" sz="130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D1117"/>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Dar.</a:t>
                      </a:r>
                      <a:endParaRPr lang="en-US" sz="130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D1117"/>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Egy.</a:t>
                      </a:r>
                      <a:endParaRPr lang="en-US" sz="130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D1117"/>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Jor.</a:t>
                      </a:r>
                      <a:endParaRPr lang="en-US" sz="130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D1117"/>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Sau.</a:t>
                      </a:r>
                      <a:endParaRPr lang="en-US" sz="130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D1117"/>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Leb.</a:t>
                      </a:r>
                      <a:endParaRPr lang="en-US" sz="1300" dirty="0">
                        <a:latin typeface="Arial" charset="0"/>
                        <a:ea typeface="Arial" charset="0"/>
                        <a:cs typeface="Arial"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D1117"/>
                    </a:solidFill>
                  </a:tcPr>
                </a:tc>
              </a:tr>
              <a:tr h="566928">
                <a:tc>
                  <a:txBody>
                    <a:bodyPr/>
                    <a:lstStyle/>
                    <a:p>
                      <a:pPr algn="ctr" indent="0" marL="0">
                        <a:buNone/>
                      </a:pPr>
                      <a:r>
                        <a:rPr lang="en-US" sz="1300" b="1" dirty="0">
                          <a:solidFill>
                            <a:srgbClr val="0D1117"/>
                          </a:solidFill>
                          <a:latin typeface="Calibri" pitchFamily="34" charset="0"/>
                          <a:ea typeface="Calibri" pitchFamily="34" charset="-122"/>
                          <a:cs typeface="Calibri" pitchFamily="34" charset="-120"/>
                        </a:rPr>
                        <a:t>LODO 1</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test</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6BFF"/>
                    </a:solidFill>
                  </a:tcPr>
                </a:tc>
                <a:tc>
                  <a:txBody>
                    <a:bodyPr/>
                    <a:lstStyle/>
                    <a:p>
                      <a:pPr algn="ctr" indent="0" marL="0">
                        <a:buNone/>
                      </a:pPr>
                      <a:r>
                        <a:rPr lang="en-US" sz="1300" dirty="0">
                          <a:solidFill>
                            <a:srgbClr val="5A6472"/>
                          </a:solidFill>
                          <a:latin typeface="Calibri" pitchFamily="34" charset="0"/>
                          <a:ea typeface="Calibri" pitchFamily="34" charset="-122"/>
                          <a:cs typeface="Calibri" pitchFamily="34" charset="-120"/>
                        </a:rPr>
                        <a:t>train</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ECF5"/>
                    </a:solidFill>
                  </a:tcPr>
                </a:tc>
                <a:tc>
                  <a:txBody>
                    <a:bodyPr/>
                    <a:lstStyle/>
                    <a:p>
                      <a:pPr algn="ctr" indent="0" marL="0">
                        <a:buNone/>
                      </a:pPr>
                      <a:r>
                        <a:rPr lang="en-US" sz="1300" dirty="0">
                          <a:solidFill>
                            <a:srgbClr val="5A6472"/>
                          </a:solidFill>
                          <a:latin typeface="Calibri" pitchFamily="34" charset="0"/>
                          <a:ea typeface="Calibri" pitchFamily="34" charset="-122"/>
                          <a:cs typeface="Calibri" pitchFamily="34" charset="-120"/>
                        </a:rPr>
                        <a:t>train</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ECF5"/>
                    </a:solidFill>
                  </a:tcPr>
                </a:tc>
                <a:tc>
                  <a:txBody>
                    <a:bodyPr/>
                    <a:lstStyle/>
                    <a:p>
                      <a:pPr algn="ctr" indent="0" marL="0">
                        <a:buNone/>
                      </a:pPr>
                      <a:r>
                        <a:rPr lang="en-US" sz="1300" dirty="0">
                          <a:solidFill>
                            <a:srgbClr val="5A6472"/>
                          </a:solidFill>
                          <a:latin typeface="Calibri" pitchFamily="34" charset="0"/>
                          <a:ea typeface="Calibri" pitchFamily="34" charset="-122"/>
                          <a:cs typeface="Calibri" pitchFamily="34" charset="-120"/>
                        </a:rPr>
                        <a:t>train</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ECF5"/>
                    </a:solidFill>
                  </a:tcPr>
                </a:tc>
                <a:tc>
                  <a:txBody>
                    <a:bodyPr/>
                    <a:lstStyle/>
                    <a:p>
                      <a:pPr algn="ctr" indent="0" marL="0">
                        <a:buNone/>
                      </a:pPr>
                      <a:r>
                        <a:rPr lang="en-US" sz="1300" dirty="0">
                          <a:solidFill>
                            <a:srgbClr val="8A93A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r>
              <a:tr h="566928">
                <a:tc>
                  <a:txBody>
                    <a:bodyPr/>
                    <a:lstStyle/>
                    <a:p>
                      <a:pPr algn="ctr" indent="0" marL="0">
                        <a:buNone/>
                      </a:pPr>
                      <a:r>
                        <a:rPr lang="en-US" sz="1300" b="1" dirty="0">
                          <a:solidFill>
                            <a:srgbClr val="0D1117"/>
                          </a:solidFill>
                          <a:latin typeface="Calibri" pitchFamily="34" charset="0"/>
                          <a:ea typeface="Calibri" pitchFamily="34" charset="-122"/>
                          <a:cs typeface="Calibri" pitchFamily="34" charset="-120"/>
                        </a:rPr>
                        <a:t>LODO 2</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A6472"/>
                          </a:solidFill>
                          <a:latin typeface="Calibri" pitchFamily="34" charset="0"/>
                          <a:ea typeface="Calibri" pitchFamily="34" charset="-122"/>
                          <a:cs typeface="Calibri" pitchFamily="34" charset="-120"/>
                        </a:rPr>
                        <a:t>train</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ECF5"/>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test</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6BFF"/>
                    </a:solidFill>
                  </a:tcPr>
                </a:tc>
                <a:tc>
                  <a:txBody>
                    <a:bodyPr/>
                    <a:lstStyle/>
                    <a:p>
                      <a:pPr algn="ctr" indent="0" marL="0">
                        <a:buNone/>
                      </a:pPr>
                      <a:r>
                        <a:rPr lang="en-US" sz="1300" dirty="0">
                          <a:solidFill>
                            <a:srgbClr val="5A6472"/>
                          </a:solidFill>
                          <a:latin typeface="Calibri" pitchFamily="34" charset="0"/>
                          <a:ea typeface="Calibri" pitchFamily="34" charset="-122"/>
                          <a:cs typeface="Calibri" pitchFamily="34" charset="-120"/>
                        </a:rPr>
                        <a:t>train</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ECF5"/>
                    </a:solidFill>
                  </a:tcPr>
                </a:tc>
                <a:tc>
                  <a:txBody>
                    <a:bodyPr/>
                    <a:lstStyle/>
                    <a:p>
                      <a:pPr algn="ctr" indent="0" marL="0">
                        <a:buNone/>
                      </a:pPr>
                      <a:r>
                        <a:rPr lang="en-US" sz="1300" dirty="0">
                          <a:solidFill>
                            <a:srgbClr val="5A6472"/>
                          </a:solidFill>
                          <a:latin typeface="Calibri" pitchFamily="34" charset="0"/>
                          <a:ea typeface="Calibri" pitchFamily="34" charset="-122"/>
                          <a:cs typeface="Calibri" pitchFamily="34" charset="-120"/>
                        </a:rPr>
                        <a:t>train</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ECF5"/>
                    </a:solidFill>
                  </a:tcPr>
                </a:tc>
                <a:tc>
                  <a:txBody>
                    <a:bodyPr/>
                    <a:lstStyle/>
                    <a:p>
                      <a:pPr algn="ctr" indent="0" marL="0">
                        <a:buNone/>
                      </a:pPr>
                      <a:r>
                        <a:rPr lang="en-US" sz="1300" dirty="0">
                          <a:solidFill>
                            <a:srgbClr val="8A93A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r>
              <a:tr h="566928">
                <a:tc>
                  <a:txBody>
                    <a:bodyPr/>
                    <a:lstStyle/>
                    <a:p>
                      <a:pPr algn="ctr" indent="0" marL="0">
                        <a:buNone/>
                      </a:pPr>
                      <a:r>
                        <a:rPr lang="en-US" sz="1300" b="1" dirty="0">
                          <a:solidFill>
                            <a:srgbClr val="0D1117"/>
                          </a:solidFill>
                          <a:latin typeface="Calibri" pitchFamily="34" charset="0"/>
                          <a:ea typeface="Calibri" pitchFamily="34" charset="-122"/>
                          <a:cs typeface="Calibri" pitchFamily="34" charset="-120"/>
                        </a:rPr>
                        <a:t>LODO 3</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A6472"/>
                          </a:solidFill>
                          <a:latin typeface="Calibri" pitchFamily="34" charset="0"/>
                          <a:ea typeface="Calibri" pitchFamily="34" charset="-122"/>
                          <a:cs typeface="Calibri" pitchFamily="34" charset="-120"/>
                        </a:rPr>
                        <a:t>train</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ECF5"/>
                    </a:solidFill>
                  </a:tcPr>
                </a:tc>
                <a:tc>
                  <a:txBody>
                    <a:bodyPr/>
                    <a:lstStyle/>
                    <a:p>
                      <a:pPr algn="ctr" indent="0" marL="0">
                        <a:buNone/>
                      </a:pPr>
                      <a:r>
                        <a:rPr lang="en-US" sz="1300" dirty="0">
                          <a:solidFill>
                            <a:srgbClr val="5A6472"/>
                          </a:solidFill>
                          <a:latin typeface="Calibri" pitchFamily="34" charset="0"/>
                          <a:ea typeface="Calibri" pitchFamily="34" charset="-122"/>
                          <a:cs typeface="Calibri" pitchFamily="34" charset="-120"/>
                        </a:rPr>
                        <a:t>train</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ECF5"/>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test</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6BFF"/>
                    </a:solidFill>
                  </a:tcPr>
                </a:tc>
                <a:tc>
                  <a:txBody>
                    <a:bodyPr/>
                    <a:lstStyle/>
                    <a:p>
                      <a:pPr algn="ctr" indent="0" marL="0">
                        <a:buNone/>
                      </a:pPr>
                      <a:r>
                        <a:rPr lang="en-US" sz="1300" dirty="0">
                          <a:solidFill>
                            <a:srgbClr val="5A6472"/>
                          </a:solidFill>
                          <a:latin typeface="Calibri" pitchFamily="34" charset="0"/>
                          <a:ea typeface="Calibri" pitchFamily="34" charset="-122"/>
                          <a:cs typeface="Calibri" pitchFamily="34" charset="-120"/>
                        </a:rPr>
                        <a:t>train</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ECF5"/>
                    </a:solidFill>
                  </a:tcPr>
                </a:tc>
                <a:tc>
                  <a:txBody>
                    <a:bodyPr/>
                    <a:lstStyle/>
                    <a:p>
                      <a:pPr algn="ctr" indent="0" marL="0">
                        <a:buNone/>
                      </a:pPr>
                      <a:r>
                        <a:rPr lang="en-US" sz="1300" dirty="0">
                          <a:solidFill>
                            <a:srgbClr val="8A93A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r>
              <a:tr h="566928">
                <a:tc>
                  <a:txBody>
                    <a:bodyPr/>
                    <a:lstStyle/>
                    <a:p>
                      <a:pPr algn="ctr" indent="0" marL="0">
                        <a:buNone/>
                      </a:pPr>
                      <a:r>
                        <a:rPr lang="en-US" sz="1300" b="1" dirty="0">
                          <a:solidFill>
                            <a:srgbClr val="0D1117"/>
                          </a:solidFill>
                          <a:latin typeface="Calibri" pitchFamily="34" charset="0"/>
                          <a:ea typeface="Calibri" pitchFamily="34" charset="-122"/>
                          <a:cs typeface="Calibri" pitchFamily="34" charset="-120"/>
                        </a:rPr>
                        <a:t>LODO 4</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A6472"/>
                          </a:solidFill>
                          <a:latin typeface="Calibri" pitchFamily="34" charset="0"/>
                          <a:ea typeface="Calibri" pitchFamily="34" charset="-122"/>
                          <a:cs typeface="Calibri" pitchFamily="34" charset="-120"/>
                        </a:rPr>
                        <a:t>train</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ECF5"/>
                    </a:solidFill>
                  </a:tcPr>
                </a:tc>
                <a:tc>
                  <a:txBody>
                    <a:bodyPr/>
                    <a:lstStyle/>
                    <a:p>
                      <a:pPr algn="ctr" indent="0" marL="0">
                        <a:buNone/>
                      </a:pPr>
                      <a:r>
                        <a:rPr lang="en-US" sz="1300" dirty="0">
                          <a:solidFill>
                            <a:srgbClr val="5A6472"/>
                          </a:solidFill>
                          <a:latin typeface="Calibri" pitchFamily="34" charset="0"/>
                          <a:ea typeface="Calibri" pitchFamily="34" charset="-122"/>
                          <a:cs typeface="Calibri" pitchFamily="34" charset="-120"/>
                        </a:rPr>
                        <a:t>train</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ECF5"/>
                    </a:solidFill>
                  </a:tcPr>
                </a:tc>
                <a:tc>
                  <a:txBody>
                    <a:bodyPr/>
                    <a:lstStyle/>
                    <a:p>
                      <a:pPr algn="ctr" indent="0" marL="0">
                        <a:buNone/>
                      </a:pPr>
                      <a:r>
                        <a:rPr lang="en-US" sz="1300" dirty="0">
                          <a:solidFill>
                            <a:srgbClr val="5A6472"/>
                          </a:solidFill>
                          <a:latin typeface="Calibri" pitchFamily="34" charset="0"/>
                          <a:ea typeface="Calibri" pitchFamily="34" charset="-122"/>
                          <a:cs typeface="Calibri" pitchFamily="34" charset="-120"/>
                        </a:rPr>
                        <a:t>train</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ECF5"/>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test</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E6BFF"/>
                    </a:solidFill>
                  </a:tcPr>
                </a:tc>
                <a:tc>
                  <a:txBody>
                    <a:bodyPr/>
                    <a:lstStyle/>
                    <a:p>
                      <a:pPr algn="ctr" indent="0" marL="0">
                        <a:buNone/>
                      </a:pPr>
                      <a:r>
                        <a:rPr lang="en-US" sz="1300" dirty="0">
                          <a:solidFill>
                            <a:srgbClr val="8A93A0"/>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r>
              <a:tr h="566928">
                <a:tc>
                  <a:txBody>
                    <a:bodyPr/>
                    <a:lstStyle/>
                    <a:p>
                      <a:pPr algn="ctr" indent="0" marL="0">
                        <a:buNone/>
                      </a:pPr>
                      <a:r>
                        <a:rPr lang="en-US" sz="1300" b="1" dirty="0">
                          <a:solidFill>
                            <a:srgbClr val="0D1117"/>
                          </a:solidFill>
                          <a:latin typeface="Calibri" pitchFamily="34" charset="0"/>
                          <a:ea typeface="Calibri" pitchFamily="34" charset="-122"/>
                          <a:cs typeface="Calibri" pitchFamily="34" charset="-120"/>
                        </a:rPr>
                        <a:t>Official</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A6472"/>
                          </a:solidFill>
                          <a:latin typeface="Calibri" pitchFamily="34" charset="0"/>
                          <a:ea typeface="Calibri" pitchFamily="34" charset="-122"/>
                          <a:cs typeface="Calibri" pitchFamily="34" charset="-120"/>
                        </a:rPr>
                        <a:t>train</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ECF5"/>
                    </a:solidFill>
                  </a:tcPr>
                </a:tc>
                <a:tc>
                  <a:txBody>
                    <a:bodyPr/>
                    <a:lstStyle/>
                    <a:p>
                      <a:pPr algn="ctr" indent="0" marL="0">
                        <a:buNone/>
                      </a:pPr>
                      <a:r>
                        <a:rPr lang="en-US" sz="1300" dirty="0">
                          <a:solidFill>
                            <a:srgbClr val="5A6472"/>
                          </a:solidFill>
                          <a:latin typeface="Calibri" pitchFamily="34" charset="0"/>
                          <a:ea typeface="Calibri" pitchFamily="34" charset="-122"/>
                          <a:cs typeface="Calibri" pitchFamily="34" charset="-120"/>
                        </a:rPr>
                        <a:t>train</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ECF5"/>
                    </a:solidFill>
                  </a:tcPr>
                </a:tc>
                <a:tc>
                  <a:txBody>
                    <a:bodyPr/>
                    <a:lstStyle/>
                    <a:p>
                      <a:pPr algn="ctr" indent="0" marL="0">
                        <a:buNone/>
                      </a:pPr>
                      <a:r>
                        <a:rPr lang="en-US" sz="1300" dirty="0">
                          <a:solidFill>
                            <a:srgbClr val="5A6472"/>
                          </a:solidFill>
                          <a:latin typeface="Calibri" pitchFamily="34" charset="0"/>
                          <a:ea typeface="Calibri" pitchFamily="34" charset="-122"/>
                          <a:cs typeface="Calibri" pitchFamily="34" charset="-120"/>
                        </a:rPr>
                        <a:t>train</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ECF5"/>
                    </a:solidFill>
                  </a:tcPr>
                </a:tc>
                <a:tc>
                  <a:txBody>
                    <a:bodyPr/>
                    <a:lstStyle/>
                    <a:p>
                      <a:pPr algn="ctr" indent="0" marL="0">
                        <a:buNone/>
                      </a:pPr>
                      <a:r>
                        <a:rPr lang="en-US" sz="1300" dirty="0">
                          <a:solidFill>
                            <a:srgbClr val="5A6472"/>
                          </a:solidFill>
                          <a:latin typeface="Calibri" pitchFamily="34" charset="0"/>
                          <a:ea typeface="Calibri" pitchFamily="34" charset="-122"/>
                          <a:cs typeface="Calibri" pitchFamily="34" charset="-120"/>
                        </a:rPr>
                        <a:t>train</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6ECF5"/>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test</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A020"/>
                    </a:solidFill>
                  </a:tcPr>
                </a:tc>
              </a:tr>
            </a:tbl>
          </a:graphicData>
        </a:graphic>
      </p:graphicFrame>
      <p:sp>
        <p:nvSpPr>
          <p:cNvPr id="14" name="Text 8"/>
          <p:cNvSpPr txBox="1"/>
          <p:nvPr/>
        </p:nvSpPr>
        <p:spPr>
          <a:xfrm>
            <a:off x="4526280" y="5166360"/>
            <a:ext cx="7178040" cy="365760"/>
          </a:xfrm>
          <a:prstGeom prst="rect">
            <a:avLst/>
          </a:prstGeom>
          <a:noFill/>
          <a:ln/>
        </p:spPr>
        <p:txBody>
          <a:bodyPr wrap="square" lIns="0" tIns="0" rIns="0" bIns="0" rtlCol="0" anchor="t"/>
          <a:lstStyle/>
          <a:p>
            <a:pPr indent="0" marL="0">
              <a:buNone/>
            </a:pPr>
            <a:r>
              <a:rPr lang="en-US" sz="1200" dirty="0">
                <a:solidFill>
                  <a:srgbClr val="8A93A0"/>
                </a:solidFill>
                <a:latin typeface="Calibri" pitchFamily="34" charset="0"/>
                <a:ea typeface="Calibri" pitchFamily="34" charset="-122"/>
                <a:cs typeface="Calibri" pitchFamily="34" charset="-120"/>
              </a:rPr>
              <a:t>Blue: held-out seen dialect in each LODO fold.  Amber: the official condition, test on unseen Lebanese.</a:t>
            </a:r>
            <a:endParaRPr lang="en-US" sz="120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3" type="body" hasCustomPrompt="1"/>
          </p:nvPr>
        </p:nvSpPr>
        <p:spPr>
          <a:xfrm>
            <a:off x="822960" y="2011680"/>
            <a:ext cx="2926080" cy="1828800"/>
          </a:xfrm>
          <a:prstGeom prst="rect">
            <a:avLst/>
          </a:prstGeom>
          <a:noFill/>
          <a:ln/>
        </p:spPr>
        <p:txBody>
          <a:bodyPr wrap="square" lIns="0" tIns="0" rIns="0" bIns="0" rtlCol="0" anchor="ctr"/>
          <a:lstStyle/>
          <a:p>
            <a:pPr algn="l" indent="0" marL="0">
              <a:buNone/>
            </a:pPr>
            <a:r>
              <a:rPr lang="en-US" sz="12000" b="1" dirty="0">
                <a:solidFill>
                  <a:srgbClr val="1E6BFF"/>
                </a:solidFill>
                <a:latin typeface="Arial" pitchFamily="34" charset="0"/>
                <a:ea typeface="Arial" pitchFamily="34" charset="-122"/>
                <a:cs typeface="Arial" pitchFamily="34" charset="-120"/>
              </a:rPr>
              <a:t>01</a:t>
            </a:r>
            <a:endParaRPr lang="en-US" sz="12000" dirty="0"/>
          </a:p>
        </p:txBody>
      </p:sp>
      <p:sp>
        <p:nvSpPr>
          <p:cNvPr id="3" name="Text 1"/>
          <p:cNvSpPr/>
          <p:nvPr>
            <p:ph idx="104" type="title" hasCustomPrompt="1"/>
          </p:nvPr>
        </p:nvSpPr>
        <p:spPr>
          <a:xfrm>
            <a:off x="4754880" y="2468880"/>
            <a:ext cx="6949440" cy="822960"/>
          </a:xfrm>
          <a:prstGeom prst="rect">
            <a:avLst/>
          </a:prstGeom>
          <a:noFill/>
          <a:ln/>
        </p:spPr>
        <p:txBody>
          <a:bodyPr wrap="square" lIns="0" tIns="0" rIns="0" bIns="0" rtlCol="0" anchor="ctr"/>
          <a:lstStyle/>
          <a:p>
            <a:pPr algn="l" indent="0" marL="0">
              <a:buNone/>
            </a:pPr>
            <a:r>
              <a:rPr lang="en-US" sz="3600" b="1" dirty="0">
                <a:solidFill>
                  <a:srgbClr val="FFFFFF"/>
                </a:solidFill>
                <a:latin typeface="Arial" pitchFamily="34" charset="0"/>
                <a:ea typeface="Arial" pitchFamily="34" charset="-122"/>
                <a:cs typeface="Arial" pitchFamily="34" charset="-120"/>
              </a:rPr>
              <a:t>The System</a:t>
            </a:r>
            <a:endParaRPr lang="en-US" sz="3600" dirty="0"/>
          </a:p>
        </p:txBody>
      </p:sp>
      <p:sp>
        <p:nvSpPr>
          <p:cNvPr id="4" name="Text 1"/>
          <p:cNvSpPr/>
          <p:nvPr>
            <p:ph idx="105" type="body" hasCustomPrompt="1"/>
          </p:nvPr>
        </p:nvSpPr>
        <p:spPr>
          <a:xfrm>
            <a:off x="4773168" y="3310128"/>
            <a:ext cx="6858000" cy="548640"/>
          </a:xfrm>
          <a:prstGeom prst="rect">
            <a:avLst/>
          </a:prstGeom>
          <a:noFill/>
          <a:ln/>
        </p:spPr>
        <p:txBody>
          <a:bodyPr wrap="square" lIns="0" tIns="0" rIns="0" bIns="0" rtlCol="0" anchor="t"/>
          <a:lstStyle/>
          <a:p>
            <a:pPr algn="l" indent="0" marL="0">
              <a:buNone/>
            </a:pPr>
            <a:r>
              <a:rPr lang="en-US" sz="1600" dirty="0">
                <a:solidFill>
                  <a:srgbClr val="9FB3D0"/>
                </a:solidFill>
                <a:latin typeface="Calibri" pitchFamily="34" charset="0"/>
                <a:ea typeface="Calibri" pitchFamily="34" charset="-122"/>
                <a:cs typeface="Calibri" pitchFamily="34" charset="-120"/>
              </a:rPr>
              <a:t>Five components, each aimed at the diagnosed failure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3" type="body" hasCustomPrompt="1"/>
          </p:nvPr>
        </p:nvSpPr>
        <p:spPr>
          <a:xfrm>
            <a:off x="786384" y="457200"/>
            <a:ext cx="8229600" cy="256032"/>
          </a:xfrm>
          <a:prstGeom prst="rect">
            <a:avLst/>
          </a:prstGeom>
          <a:noFill/>
          <a:ln/>
        </p:spPr>
        <p:txBody>
          <a:bodyPr wrap="square" lIns="0" tIns="0" rIns="0" bIns="0" rtlCol="0" anchor="ctr"/>
          <a:lstStyle/>
          <a:p>
            <a:pPr algn="l" indent="0" marL="0">
              <a:buNone/>
            </a:pPr>
            <a:r>
              <a:rPr lang="en-US" sz="1100" b="1" spc="100" kern="0" dirty="0">
                <a:solidFill>
                  <a:srgbClr val="1E6BFF"/>
                </a:solidFill>
                <a:latin typeface="Arial" pitchFamily="34" charset="0"/>
                <a:ea typeface="Arial" pitchFamily="34" charset="-122"/>
                <a:cs typeface="Arial" pitchFamily="34" charset="-120"/>
              </a:rPr>
              <a:t>ARCHITECTURE</a:t>
            </a:r>
            <a:endParaRPr lang="en-US" sz="1100" dirty="0"/>
          </a:p>
        </p:txBody>
      </p:sp>
      <p:sp>
        <p:nvSpPr>
          <p:cNvPr id="3" name="Text 1"/>
          <p:cNvSpPr/>
          <p:nvPr>
            <p:ph idx="104" type="title" hasCustomPrompt="1"/>
          </p:nvPr>
        </p:nvSpPr>
        <p:spPr>
          <a:xfrm>
            <a:off x="457200" y="768096"/>
            <a:ext cx="11247120" cy="566928"/>
          </a:xfrm>
          <a:prstGeom prst="rect">
            <a:avLst/>
          </a:prstGeom>
          <a:noFill/>
          <a:ln/>
        </p:spPr>
        <p:txBody>
          <a:bodyPr wrap="square" lIns="0" tIns="0" rIns="0" bIns="0" rtlCol="0" anchor="t"/>
          <a:lstStyle/>
          <a:p>
            <a:pPr algn="l" indent="0" marL="0">
              <a:buNone/>
            </a:pPr>
            <a:r>
              <a:rPr lang="en-US" sz="2800" b="1" dirty="0">
                <a:solidFill>
                  <a:srgbClr val="0D1117"/>
                </a:solidFill>
                <a:latin typeface="Arial" pitchFamily="34" charset="0"/>
                <a:ea typeface="Arial" pitchFamily="34" charset="-122"/>
                <a:cs typeface="Arial" pitchFamily="34" charset="-120"/>
              </a:rPr>
              <a:t>ALEXIS at a glance</a:t>
            </a:r>
            <a:endParaRPr lang="en-US" sz="2800" dirty="0"/>
          </a:p>
        </p:txBody>
      </p:sp>
      <p:sp>
        <p:nvSpPr>
          <p:cNvPr id="5" name="Shape 2"/>
          <p:cNvSpPr/>
          <p:nvPr/>
        </p:nvSpPr>
        <p:spPr>
          <a:xfrm>
            <a:off x="457200" y="1691640"/>
            <a:ext cx="2029968" cy="3200400"/>
          </a:xfrm>
          <a:prstGeom prst="roundRect">
            <a:avLst>
              <a:gd name="adj" fmla="val 3604"/>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6" name="Image 0" descr="/home/aigca/ALEXIS/Posters/build/pptx/icons/cpu_blue.png">    </p:cNvPr>
          <p:cNvPicPr>
            <a:picLocks noChangeAspect="1"/>
          </p:cNvPicPr>
          <p:nvPr/>
        </p:nvPicPr>
        <p:blipFill>
          <a:blip r:embed="rId1"/>
          <a:stretch>
            <a:fillRect/>
          </a:stretch>
        </p:blipFill>
        <p:spPr>
          <a:xfrm>
            <a:off x="658368" y="1892808"/>
            <a:ext cx="329184" cy="329184"/>
          </a:xfrm>
          <a:prstGeom prst="rect">
            <a:avLst/>
          </a:prstGeom>
        </p:spPr>
      </p:pic>
      <p:sp>
        <p:nvSpPr>
          <p:cNvPr id="7" name="Text 3"/>
          <p:cNvSpPr txBox="1"/>
          <p:nvPr/>
        </p:nvSpPr>
        <p:spPr>
          <a:xfrm>
            <a:off x="1115568" y="1883664"/>
            <a:ext cx="1170432" cy="365760"/>
          </a:xfrm>
          <a:prstGeom prst="rect">
            <a:avLst/>
          </a:prstGeom>
          <a:noFill/>
          <a:ln/>
        </p:spPr>
        <p:txBody>
          <a:bodyPr wrap="square" lIns="0" tIns="0" rIns="0" bIns="0" rtlCol="0" anchor="ctr"/>
          <a:lstStyle/>
          <a:p>
            <a:pPr indent="0" marL="0">
              <a:buNone/>
            </a:pPr>
            <a:endParaRPr lang="en-US" sz="1400" dirty="0"/>
          </a:p>
        </p:txBody>
      </p:sp>
      <p:sp>
        <p:nvSpPr>
          <p:cNvPr id="8" name="Text 4"/>
          <p:cNvSpPr txBox="1"/>
          <p:nvPr/>
        </p:nvSpPr>
        <p:spPr>
          <a:xfrm>
            <a:off x="1965960" y="1810512"/>
            <a:ext cx="365760" cy="365760"/>
          </a:xfrm>
          <a:prstGeom prst="rect">
            <a:avLst/>
          </a:prstGeom>
          <a:noFill/>
          <a:ln/>
        </p:spPr>
        <p:txBody>
          <a:bodyPr wrap="square" lIns="0" tIns="0" rIns="0" bIns="0" rtlCol="0" anchor="t"/>
          <a:lstStyle/>
          <a:p>
            <a:pPr algn="r" indent="0" marL="0">
              <a:buNone/>
            </a:pPr>
            <a:r>
              <a:rPr lang="en-US" sz="2000" b="1" dirty="0">
                <a:solidFill>
                  <a:srgbClr val="1E6BFF"/>
                </a:solidFill>
                <a:latin typeface="Arial" pitchFamily="34" charset="0"/>
                <a:ea typeface="Arial" pitchFamily="34" charset="-122"/>
                <a:cs typeface="Arial" pitchFamily="34" charset="-120"/>
              </a:rPr>
              <a:t>1</a:t>
            </a:r>
            <a:endParaRPr lang="en-US" sz="2000" dirty="0"/>
          </a:p>
        </p:txBody>
      </p:sp>
      <p:sp>
        <p:nvSpPr>
          <p:cNvPr id="9" name="Text 5"/>
          <p:cNvSpPr txBox="1"/>
          <p:nvPr/>
        </p:nvSpPr>
        <p:spPr>
          <a:xfrm>
            <a:off x="658368" y="2331720"/>
            <a:ext cx="1691640" cy="640080"/>
          </a:xfrm>
          <a:prstGeom prst="rect">
            <a:avLst/>
          </a:prstGeom>
          <a:noFill/>
          <a:ln/>
        </p:spPr>
        <p:txBody>
          <a:bodyPr wrap="square" lIns="0" tIns="0" rIns="0" bIns="0" rtlCol="0" anchor="t"/>
          <a:lstStyle/>
          <a:p>
            <a:pPr indent="0" marL="0">
              <a:buNone/>
            </a:pPr>
            <a:r>
              <a:rPr lang="en-US" sz="1400" b="1" dirty="0">
                <a:solidFill>
                  <a:srgbClr val="0D1117"/>
                </a:solidFill>
                <a:latin typeface="Arial" pitchFamily="34" charset="0"/>
                <a:ea typeface="Arial" pitchFamily="34" charset="-122"/>
                <a:cs typeface="Arial" pitchFamily="34" charset="-120"/>
              </a:rPr>
              <a:t>Diverse encoders</a:t>
            </a:r>
            <a:endParaRPr lang="en-US" sz="1400" dirty="0"/>
          </a:p>
        </p:txBody>
      </p:sp>
      <p:sp>
        <p:nvSpPr>
          <p:cNvPr id="10" name="Text 6"/>
          <p:cNvSpPr txBox="1"/>
          <p:nvPr/>
        </p:nvSpPr>
        <p:spPr>
          <a:xfrm>
            <a:off x="658368" y="3017520"/>
            <a:ext cx="1691640" cy="1783080"/>
          </a:xfrm>
          <a:prstGeom prst="rect">
            <a:avLst/>
          </a:prstGeom>
          <a:noFill/>
          <a:ln/>
        </p:spPr>
        <p:txBody>
          <a:bodyPr wrap="square" lIns="0" tIns="0" rIns="0" bIns="0" rtlCol="0" anchor="t"/>
          <a:lstStyle/>
          <a:p>
            <a:pPr indent="0" marL="0">
              <a:buNone/>
            </a:pPr>
            <a:r>
              <a:rPr lang="en-US" sz="1200" dirty="0">
                <a:solidFill>
                  <a:srgbClr val="5A6472"/>
                </a:solidFill>
                <a:latin typeface="Calibri" pitchFamily="34" charset="0"/>
                <a:ea typeface="Calibri" pitchFamily="34" charset="-122"/>
                <a:cs typeface="Calibri" pitchFamily="34" charset="-120"/>
              </a:rPr>
              <a:t>MARBERTv2, CAMeLBERT-DA and AraBERTv2; masked-mean pooling; class-weighted cross-entropy</a:t>
            </a:r>
            <a:endParaRPr lang="en-US" sz="1200" dirty="0"/>
          </a:p>
        </p:txBody>
      </p:sp>
      <p:pic>
        <p:nvPicPr>
          <p:cNvPr id="11" name="Image 1" descr="/home/aigca/ALEXIS/Posters/build/pptx/media/chevron.png">    </p:cNvPr>
          <p:cNvPicPr>
            <a:picLocks noChangeAspect="1"/>
          </p:cNvPicPr>
          <p:nvPr/>
        </p:nvPicPr>
        <p:blipFill>
          <a:blip r:embed="rId2"/>
          <a:stretch>
            <a:fillRect/>
          </a:stretch>
        </p:blipFill>
        <p:spPr>
          <a:xfrm>
            <a:off x="2505456" y="3154680"/>
            <a:ext cx="219456" cy="219456"/>
          </a:xfrm>
          <a:prstGeom prst="rect">
            <a:avLst/>
          </a:prstGeom>
        </p:spPr>
      </p:pic>
      <p:sp>
        <p:nvSpPr>
          <p:cNvPr id="12" name="Shape 7"/>
          <p:cNvSpPr/>
          <p:nvPr/>
        </p:nvSpPr>
        <p:spPr>
          <a:xfrm>
            <a:off x="2743200" y="1691640"/>
            <a:ext cx="2029968" cy="3200400"/>
          </a:xfrm>
          <a:prstGeom prst="roundRect">
            <a:avLst>
              <a:gd name="adj" fmla="val 3604"/>
            </a:avLst>
          </a:prstGeom>
          <a:solidFill>
            <a:srgbClr val="EAF1FF"/>
          </a:solidFill>
          <a:ln w="9525">
            <a:solidFill>
              <a:srgbClr val="1E6BFF"/>
            </a:solidFill>
            <a:prstDash val="solid"/>
          </a:ln>
          <a:effectLst>
            <a:outerShdw sx="100000" sy="100000" kx="0" ky="0" algn="bl" rotWithShape="0" blurRad="101600" dist="25400" dir="5400000">
              <a:srgbClr val="0D1B3A">
                <a:alpha val="10000"/>
              </a:srgbClr>
            </a:outerShdw>
          </a:effectLst>
        </p:spPr>
      </p:sp>
      <p:pic>
        <p:nvPicPr>
          <p:cNvPr id="13" name="Image 2" descr="/home/aigca/ALEXIS/Posters/build/pptx/icons/shield_blue.png">    </p:cNvPr>
          <p:cNvPicPr>
            <a:picLocks noChangeAspect="1"/>
          </p:cNvPicPr>
          <p:nvPr/>
        </p:nvPicPr>
        <p:blipFill>
          <a:blip r:embed="rId3"/>
          <a:stretch>
            <a:fillRect/>
          </a:stretch>
        </p:blipFill>
        <p:spPr>
          <a:xfrm>
            <a:off x="2944368" y="1892808"/>
            <a:ext cx="329184" cy="329184"/>
          </a:xfrm>
          <a:prstGeom prst="rect">
            <a:avLst/>
          </a:prstGeom>
        </p:spPr>
      </p:pic>
      <p:sp>
        <p:nvSpPr>
          <p:cNvPr id="14" name="Text 8"/>
          <p:cNvSpPr txBox="1"/>
          <p:nvPr/>
        </p:nvSpPr>
        <p:spPr>
          <a:xfrm>
            <a:off x="3401568" y="1883664"/>
            <a:ext cx="1170432" cy="365760"/>
          </a:xfrm>
          <a:prstGeom prst="rect">
            <a:avLst/>
          </a:prstGeom>
          <a:noFill/>
          <a:ln/>
        </p:spPr>
        <p:txBody>
          <a:bodyPr wrap="square" lIns="0" tIns="0" rIns="0" bIns="0" rtlCol="0" anchor="ctr"/>
          <a:lstStyle/>
          <a:p>
            <a:pPr indent="0" marL="0">
              <a:buNone/>
            </a:pPr>
            <a:endParaRPr lang="en-US" sz="1400" dirty="0"/>
          </a:p>
        </p:txBody>
      </p:sp>
      <p:sp>
        <p:nvSpPr>
          <p:cNvPr id="15" name="Text 9"/>
          <p:cNvSpPr txBox="1"/>
          <p:nvPr/>
        </p:nvSpPr>
        <p:spPr>
          <a:xfrm>
            <a:off x="4251960" y="1810512"/>
            <a:ext cx="365760" cy="365760"/>
          </a:xfrm>
          <a:prstGeom prst="rect">
            <a:avLst/>
          </a:prstGeom>
          <a:noFill/>
          <a:ln/>
        </p:spPr>
        <p:txBody>
          <a:bodyPr wrap="square" lIns="0" tIns="0" rIns="0" bIns="0" rtlCol="0" anchor="t"/>
          <a:lstStyle/>
          <a:p>
            <a:pPr algn="r" indent="0" marL="0">
              <a:buNone/>
            </a:pPr>
            <a:r>
              <a:rPr lang="en-US" sz="2000" b="1" dirty="0">
                <a:solidFill>
                  <a:srgbClr val="1E6BFF"/>
                </a:solidFill>
                <a:latin typeface="Arial" pitchFamily="34" charset="0"/>
                <a:ea typeface="Arial" pitchFamily="34" charset="-122"/>
                <a:cs typeface="Arial" pitchFamily="34" charset="-120"/>
              </a:rPr>
              <a:t>2</a:t>
            </a:r>
            <a:endParaRPr lang="en-US" sz="2000" dirty="0"/>
          </a:p>
        </p:txBody>
      </p:sp>
      <p:sp>
        <p:nvSpPr>
          <p:cNvPr id="16" name="Text 10"/>
          <p:cNvSpPr txBox="1"/>
          <p:nvPr/>
        </p:nvSpPr>
        <p:spPr>
          <a:xfrm>
            <a:off x="2944368" y="2331720"/>
            <a:ext cx="1691640" cy="640080"/>
          </a:xfrm>
          <a:prstGeom prst="rect">
            <a:avLst/>
          </a:prstGeom>
          <a:noFill/>
          <a:ln/>
        </p:spPr>
        <p:txBody>
          <a:bodyPr wrap="square" lIns="0" tIns="0" rIns="0" bIns="0" rtlCol="0" anchor="t"/>
          <a:lstStyle/>
          <a:p>
            <a:pPr indent="0" marL="0">
              <a:buNone/>
            </a:pPr>
            <a:r>
              <a:rPr lang="en-US" sz="1400" b="1" dirty="0">
                <a:solidFill>
                  <a:srgbClr val="0D1117"/>
                </a:solidFill>
                <a:latin typeface="Arial" pitchFamily="34" charset="0"/>
                <a:ea typeface="Arial" pitchFamily="34" charset="-122"/>
                <a:cs typeface="Arial" pitchFamily="34" charset="-120"/>
              </a:rPr>
              <a:t>FGM adversarial training</a:t>
            </a:r>
            <a:endParaRPr lang="en-US" sz="1400" dirty="0"/>
          </a:p>
        </p:txBody>
      </p:sp>
      <p:sp>
        <p:nvSpPr>
          <p:cNvPr id="17" name="Text 11"/>
          <p:cNvSpPr txBox="1"/>
          <p:nvPr/>
        </p:nvSpPr>
        <p:spPr>
          <a:xfrm>
            <a:off x="2944368" y="3017520"/>
            <a:ext cx="1691640" cy="1783080"/>
          </a:xfrm>
          <a:prstGeom prst="rect">
            <a:avLst/>
          </a:prstGeom>
          <a:noFill/>
          <a:ln/>
        </p:spPr>
        <p:txBody>
          <a:bodyPr wrap="square" lIns="0" tIns="0" rIns="0" bIns="0" rtlCol="0" anchor="t"/>
          <a:lstStyle/>
          <a:p>
            <a:pPr indent="0" marL="0">
              <a:buNone/>
            </a:pPr>
            <a:r>
              <a:rPr lang="en-US" sz="1200" dirty="0">
                <a:solidFill>
                  <a:srgbClr val="5A6472"/>
                </a:solidFill>
                <a:latin typeface="Calibri" pitchFamily="34" charset="0"/>
                <a:ea typeface="Calibri" pitchFamily="34" charset="-122"/>
                <a:cs typeface="Calibri" pitchFamily="34" charset="-120"/>
              </a:rPr>
              <a:t>Perturb word embeddings along the loss gradient (ε = 1.0). Largest single gain</a:t>
            </a:r>
            <a:endParaRPr lang="en-US" sz="1200" dirty="0"/>
          </a:p>
        </p:txBody>
      </p:sp>
      <p:pic>
        <p:nvPicPr>
          <p:cNvPr id="18" name="Image 3" descr="/home/aigca/ALEXIS/Posters/build/pptx/media/chevron.png">    </p:cNvPr>
          <p:cNvPicPr>
            <a:picLocks noChangeAspect="1"/>
          </p:cNvPicPr>
          <p:nvPr/>
        </p:nvPicPr>
        <p:blipFill>
          <a:blip r:embed="rId4"/>
          <a:stretch>
            <a:fillRect/>
          </a:stretch>
        </p:blipFill>
        <p:spPr>
          <a:xfrm>
            <a:off x="4791456" y="3154680"/>
            <a:ext cx="219456" cy="219456"/>
          </a:xfrm>
          <a:prstGeom prst="rect">
            <a:avLst/>
          </a:prstGeom>
        </p:spPr>
      </p:pic>
      <p:sp>
        <p:nvSpPr>
          <p:cNvPr id="19" name="Shape 12"/>
          <p:cNvSpPr/>
          <p:nvPr/>
        </p:nvSpPr>
        <p:spPr>
          <a:xfrm>
            <a:off x="5029200" y="1691640"/>
            <a:ext cx="2029968" cy="3200400"/>
          </a:xfrm>
          <a:prstGeom prst="roundRect">
            <a:avLst>
              <a:gd name="adj" fmla="val 3604"/>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20" name="Image 4" descr="/home/aigca/ALEXIS/Posters/build/pptx/icons/repeat_blue.png">    </p:cNvPr>
          <p:cNvPicPr>
            <a:picLocks noChangeAspect="1"/>
          </p:cNvPicPr>
          <p:nvPr/>
        </p:nvPicPr>
        <p:blipFill>
          <a:blip r:embed="rId5"/>
          <a:stretch>
            <a:fillRect/>
          </a:stretch>
        </p:blipFill>
        <p:spPr>
          <a:xfrm>
            <a:off x="5230368" y="1892808"/>
            <a:ext cx="329184" cy="329184"/>
          </a:xfrm>
          <a:prstGeom prst="rect">
            <a:avLst/>
          </a:prstGeom>
        </p:spPr>
      </p:pic>
      <p:sp>
        <p:nvSpPr>
          <p:cNvPr id="21" name="Text 13"/>
          <p:cNvSpPr txBox="1"/>
          <p:nvPr/>
        </p:nvSpPr>
        <p:spPr>
          <a:xfrm>
            <a:off x="5687568" y="1883664"/>
            <a:ext cx="1170432" cy="365760"/>
          </a:xfrm>
          <a:prstGeom prst="rect">
            <a:avLst/>
          </a:prstGeom>
          <a:noFill/>
          <a:ln/>
        </p:spPr>
        <p:txBody>
          <a:bodyPr wrap="square" lIns="0" tIns="0" rIns="0" bIns="0" rtlCol="0" anchor="ctr"/>
          <a:lstStyle/>
          <a:p>
            <a:pPr indent="0" marL="0">
              <a:buNone/>
            </a:pPr>
            <a:endParaRPr lang="en-US" sz="1400" dirty="0"/>
          </a:p>
        </p:txBody>
      </p:sp>
      <p:sp>
        <p:nvSpPr>
          <p:cNvPr id="22" name="Text 14"/>
          <p:cNvSpPr txBox="1"/>
          <p:nvPr/>
        </p:nvSpPr>
        <p:spPr>
          <a:xfrm>
            <a:off x="6537960" y="1810512"/>
            <a:ext cx="365760" cy="365760"/>
          </a:xfrm>
          <a:prstGeom prst="rect">
            <a:avLst/>
          </a:prstGeom>
          <a:noFill/>
          <a:ln/>
        </p:spPr>
        <p:txBody>
          <a:bodyPr wrap="square" lIns="0" tIns="0" rIns="0" bIns="0" rtlCol="0" anchor="t"/>
          <a:lstStyle/>
          <a:p>
            <a:pPr algn="r" indent="0" marL="0">
              <a:buNone/>
            </a:pPr>
            <a:r>
              <a:rPr lang="en-US" sz="2000" b="1" dirty="0">
                <a:solidFill>
                  <a:srgbClr val="1E6BFF"/>
                </a:solidFill>
                <a:latin typeface="Arial" pitchFamily="34" charset="0"/>
                <a:ea typeface="Arial" pitchFamily="34" charset="-122"/>
                <a:cs typeface="Arial" pitchFamily="34" charset="-120"/>
              </a:rPr>
              <a:t>3</a:t>
            </a:r>
            <a:endParaRPr lang="en-US" sz="2000" dirty="0"/>
          </a:p>
        </p:txBody>
      </p:sp>
      <p:sp>
        <p:nvSpPr>
          <p:cNvPr id="23" name="Text 15"/>
          <p:cNvSpPr txBox="1"/>
          <p:nvPr/>
        </p:nvSpPr>
        <p:spPr>
          <a:xfrm>
            <a:off x="5230368" y="2331720"/>
            <a:ext cx="1691640" cy="640080"/>
          </a:xfrm>
          <a:prstGeom prst="rect">
            <a:avLst/>
          </a:prstGeom>
          <a:noFill/>
          <a:ln/>
        </p:spPr>
        <p:txBody>
          <a:bodyPr wrap="square" lIns="0" tIns="0" rIns="0" bIns="0" rtlCol="0" anchor="t"/>
          <a:lstStyle/>
          <a:p>
            <a:pPr indent="0" marL="0">
              <a:buNone/>
            </a:pPr>
            <a:r>
              <a:rPr lang="en-US" sz="1400" b="1" dirty="0">
                <a:solidFill>
                  <a:srgbClr val="0D1117"/>
                </a:solidFill>
                <a:latin typeface="Arial" pitchFamily="34" charset="0"/>
                <a:ea typeface="Arial" pitchFamily="34" charset="-122"/>
                <a:cs typeface="Arial" pitchFamily="34" charset="-120"/>
              </a:rPr>
              <a:t>Iterative self-training</a:t>
            </a:r>
            <a:endParaRPr lang="en-US" sz="1400" dirty="0"/>
          </a:p>
        </p:txBody>
      </p:sp>
      <p:sp>
        <p:nvSpPr>
          <p:cNvPr id="24" name="Text 16"/>
          <p:cNvSpPr txBox="1"/>
          <p:nvPr/>
        </p:nvSpPr>
        <p:spPr>
          <a:xfrm>
            <a:off x="5230368" y="3017520"/>
            <a:ext cx="1691640" cy="1783080"/>
          </a:xfrm>
          <a:prstGeom prst="rect">
            <a:avLst/>
          </a:prstGeom>
          <a:noFill/>
          <a:ln/>
        </p:spPr>
        <p:txBody>
          <a:bodyPr wrap="square" lIns="0" tIns="0" rIns="0" bIns="0" rtlCol="0" anchor="t"/>
          <a:lstStyle/>
          <a:p>
            <a:pPr indent="0" marL="0">
              <a:buNone/>
            </a:pPr>
            <a:r>
              <a:rPr lang="en-US" sz="1200" dirty="0">
                <a:solidFill>
                  <a:srgbClr val="5A6472"/>
                </a:solidFill>
                <a:latin typeface="Calibri" pitchFamily="34" charset="0"/>
                <a:ea typeface="Calibri" pitchFamily="34" charset="-122"/>
                <a:cs typeface="Calibri" pitchFamily="34" charset="-120"/>
              </a:rPr>
              <a:t>Three rounds on the unlabeled test set; confident committee agreements become pseudo-labels</a:t>
            </a:r>
            <a:endParaRPr lang="en-US" sz="1200" dirty="0"/>
          </a:p>
        </p:txBody>
      </p:sp>
      <p:pic>
        <p:nvPicPr>
          <p:cNvPr id="25" name="Image 5" descr="/home/aigca/ALEXIS/Posters/build/pptx/media/chevron.png">    </p:cNvPr>
          <p:cNvPicPr>
            <a:picLocks noChangeAspect="1"/>
          </p:cNvPicPr>
          <p:nvPr/>
        </p:nvPicPr>
        <p:blipFill>
          <a:blip r:embed="rId6"/>
          <a:stretch>
            <a:fillRect/>
          </a:stretch>
        </p:blipFill>
        <p:spPr>
          <a:xfrm>
            <a:off x="7077456" y="3154680"/>
            <a:ext cx="219456" cy="219456"/>
          </a:xfrm>
          <a:prstGeom prst="rect">
            <a:avLst/>
          </a:prstGeom>
        </p:spPr>
      </p:pic>
      <p:sp>
        <p:nvSpPr>
          <p:cNvPr id="26" name="Shape 17"/>
          <p:cNvSpPr/>
          <p:nvPr/>
        </p:nvSpPr>
        <p:spPr>
          <a:xfrm>
            <a:off x="7315200" y="1691640"/>
            <a:ext cx="2029968" cy="3200400"/>
          </a:xfrm>
          <a:prstGeom prst="roundRect">
            <a:avLst>
              <a:gd name="adj" fmla="val 3604"/>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27" name="Image 6" descr="/home/aigca/ALEXIS/Posters/build/pptx/icons/type_blue.png">    </p:cNvPr>
          <p:cNvPicPr>
            <a:picLocks noChangeAspect="1"/>
          </p:cNvPicPr>
          <p:nvPr/>
        </p:nvPicPr>
        <p:blipFill>
          <a:blip r:embed="rId7"/>
          <a:stretch>
            <a:fillRect/>
          </a:stretch>
        </p:blipFill>
        <p:spPr>
          <a:xfrm>
            <a:off x="7516368" y="1892808"/>
            <a:ext cx="329184" cy="329184"/>
          </a:xfrm>
          <a:prstGeom prst="rect">
            <a:avLst/>
          </a:prstGeom>
        </p:spPr>
      </p:pic>
      <p:sp>
        <p:nvSpPr>
          <p:cNvPr id="28" name="Text 18"/>
          <p:cNvSpPr txBox="1"/>
          <p:nvPr/>
        </p:nvSpPr>
        <p:spPr>
          <a:xfrm>
            <a:off x="7973568" y="1883664"/>
            <a:ext cx="1170432" cy="365760"/>
          </a:xfrm>
          <a:prstGeom prst="rect">
            <a:avLst/>
          </a:prstGeom>
          <a:noFill/>
          <a:ln/>
        </p:spPr>
        <p:txBody>
          <a:bodyPr wrap="square" lIns="0" tIns="0" rIns="0" bIns="0" rtlCol="0" anchor="ctr"/>
          <a:lstStyle/>
          <a:p>
            <a:pPr indent="0" marL="0">
              <a:buNone/>
            </a:pPr>
            <a:endParaRPr lang="en-US" sz="1400" dirty="0"/>
          </a:p>
        </p:txBody>
      </p:sp>
      <p:sp>
        <p:nvSpPr>
          <p:cNvPr id="29" name="Text 19"/>
          <p:cNvSpPr txBox="1"/>
          <p:nvPr/>
        </p:nvSpPr>
        <p:spPr>
          <a:xfrm>
            <a:off x="8823960" y="1810512"/>
            <a:ext cx="365760" cy="365760"/>
          </a:xfrm>
          <a:prstGeom prst="rect">
            <a:avLst/>
          </a:prstGeom>
          <a:noFill/>
          <a:ln/>
        </p:spPr>
        <p:txBody>
          <a:bodyPr wrap="square" lIns="0" tIns="0" rIns="0" bIns="0" rtlCol="0" anchor="t"/>
          <a:lstStyle/>
          <a:p>
            <a:pPr algn="r" indent="0" marL="0">
              <a:buNone/>
            </a:pPr>
            <a:r>
              <a:rPr lang="en-US" sz="2000" b="1" dirty="0">
                <a:solidFill>
                  <a:srgbClr val="1E6BFF"/>
                </a:solidFill>
                <a:latin typeface="Arial" pitchFamily="34" charset="0"/>
                <a:ea typeface="Arial" pitchFamily="34" charset="-122"/>
                <a:cs typeface="Arial" pitchFamily="34" charset="-120"/>
              </a:rPr>
              <a:t>4</a:t>
            </a:r>
            <a:endParaRPr lang="en-US" sz="2000" dirty="0"/>
          </a:p>
        </p:txBody>
      </p:sp>
      <p:sp>
        <p:nvSpPr>
          <p:cNvPr id="30" name="Text 20"/>
          <p:cNvSpPr txBox="1"/>
          <p:nvPr/>
        </p:nvSpPr>
        <p:spPr>
          <a:xfrm>
            <a:off x="7516368" y="2331720"/>
            <a:ext cx="1691640" cy="640080"/>
          </a:xfrm>
          <a:prstGeom prst="rect">
            <a:avLst/>
          </a:prstGeom>
          <a:noFill/>
          <a:ln/>
        </p:spPr>
        <p:txBody>
          <a:bodyPr wrap="square" lIns="0" tIns="0" rIns="0" bIns="0" rtlCol="0" anchor="t"/>
          <a:lstStyle/>
          <a:p>
            <a:pPr indent="0" marL="0">
              <a:buNone/>
            </a:pPr>
            <a:r>
              <a:rPr lang="en-US" sz="1400" b="1" dirty="0">
                <a:solidFill>
                  <a:srgbClr val="0D1117"/>
                </a:solidFill>
                <a:latin typeface="Arial" pitchFamily="34" charset="0"/>
                <a:ea typeface="Arial" pitchFamily="34" charset="-122"/>
                <a:cs typeface="Arial" pitchFamily="34" charset="-120"/>
              </a:rPr>
              <a:t>Character noise</a:t>
            </a:r>
            <a:endParaRPr lang="en-US" sz="1400" dirty="0"/>
          </a:p>
        </p:txBody>
      </p:sp>
      <p:sp>
        <p:nvSpPr>
          <p:cNvPr id="31" name="Text 21"/>
          <p:cNvSpPr txBox="1"/>
          <p:nvPr/>
        </p:nvSpPr>
        <p:spPr>
          <a:xfrm>
            <a:off x="7516368" y="3017520"/>
            <a:ext cx="1691640" cy="1783080"/>
          </a:xfrm>
          <a:prstGeom prst="rect">
            <a:avLst/>
          </a:prstGeom>
          <a:noFill/>
          <a:ln/>
        </p:spPr>
        <p:txBody>
          <a:bodyPr wrap="square" lIns="0" tIns="0" rIns="0" bIns="0" rtlCol="0" anchor="t"/>
          <a:lstStyle/>
          <a:p>
            <a:pPr indent="0" marL="0">
              <a:buNone/>
            </a:pPr>
            <a:r>
              <a:rPr lang="en-US" sz="1200" dirty="0">
                <a:solidFill>
                  <a:srgbClr val="5A6472"/>
                </a:solidFill>
                <a:latin typeface="Calibri" pitchFamily="34" charset="0"/>
                <a:ea typeface="Calibri" pitchFamily="34" charset="-122"/>
                <a:cs typeface="Calibri" pitchFamily="34" charset="-120"/>
              </a:rPr>
              <a:t>Arabic letter-variant swaps plus delete, duplicate and swap at ≈6% per character</a:t>
            </a:r>
            <a:endParaRPr lang="en-US" sz="1200" dirty="0"/>
          </a:p>
        </p:txBody>
      </p:sp>
      <p:pic>
        <p:nvPicPr>
          <p:cNvPr id="32" name="Image 7" descr="/home/aigca/ALEXIS/Posters/build/pptx/media/chevron.png">    </p:cNvPr>
          <p:cNvPicPr>
            <a:picLocks noChangeAspect="1"/>
          </p:cNvPicPr>
          <p:nvPr/>
        </p:nvPicPr>
        <p:blipFill>
          <a:blip r:embed="rId8"/>
          <a:stretch>
            <a:fillRect/>
          </a:stretch>
        </p:blipFill>
        <p:spPr>
          <a:xfrm>
            <a:off x="9363456" y="3154680"/>
            <a:ext cx="219456" cy="219456"/>
          </a:xfrm>
          <a:prstGeom prst="rect">
            <a:avLst/>
          </a:prstGeom>
        </p:spPr>
      </p:pic>
      <p:sp>
        <p:nvSpPr>
          <p:cNvPr id="33" name="Shape 22"/>
          <p:cNvSpPr/>
          <p:nvPr/>
        </p:nvSpPr>
        <p:spPr>
          <a:xfrm>
            <a:off x="9601200" y="1691640"/>
            <a:ext cx="2029968" cy="3200400"/>
          </a:xfrm>
          <a:prstGeom prst="roundRect">
            <a:avLst>
              <a:gd name="adj" fmla="val 3604"/>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34" name="Image 8" descr="/home/aigca/ALEXIS/Posters/build/pptx/icons/layers_blue.png">    </p:cNvPr>
          <p:cNvPicPr>
            <a:picLocks noChangeAspect="1"/>
          </p:cNvPicPr>
          <p:nvPr/>
        </p:nvPicPr>
        <p:blipFill>
          <a:blip r:embed="rId9"/>
          <a:stretch>
            <a:fillRect/>
          </a:stretch>
        </p:blipFill>
        <p:spPr>
          <a:xfrm>
            <a:off x="9802368" y="1892808"/>
            <a:ext cx="329184" cy="329184"/>
          </a:xfrm>
          <a:prstGeom prst="rect">
            <a:avLst/>
          </a:prstGeom>
        </p:spPr>
      </p:pic>
      <p:sp>
        <p:nvSpPr>
          <p:cNvPr id="35" name="Text 23"/>
          <p:cNvSpPr txBox="1"/>
          <p:nvPr/>
        </p:nvSpPr>
        <p:spPr>
          <a:xfrm>
            <a:off x="10259568" y="1883664"/>
            <a:ext cx="1170432" cy="365760"/>
          </a:xfrm>
          <a:prstGeom prst="rect">
            <a:avLst/>
          </a:prstGeom>
          <a:noFill/>
          <a:ln/>
        </p:spPr>
        <p:txBody>
          <a:bodyPr wrap="square" lIns="0" tIns="0" rIns="0" bIns="0" rtlCol="0" anchor="ctr"/>
          <a:lstStyle/>
          <a:p>
            <a:pPr indent="0" marL="0">
              <a:buNone/>
            </a:pPr>
            <a:endParaRPr lang="en-US" sz="1400" dirty="0"/>
          </a:p>
        </p:txBody>
      </p:sp>
      <p:sp>
        <p:nvSpPr>
          <p:cNvPr id="36" name="Text 24"/>
          <p:cNvSpPr txBox="1"/>
          <p:nvPr/>
        </p:nvSpPr>
        <p:spPr>
          <a:xfrm>
            <a:off x="11109960" y="1810512"/>
            <a:ext cx="365760" cy="365760"/>
          </a:xfrm>
          <a:prstGeom prst="rect">
            <a:avLst/>
          </a:prstGeom>
          <a:noFill/>
          <a:ln/>
        </p:spPr>
        <p:txBody>
          <a:bodyPr wrap="square" lIns="0" tIns="0" rIns="0" bIns="0" rtlCol="0" anchor="t"/>
          <a:lstStyle/>
          <a:p>
            <a:pPr algn="r" indent="0" marL="0">
              <a:buNone/>
            </a:pPr>
            <a:r>
              <a:rPr lang="en-US" sz="2000" b="1" dirty="0">
                <a:solidFill>
                  <a:srgbClr val="1E6BFF"/>
                </a:solidFill>
                <a:latin typeface="Arial" pitchFamily="34" charset="0"/>
                <a:ea typeface="Arial" pitchFamily="34" charset="-122"/>
                <a:cs typeface="Arial" pitchFamily="34" charset="-120"/>
              </a:rPr>
              <a:t>5</a:t>
            </a:r>
            <a:endParaRPr lang="en-US" sz="2000" dirty="0"/>
          </a:p>
        </p:txBody>
      </p:sp>
      <p:sp>
        <p:nvSpPr>
          <p:cNvPr id="37" name="Text 25"/>
          <p:cNvSpPr txBox="1"/>
          <p:nvPr/>
        </p:nvSpPr>
        <p:spPr>
          <a:xfrm>
            <a:off x="9802368" y="2331720"/>
            <a:ext cx="1691640" cy="640080"/>
          </a:xfrm>
          <a:prstGeom prst="rect">
            <a:avLst/>
          </a:prstGeom>
          <a:noFill/>
          <a:ln/>
        </p:spPr>
        <p:txBody>
          <a:bodyPr wrap="square" lIns="0" tIns="0" rIns="0" bIns="0" rtlCol="0" anchor="t"/>
          <a:lstStyle/>
          <a:p>
            <a:pPr indent="0" marL="0">
              <a:buNone/>
            </a:pPr>
            <a:r>
              <a:rPr lang="en-US" sz="1400" b="1" dirty="0">
                <a:solidFill>
                  <a:srgbClr val="0D1117"/>
                </a:solidFill>
                <a:latin typeface="Arial" pitchFamily="34" charset="0"/>
                <a:ea typeface="Arial" pitchFamily="34" charset="-122"/>
                <a:cs typeface="Arial" pitchFamily="34" charset="-120"/>
              </a:rPr>
              <a:t>Uniform ensemble</a:t>
            </a:r>
            <a:endParaRPr lang="en-US" sz="1400" dirty="0"/>
          </a:p>
        </p:txBody>
      </p:sp>
      <p:sp>
        <p:nvSpPr>
          <p:cNvPr id="38" name="Text 26"/>
          <p:cNvSpPr txBox="1"/>
          <p:nvPr/>
        </p:nvSpPr>
        <p:spPr>
          <a:xfrm>
            <a:off x="9802368" y="3017520"/>
            <a:ext cx="1691640" cy="1783080"/>
          </a:xfrm>
          <a:prstGeom prst="rect">
            <a:avLst/>
          </a:prstGeom>
          <a:noFill/>
          <a:ln/>
        </p:spPr>
        <p:txBody>
          <a:bodyPr wrap="square" lIns="0" tIns="0" rIns="0" bIns="0" rtlCol="0" anchor="t"/>
          <a:lstStyle/>
          <a:p>
            <a:pPr indent="0" marL="0">
              <a:buNone/>
            </a:pPr>
            <a:r>
              <a:rPr lang="en-US" sz="1200" dirty="0">
                <a:solidFill>
                  <a:srgbClr val="5A6472"/>
                </a:solidFill>
                <a:latin typeface="Calibri" pitchFamily="34" charset="0"/>
                <a:ea typeface="Calibri" pitchFamily="34" charset="-122"/>
                <a:cs typeface="Calibri" pitchFamily="34" charset="-120"/>
              </a:rPr>
              <a:t>Softmax average of the three backbones; exact-match lookup for overlapping test rows</a:t>
            </a:r>
            <a:endParaRPr lang="en-US" sz="1200" dirty="0"/>
          </a:p>
        </p:txBody>
      </p:sp>
      <p:sp>
        <p:nvSpPr>
          <p:cNvPr id="39" name="Shape 27"/>
          <p:cNvSpPr/>
          <p:nvPr/>
        </p:nvSpPr>
        <p:spPr>
          <a:xfrm>
            <a:off x="457200" y="5257800"/>
            <a:ext cx="11274552" cy="566928"/>
          </a:xfrm>
          <a:prstGeom prst="roundRect">
            <a:avLst>
              <a:gd name="adj" fmla="val 12903"/>
            </a:avLst>
          </a:prstGeom>
          <a:solidFill>
            <a:srgbClr val="EAF1FF"/>
          </a:solidFill>
          <a:ln w="9525">
            <a:solidFill>
              <a:srgbClr val="C9DAFD"/>
            </a:solidFill>
            <a:prstDash val="solid"/>
          </a:ln>
        </p:spPr>
      </p:sp>
      <p:pic>
        <p:nvPicPr>
          <p:cNvPr id="40" name="Image 9" descr="/home/aigca/ALEXIS/Posters/build/pptx/icons/check_blue.png">    </p:cNvPr>
          <p:cNvPicPr>
            <a:picLocks noChangeAspect="1"/>
          </p:cNvPicPr>
          <p:nvPr/>
        </p:nvPicPr>
        <p:blipFill>
          <a:blip r:embed="rId10"/>
          <a:stretch>
            <a:fillRect/>
          </a:stretch>
        </p:blipFill>
        <p:spPr>
          <a:xfrm>
            <a:off x="640080" y="5404104"/>
            <a:ext cx="274320" cy="274320"/>
          </a:xfrm>
          <a:prstGeom prst="rect">
            <a:avLst/>
          </a:prstGeom>
        </p:spPr>
      </p:pic>
      <p:sp>
        <p:nvSpPr>
          <p:cNvPr id="41" name="Text 28"/>
          <p:cNvSpPr txBox="1"/>
          <p:nvPr/>
        </p:nvSpPr>
        <p:spPr>
          <a:xfrm>
            <a:off x="1051560" y="5257800"/>
            <a:ext cx="10497312" cy="566928"/>
          </a:xfrm>
          <a:prstGeom prst="rect">
            <a:avLst/>
          </a:prstGeom>
          <a:noFill/>
          <a:ln/>
        </p:spPr>
        <p:txBody>
          <a:bodyPr wrap="square" lIns="0" tIns="0" rIns="0" bIns="0" rtlCol="0" anchor="ctr"/>
          <a:lstStyle/>
          <a:p>
            <a:pPr indent="0" marL="0">
              <a:buNone/>
            </a:pPr>
            <a:r>
              <a:rPr lang="en-US" sz="1300" dirty="0">
                <a:solidFill>
                  <a:srgbClr val="0D1117"/>
                </a:solidFill>
                <a:latin typeface="Calibri" pitchFamily="34" charset="0"/>
                <a:ea typeface="Calibri" pitchFamily="34" charset="-122"/>
                <a:cs typeface="Calibri" pitchFamily="34" charset="-120"/>
              </a:rPr>
              <a:t>Every component was validated leave-one-dialect-out and scored independently on the official leaderboard.</a:t>
            </a:r>
            <a:endParaRPr lang="en-US" sz="130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3" type="body" hasCustomPrompt="1"/>
          </p:nvPr>
        </p:nvSpPr>
        <p:spPr>
          <a:xfrm>
            <a:off x="786384" y="457200"/>
            <a:ext cx="8229600" cy="256032"/>
          </a:xfrm>
          <a:prstGeom prst="rect">
            <a:avLst/>
          </a:prstGeom>
          <a:noFill/>
          <a:ln/>
        </p:spPr>
        <p:txBody>
          <a:bodyPr wrap="square" lIns="0" tIns="0" rIns="0" bIns="0" rtlCol="0" anchor="ctr"/>
          <a:lstStyle/>
          <a:p>
            <a:pPr algn="l" indent="0" marL="0">
              <a:buNone/>
            </a:pPr>
            <a:r>
              <a:rPr lang="en-US" sz="1100" b="1" spc="100" kern="0" dirty="0">
                <a:solidFill>
                  <a:srgbClr val="1E6BFF"/>
                </a:solidFill>
                <a:latin typeface="Arial" pitchFamily="34" charset="0"/>
                <a:ea typeface="Arial" pitchFamily="34" charset="-122"/>
                <a:cs typeface="Arial" pitchFamily="34" charset="-120"/>
              </a:rPr>
              <a:t>ROBUSTNESS TO THE UNSEEN DIALECT</a:t>
            </a:r>
            <a:endParaRPr lang="en-US" sz="1100" dirty="0"/>
          </a:p>
        </p:txBody>
      </p:sp>
      <p:sp>
        <p:nvSpPr>
          <p:cNvPr id="3" name="Text 1"/>
          <p:cNvSpPr/>
          <p:nvPr>
            <p:ph idx="104" type="title" hasCustomPrompt="1"/>
          </p:nvPr>
        </p:nvSpPr>
        <p:spPr>
          <a:xfrm>
            <a:off x="457200" y="768096"/>
            <a:ext cx="11247120" cy="566928"/>
          </a:xfrm>
          <a:prstGeom prst="rect">
            <a:avLst/>
          </a:prstGeom>
          <a:noFill/>
          <a:ln/>
        </p:spPr>
        <p:txBody>
          <a:bodyPr wrap="square" lIns="0" tIns="0" rIns="0" bIns="0" rtlCol="0" anchor="t"/>
          <a:lstStyle/>
          <a:p>
            <a:pPr algn="l" indent="0" marL="0">
              <a:buNone/>
            </a:pPr>
            <a:r>
              <a:rPr lang="en-US" sz="2800" b="1" dirty="0">
                <a:solidFill>
                  <a:srgbClr val="0D1117"/>
                </a:solidFill>
                <a:latin typeface="Arial" pitchFamily="34" charset="0"/>
                <a:ea typeface="Arial" pitchFamily="34" charset="-122"/>
                <a:cs typeface="Arial" pitchFamily="34" charset="-120"/>
              </a:rPr>
              <a:t>Diverse encoders and adversarial training</a:t>
            </a:r>
            <a:endParaRPr lang="en-US" sz="2800" dirty="0"/>
          </a:p>
        </p:txBody>
      </p:sp>
      <p:sp>
        <p:nvSpPr>
          <p:cNvPr id="5" name="Shape 2"/>
          <p:cNvSpPr/>
          <p:nvPr/>
        </p:nvSpPr>
        <p:spPr>
          <a:xfrm>
            <a:off x="457200" y="1600200"/>
            <a:ext cx="4937760" cy="1207008"/>
          </a:xfrm>
          <a:prstGeom prst="roundRect">
            <a:avLst>
              <a:gd name="adj" fmla="val 6061"/>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6" name="Image 0" descr="/home/aigca/ALEXIS/Posters/build/pptx/icons/cpu_blue.png">    </p:cNvPr>
          <p:cNvPicPr>
            <a:picLocks noChangeAspect="1"/>
          </p:cNvPicPr>
          <p:nvPr/>
        </p:nvPicPr>
        <p:blipFill>
          <a:blip r:embed="rId1"/>
          <a:stretch>
            <a:fillRect/>
          </a:stretch>
        </p:blipFill>
        <p:spPr>
          <a:xfrm>
            <a:off x="658368" y="1801368"/>
            <a:ext cx="329184" cy="329184"/>
          </a:xfrm>
          <a:prstGeom prst="rect">
            <a:avLst/>
          </a:prstGeom>
        </p:spPr>
      </p:pic>
      <p:sp>
        <p:nvSpPr>
          <p:cNvPr id="7" name="Text 3"/>
          <p:cNvSpPr txBox="1"/>
          <p:nvPr/>
        </p:nvSpPr>
        <p:spPr>
          <a:xfrm>
            <a:off x="1115568" y="1792224"/>
            <a:ext cx="4078224" cy="365760"/>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MARBERTv2</a:t>
            </a:r>
            <a:endParaRPr lang="en-US" sz="1400" dirty="0"/>
          </a:p>
        </p:txBody>
      </p:sp>
      <p:sp>
        <p:nvSpPr>
          <p:cNvPr id="8" name="Text 4"/>
          <p:cNvSpPr txBox="1"/>
          <p:nvPr/>
        </p:nvSpPr>
        <p:spPr>
          <a:xfrm>
            <a:off x="658368" y="2276856"/>
            <a:ext cx="4535424" cy="530352"/>
          </a:xfrm>
          <a:prstGeom prst="rect">
            <a:avLst/>
          </a:prstGeom>
          <a:noFill/>
          <a:ln/>
        </p:spPr>
        <p:txBody>
          <a:bodyPr wrap="square" lIns="0" tIns="0" rIns="0" bIns="0" rtlCol="0" anchor="t"/>
          <a:lstStyle/>
          <a:p>
            <a:pPr indent="0" marL="0">
              <a:spcAft>
                <a:spcPts val="400"/>
              </a:spcAft>
              <a:buNone/>
            </a:pPr>
            <a:r>
              <a:rPr lang="en-US" sz="1200" dirty="0">
                <a:solidFill>
                  <a:srgbClr val="5A6472"/>
                </a:solidFill>
                <a:latin typeface="Calibri" pitchFamily="34" charset="0"/>
                <a:ea typeface="Calibri" pitchFamily="34" charset="-122"/>
                <a:cs typeface="Calibri" pitchFamily="34" charset="-120"/>
              </a:rPr>
              <a:t>Strongest single model on the AHASIS pilot of a related dataset</a:t>
            </a:r>
            <a:endParaRPr lang="en-US" sz="1200" dirty="0"/>
          </a:p>
        </p:txBody>
      </p:sp>
      <p:sp>
        <p:nvSpPr>
          <p:cNvPr id="9" name="Shape 5"/>
          <p:cNvSpPr/>
          <p:nvPr/>
        </p:nvSpPr>
        <p:spPr>
          <a:xfrm>
            <a:off x="457200" y="2971800"/>
            <a:ext cx="4937760" cy="1207008"/>
          </a:xfrm>
          <a:prstGeom prst="roundRect">
            <a:avLst>
              <a:gd name="adj" fmla="val 6061"/>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10" name="Image 1" descr="/home/aigca/ALEXIS/Posters/build/pptx/icons/cpu_blue.png">    </p:cNvPr>
          <p:cNvPicPr>
            <a:picLocks noChangeAspect="1"/>
          </p:cNvPicPr>
          <p:nvPr/>
        </p:nvPicPr>
        <p:blipFill>
          <a:blip r:embed="rId2"/>
          <a:stretch>
            <a:fillRect/>
          </a:stretch>
        </p:blipFill>
        <p:spPr>
          <a:xfrm>
            <a:off x="658368" y="3172968"/>
            <a:ext cx="329184" cy="329184"/>
          </a:xfrm>
          <a:prstGeom prst="rect">
            <a:avLst/>
          </a:prstGeom>
        </p:spPr>
      </p:pic>
      <p:sp>
        <p:nvSpPr>
          <p:cNvPr id="11" name="Text 6"/>
          <p:cNvSpPr txBox="1"/>
          <p:nvPr/>
        </p:nvSpPr>
        <p:spPr>
          <a:xfrm>
            <a:off x="1115568" y="3163824"/>
            <a:ext cx="4078224" cy="365760"/>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CAMeLBERT-DA</a:t>
            </a:r>
            <a:endParaRPr lang="en-US" sz="1400" dirty="0"/>
          </a:p>
        </p:txBody>
      </p:sp>
      <p:sp>
        <p:nvSpPr>
          <p:cNvPr id="12" name="Text 7"/>
          <p:cNvSpPr txBox="1"/>
          <p:nvPr/>
        </p:nvSpPr>
        <p:spPr>
          <a:xfrm>
            <a:off x="658368" y="3648456"/>
            <a:ext cx="4535424" cy="530352"/>
          </a:xfrm>
          <a:prstGeom prst="rect">
            <a:avLst/>
          </a:prstGeom>
          <a:noFill/>
          <a:ln/>
        </p:spPr>
        <p:txBody>
          <a:bodyPr wrap="square" lIns="0" tIns="0" rIns="0" bIns="0" rtlCol="0" anchor="t"/>
          <a:lstStyle/>
          <a:p>
            <a:pPr indent="0" marL="0">
              <a:spcAft>
                <a:spcPts val="400"/>
              </a:spcAft>
              <a:buNone/>
            </a:pPr>
            <a:r>
              <a:rPr lang="en-US" sz="1200" dirty="0">
                <a:solidFill>
                  <a:srgbClr val="5A6472"/>
                </a:solidFill>
                <a:latin typeface="Calibri" pitchFamily="34" charset="0"/>
                <a:ea typeface="Calibri" pitchFamily="34" charset="-122"/>
                <a:cs typeface="Calibri" pitchFamily="34" charset="-120"/>
              </a:rPr>
              <a:t>Pretrained on dialectal Arabic; the organizers’ sentiment classifier for Subtask 2</a:t>
            </a:r>
            <a:endParaRPr lang="en-US" sz="1200" dirty="0"/>
          </a:p>
        </p:txBody>
      </p:sp>
      <p:sp>
        <p:nvSpPr>
          <p:cNvPr id="13" name="Shape 8"/>
          <p:cNvSpPr/>
          <p:nvPr/>
        </p:nvSpPr>
        <p:spPr>
          <a:xfrm>
            <a:off x="457200" y="4343400"/>
            <a:ext cx="4937760" cy="1207008"/>
          </a:xfrm>
          <a:prstGeom prst="roundRect">
            <a:avLst>
              <a:gd name="adj" fmla="val 6061"/>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14" name="Image 2" descr="/home/aigca/ALEXIS/Posters/build/pptx/icons/cpu_blue.png">    </p:cNvPr>
          <p:cNvPicPr>
            <a:picLocks noChangeAspect="1"/>
          </p:cNvPicPr>
          <p:nvPr/>
        </p:nvPicPr>
        <p:blipFill>
          <a:blip r:embed="rId3"/>
          <a:stretch>
            <a:fillRect/>
          </a:stretch>
        </p:blipFill>
        <p:spPr>
          <a:xfrm>
            <a:off x="658368" y="4544568"/>
            <a:ext cx="329184" cy="329184"/>
          </a:xfrm>
          <a:prstGeom prst="rect">
            <a:avLst/>
          </a:prstGeom>
        </p:spPr>
      </p:pic>
      <p:sp>
        <p:nvSpPr>
          <p:cNvPr id="15" name="Text 9"/>
          <p:cNvSpPr txBox="1"/>
          <p:nvPr/>
        </p:nvSpPr>
        <p:spPr>
          <a:xfrm>
            <a:off x="1115568" y="4535424"/>
            <a:ext cx="4078224" cy="365760"/>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AraBERTv2</a:t>
            </a:r>
            <a:endParaRPr lang="en-US" sz="1400" dirty="0"/>
          </a:p>
        </p:txBody>
      </p:sp>
      <p:sp>
        <p:nvSpPr>
          <p:cNvPr id="16" name="Text 10"/>
          <p:cNvSpPr txBox="1"/>
          <p:nvPr/>
        </p:nvSpPr>
        <p:spPr>
          <a:xfrm>
            <a:off x="658368" y="5020056"/>
            <a:ext cx="4535424" cy="530352"/>
          </a:xfrm>
          <a:prstGeom prst="rect">
            <a:avLst/>
          </a:prstGeom>
          <a:noFill/>
          <a:ln/>
        </p:spPr>
        <p:txBody>
          <a:bodyPr wrap="square" lIns="0" tIns="0" rIns="0" bIns="0" rtlCol="0" anchor="t"/>
          <a:lstStyle/>
          <a:p>
            <a:pPr indent="0" marL="0">
              <a:spcAft>
                <a:spcPts val="400"/>
              </a:spcAft>
              <a:buNone/>
            </a:pPr>
            <a:r>
              <a:rPr lang="en-US" sz="1200" dirty="0">
                <a:solidFill>
                  <a:srgbClr val="5A6472"/>
                </a:solidFill>
                <a:latin typeface="Calibri" pitchFamily="34" charset="0"/>
                <a:ea typeface="Calibri" pitchFamily="34" charset="-122"/>
                <a:cs typeface="Calibri" pitchFamily="34" charset="-120"/>
              </a:rPr>
              <a:t>MSA-centric, included precisely because it errs differently from the other two</a:t>
            </a:r>
            <a:endParaRPr lang="en-US" sz="1200" dirty="0"/>
          </a:p>
        </p:txBody>
      </p:sp>
      <p:sp>
        <p:nvSpPr>
          <p:cNvPr id="17" name="Shape 11"/>
          <p:cNvSpPr/>
          <p:nvPr/>
        </p:nvSpPr>
        <p:spPr>
          <a:xfrm>
            <a:off x="5669280" y="1600200"/>
            <a:ext cx="6035040" cy="3950208"/>
          </a:xfrm>
          <a:prstGeom prst="roundRect">
            <a:avLst>
              <a:gd name="adj" fmla="val 1852"/>
            </a:avLst>
          </a:prstGeom>
          <a:solidFill>
            <a:srgbClr val="0D1117"/>
          </a:solidFill>
          <a:ln w="9525">
            <a:solidFill>
              <a:srgbClr val="26406E"/>
            </a:solidFill>
            <a:prstDash val="solid"/>
          </a:ln>
          <a:effectLst>
            <a:outerShdw sx="100000" sy="100000" kx="0" ky="0" algn="bl" rotWithShape="0" blurRad="101600" dist="25400" dir="5400000">
              <a:srgbClr val="0D1B3A">
                <a:alpha val="35000"/>
              </a:srgbClr>
            </a:outerShdw>
          </a:effectLst>
        </p:spPr>
      </p:sp>
      <p:pic>
        <p:nvPicPr>
          <p:cNvPr id="18" name="Image 3" descr="/home/aigca/ALEXIS/Posters/build/pptx/icons/shield_cyan.png">    </p:cNvPr>
          <p:cNvPicPr>
            <a:picLocks noChangeAspect="1"/>
          </p:cNvPicPr>
          <p:nvPr/>
        </p:nvPicPr>
        <p:blipFill>
          <a:blip r:embed="rId4"/>
          <a:stretch>
            <a:fillRect/>
          </a:stretch>
        </p:blipFill>
        <p:spPr>
          <a:xfrm>
            <a:off x="5943600" y="1828800"/>
            <a:ext cx="384048" cy="384048"/>
          </a:xfrm>
          <a:prstGeom prst="rect">
            <a:avLst/>
          </a:prstGeom>
        </p:spPr>
      </p:pic>
      <p:sp>
        <p:nvSpPr>
          <p:cNvPr id="19" name="Text 12"/>
          <p:cNvSpPr txBox="1"/>
          <p:nvPr/>
        </p:nvSpPr>
        <p:spPr>
          <a:xfrm>
            <a:off x="6446520" y="1810512"/>
            <a:ext cx="5029200" cy="4114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Fast Gradient Method (FGM)</a:t>
            </a:r>
            <a:endParaRPr lang="en-US" sz="1800" dirty="0"/>
          </a:p>
        </p:txBody>
      </p:sp>
      <p:sp>
        <p:nvSpPr>
          <p:cNvPr id="20" name="Text 13"/>
          <p:cNvSpPr txBox="1"/>
          <p:nvPr/>
        </p:nvSpPr>
        <p:spPr>
          <a:xfrm>
            <a:off x="5943600" y="2423160"/>
            <a:ext cx="5532120" cy="1234440"/>
          </a:xfrm>
          <a:prstGeom prst="rect">
            <a:avLst/>
          </a:prstGeom>
          <a:noFill/>
          <a:ln/>
        </p:spPr>
        <p:txBody>
          <a:bodyPr wrap="square" lIns="0" tIns="0" rIns="0" bIns="0" rtlCol="0" anchor="t"/>
          <a:lstStyle/>
          <a:p>
            <a:pPr indent="0" marL="0">
              <a:buNone/>
            </a:pPr>
            <a:r>
              <a:rPr lang="en-US" sz="1400" dirty="0">
                <a:solidFill>
                  <a:srgbClr val="D5DEEC"/>
                </a:solidFill>
                <a:latin typeface="Calibri" pitchFamily="34" charset="0"/>
                <a:ea typeface="Calibri" pitchFamily="34" charset="-122"/>
                <a:cs typeface="Calibri" pitchFamily="34" charset="-120"/>
              </a:rPr>
              <a:t>At every step a bounded perturbation (ε = 1.0) is added to the word-embedding layer along the direction of the loss gradient, and the model back-propagates through the perturbed pass as well as the clean one.</a:t>
            </a:r>
            <a:endParaRPr lang="en-US" sz="1400" dirty="0"/>
          </a:p>
        </p:txBody>
      </p:sp>
      <p:sp>
        <p:nvSpPr>
          <p:cNvPr id="21" name="Text 14"/>
          <p:cNvSpPr txBox="1"/>
          <p:nvPr/>
        </p:nvSpPr>
        <p:spPr>
          <a:xfrm>
            <a:off x="5943600" y="3657600"/>
            <a:ext cx="5532120" cy="868680"/>
          </a:xfrm>
          <a:prstGeom prst="rect">
            <a:avLst/>
          </a:prstGeom>
          <a:noFill/>
          <a:ln/>
        </p:spPr>
        <p:txBody>
          <a:bodyPr wrap="square" lIns="0" tIns="0" rIns="0" bIns="0" rtlCol="0" anchor="t"/>
          <a:lstStyle/>
          <a:p>
            <a:pPr indent="0" marL="0">
              <a:buNone/>
            </a:pPr>
            <a:r>
              <a:rPr lang="en-US" sz="1400" i="1" dirty="0">
                <a:solidFill>
                  <a:srgbClr val="9FB3D0"/>
                </a:solidFill>
                <a:latin typeface="Calibri" pitchFamily="34" charset="0"/>
                <a:ea typeface="Calibri" pitchFamily="34" charset="-122"/>
                <a:cs typeface="Calibri" pitchFamily="34" charset="-120"/>
              </a:rPr>
              <a:t>We read it as a proxy for the robustness a model needs when moving from a seen dialect’s embedding neighborhood to an unseen one’s.</a:t>
            </a:r>
            <a:endParaRPr lang="en-US" sz="1400" dirty="0"/>
          </a:p>
        </p:txBody>
      </p:sp>
      <p:sp>
        <p:nvSpPr>
          <p:cNvPr id="22" name="Text 15"/>
          <p:cNvSpPr txBox="1"/>
          <p:nvPr/>
        </p:nvSpPr>
        <p:spPr>
          <a:xfrm>
            <a:off x="5943600" y="4800600"/>
            <a:ext cx="5532120" cy="457200"/>
          </a:xfrm>
          <a:prstGeom prst="rect">
            <a:avLst/>
          </a:prstGeom>
          <a:noFill/>
          <a:ln/>
        </p:spPr>
        <p:txBody>
          <a:bodyPr wrap="square" lIns="0" tIns="0" rIns="0" bIns="0" rtlCol="0" anchor="ctr"/>
          <a:lstStyle/>
          <a:p>
            <a:pPr indent="0" marL="0">
              <a:buNone/>
            </a:pPr>
            <a:r>
              <a:rPr lang="en-US" sz="1500" b="1" dirty="0">
                <a:solidFill>
                  <a:srgbClr val="22C3FF"/>
                </a:solidFill>
                <a:latin typeface="Arial" pitchFamily="34" charset="0"/>
                <a:ea typeface="Arial" pitchFamily="34" charset="-122"/>
                <a:cs typeface="Arial" pitchFamily="34" charset="-120"/>
              </a:rPr>
              <a:t>+0.040 Macro F1</a:t>
            </a:r>
            <a:pPr indent="0" marL="0">
              <a:buNone/>
            </a:pPr>
            <a:r>
              <a:rPr lang="en-US" sz="1500" dirty="0">
                <a:solidFill>
                  <a:srgbClr val="FFFFFF"/>
                </a:solidFill>
                <a:latin typeface="Arial" pitchFamily="34" charset="0"/>
                <a:ea typeface="Arial" pitchFamily="34" charset="-122"/>
                <a:cs typeface="Arial" pitchFamily="34" charset="-120"/>
              </a:rPr>
              <a:t>  over the gold-only ensemble: the largest single gain</a:t>
            </a:r>
            <a:endParaRPr lang="en-US" sz="1500" dirty="0"/>
          </a:p>
        </p:txBody>
      </p:sp>
      <p:sp>
        <p:nvSpPr>
          <p:cNvPr id="23" name="Shape 16"/>
          <p:cNvSpPr/>
          <p:nvPr/>
        </p:nvSpPr>
        <p:spPr>
          <a:xfrm>
            <a:off x="457200" y="5715000"/>
            <a:ext cx="11274552" cy="502920"/>
          </a:xfrm>
          <a:prstGeom prst="roundRect">
            <a:avLst>
              <a:gd name="adj" fmla="val 14545"/>
            </a:avLst>
          </a:prstGeom>
          <a:solidFill>
            <a:srgbClr val="EAF1FF"/>
          </a:solidFill>
          <a:ln w="9525">
            <a:solidFill>
              <a:srgbClr val="C9DAFD"/>
            </a:solidFill>
            <a:prstDash val="solid"/>
          </a:ln>
        </p:spPr>
      </p:sp>
      <p:pic>
        <p:nvPicPr>
          <p:cNvPr id="24" name="Image 4" descr="/home/aigca/ALEXIS/Posters/build/pptx/icons/layers_blue.png">    </p:cNvPr>
          <p:cNvPicPr>
            <a:picLocks noChangeAspect="1"/>
          </p:cNvPicPr>
          <p:nvPr/>
        </p:nvPicPr>
        <p:blipFill>
          <a:blip r:embed="rId5"/>
          <a:stretch>
            <a:fillRect/>
          </a:stretch>
        </p:blipFill>
        <p:spPr>
          <a:xfrm>
            <a:off x="640080" y="5829300"/>
            <a:ext cx="274320" cy="274320"/>
          </a:xfrm>
          <a:prstGeom prst="rect">
            <a:avLst/>
          </a:prstGeom>
        </p:spPr>
      </p:pic>
      <p:sp>
        <p:nvSpPr>
          <p:cNvPr id="25" name="Text 17"/>
          <p:cNvSpPr txBox="1"/>
          <p:nvPr/>
        </p:nvSpPr>
        <p:spPr>
          <a:xfrm>
            <a:off x="1051560" y="5715000"/>
            <a:ext cx="10497312" cy="502920"/>
          </a:xfrm>
          <a:prstGeom prst="rect">
            <a:avLst/>
          </a:prstGeom>
          <a:noFill/>
          <a:ln/>
        </p:spPr>
        <p:txBody>
          <a:bodyPr wrap="square" lIns="0" tIns="0" rIns="0" bIns="0" rtlCol="0" anchor="ctr"/>
          <a:lstStyle/>
          <a:p>
            <a:pPr indent="0" marL="0">
              <a:buNone/>
            </a:pPr>
            <a:r>
              <a:rPr lang="en-US" sz="1300" dirty="0">
                <a:solidFill>
                  <a:srgbClr val="0D1117"/>
                </a:solidFill>
                <a:latin typeface="Calibri" pitchFamily="34" charset="0"/>
                <a:ea typeface="Calibri" pitchFamily="34" charset="-122"/>
                <a:cs typeface="Calibri" pitchFamily="34" charset="-120"/>
              </a:rPr>
              <a:t>Masked-mean pooling, not [CLS]: a few unfamiliar Lebanese sub-words cannot dominate a single aggregation point.</a:t>
            </a:r>
            <a:endParaRPr lang="en-US" sz="130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3" type="body" hasCustomPrompt="1"/>
          </p:nvPr>
        </p:nvSpPr>
        <p:spPr>
          <a:xfrm>
            <a:off x="786384" y="457200"/>
            <a:ext cx="8229600" cy="256032"/>
          </a:xfrm>
          <a:prstGeom prst="rect">
            <a:avLst/>
          </a:prstGeom>
          <a:noFill/>
          <a:ln/>
        </p:spPr>
        <p:txBody>
          <a:bodyPr wrap="square" lIns="0" tIns="0" rIns="0" bIns="0" rtlCol="0" anchor="ctr"/>
          <a:lstStyle/>
          <a:p>
            <a:pPr algn="l" indent="0" marL="0">
              <a:buNone/>
            </a:pPr>
            <a:r>
              <a:rPr lang="en-US" sz="1100" b="1" spc="100" kern="0" dirty="0">
                <a:solidFill>
                  <a:srgbClr val="1E6BFF"/>
                </a:solidFill>
                <a:latin typeface="Arial" pitchFamily="34" charset="0"/>
                <a:ea typeface="Arial" pitchFamily="34" charset="-122"/>
                <a:cs typeface="Arial" pitchFamily="34" charset="-120"/>
              </a:rPr>
              <a:t>USING THE UNLABELED TEST SET</a:t>
            </a:r>
            <a:endParaRPr lang="en-US" sz="1100" dirty="0"/>
          </a:p>
        </p:txBody>
      </p:sp>
      <p:sp>
        <p:nvSpPr>
          <p:cNvPr id="3" name="Text 1"/>
          <p:cNvSpPr/>
          <p:nvPr>
            <p:ph idx="104" type="title" hasCustomPrompt="1"/>
          </p:nvPr>
        </p:nvSpPr>
        <p:spPr>
          <a:xfrm>
            <a:off x="457200" y="768096"/>
            <a:ext cx="11247120" cy="566928"/>
          </a:xfrm>
          <a:prstGeom prst="rect">
            <a:avLst/>
          </a:prstGeom>
          <a:noFill/>
          <a:ln/>
        </p:spPr>
        <p:txBody>
          <a:bodyPr wrap="square" lIns="0" tIns="0" rIns="0" bIns="0" rtlCol="0" anchor="t"/>
          <a:lstStyle/>
          <a:p>
            <a:pPr algn="l" indent="0" marL="0">
              <a:buNone/>
            </a:pPr>
            <a:r>
              <a:rPr lang="en-US" sz="2800" b="1" dirty="0">
                <a:solidFill>
                  <a:srgbClr val="0D1117"/>
                </a:solidFill>
                <a:latin typeface="Arial" pitchFamily="34" charset="0"/>
                <a:ea typeface="Arial" pitchFamily="34" charset="-122"/>
                <a:cs typeface="Arial" pitchFamily="34" charset="-120"/>
              </a:rPr>
              <a:t>Self-training and character noise</a:t>
            </a:r>
            <a:endParaRPr lang="en-US" sz="2800" dirty="0"/>
          </a:p>
        </p:txBody>
      </p:sp>
      <p:sp>
        <p:nvSpPr>
          <p:cNvPr id="5" name="Shape 2"/>
          <p:cNvSpPr/>
          <p:nvPr/>
        </p:nvSpPr>
        <p:spPr>
          <a:xfrm>
            <a:off x="457200" y="1600200"/>
            <a:ext cx="5532120" cy="3611880"/>
          </a:xfrm>
          <a:prstGeom prst="roundRect">
            <a:avLst>
              <a:gd name="adj" fmla="val 2025"/>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6" name="Image 0" descr="/home/aigca/ALEXIS/Posters/build/pptx/icons/repeat_blue.png">    </p:cNvPr>
          <p:cNvPicPr>
            <a:picLocks noChangeAspect="1"/>
          </p:cNvPicPr>
          <p:nvPr/>
        </p:nvPicPr>
        <p:blipFill>
          <a:blip r:embed="rId1"/>
          <a:stretch>
            <a:fillRect/>
          </a:stretch>
        </p:blipFill>
        <p:spPr>
          <a:xfrm>
            <a:off x="685800" y="1810512"/>
            <a:ext cx="329184" cy="329184"/>
          </a:xfrm>
          <a:prstGeom prst="rect">
            <a:avLst/>
          </a:prstGeom>
        </p:spPr>
      </p:pic>
      <p:sp>
        <p:nvSpPr>
          <p:cNvPr id="7" name="Text 3"/>
          <p:cNvSpPr txBox="1"/>
          <p:nvPr/>
        </p:nvSpPr>
        <p:spPr>
          <a:xfrm>
            <a:off x="1143000" y="1801368"/>
            <a:ext cx="4663440" cy="365760"/>
          </a:xfrm>
          <a:prstGeom prst="rect">
            <a:avLst/>
          </a:prstGeom>
          <a:noFill/>
          <a:ln/>
        </p:spPr>
        <p:txBody>
          <a:bodyPr wrap="square" lIns="0" tIns="0" rIns="0" bIns="0" rtlCol="0" anchor="ctr"/>
          <a:lstStyle/>
          <a:p>
            <a:pPr indent="0" marL="0">
              <a:buNone/>
            </a:pPr>
            <a:r>
              <a:rPr lang="en-US" sz="1500" b="1" dirty="0">
                <a:solidFill>
                  <a:srgbClr val="0D1117"/>
                </a:solidFill>
                <a:latin typeface="Arial" pitchFamily="34" charset="0"/>
                <a:ea typeface="Arial" pitchFamily="34" charset="-122"/>
                <a:cs typeface="Arial" pitchFamily="34" charset="-120"/>
              </a:rPr>
              <a:t>Iterative self-training (3 rounds)</a:t>
            </a:r>
            <a:endParaRPr lang="en-US" sz="1500" dirty="0"/>
          </a:p>
        </p:txBody>
      </p:sp>
      <p:sp>
        <p:nvSpPr>
          <p:cNvPr id="8" name="Text 4"/>
          <p:cNvSpPr txBox="1"/>
          <p:nvPr/>
        </p:nvSpPr>
        <p:spPr>
          <a:xfrm>
            <a:off x="685800" y="2286000"/>
            <a:ext cx="5120640" cy="1554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5A6472"/>
                </a:solidFill>
                <a:latin typeface="Calibri" pitchFamily="34" charset="0"/>
                <a:ea typeface="Calibri" pitchFamily="34" charset="-122"/>
                <a:cs typeface="Calibri" pitchFamily="34" charset="-120"/>
              </a:rPr>
              <a:t>A committee of the current best models labels the test set; rows where it agrees above confidence 0.55 join training at 0.7× loss weight.</a:t>
            </a:r>
            <a:endParaRPr lang="en-US" sz="1300" dirty="0"/>
          </a:p>
          <a:p>
            <a:pPr marL="342900" indent="-342900">
              <a:spcAft>
                <a:spcPts val="600"/>
              </a:spcAft>
              <a:buSzPct val="100000"/>
              <a:buChar char="•"/>
            </a:pPr>
            <a:r>
              <a:rPr lang="en-US" sz="1300" dirty="0">
                <a:solidFill>
                  <a:srgbClr val="5A6472"/>
                </a:solidFill>
                <a:latin typeface="Calibri" pitchFamily="34" charset="0"/>
                <a:ea typeface="Calibri" pitchFamily="34" charset="-122"/>
                <a:cs typeface="Calibri" pitchFamily="34" charset="-120"/>
              </a:rPr>
              <a:t>Round 3 adds a per-class filter that trims each class’s least-confident 10%: a flat threshold under-represents neutral.</a:t>
            </a:r>
            <a:endParaRPr lang="en-US" sz="1300" dirty="0"/>
          </a:p>
        </p:txBody>
      </p:sp>
      <p:sp>
        <p:nvSpPr>
          <p:cNvPr id="9" name="Shape 5"/>
          <p:cNvSpPr/>
          <p:nvPr/>
        </p:nvSpPr>
        <p:spPr>
          <a:xfrm>
            <a:off x="685800" y="3931920"/>
            <a:ext cx="2377440" cy="1051560"/>
          </a:xfrm>
          <a:prstGeom prst="roundRect">
            <a:avLst>
              <a:gd name="adj" fmla="val 6957"/>
            </a:avLst>
          </a:prstGeom>
          <a:solidFill>
            <a:srgbClr val="F4F7FB"/>
          </a:solidFill>
          <a:ln w="9525">
            <a:solidFill>
              <a:srgbClr val="E3E9F2"/>
            </a:solidFill>
            <a:prstDash val="solid"/>
          </a:ln>
        </p:spPr>
      </p:sp>
      <p:sp>
        <p:nvSpPr>
          <p:cNvPr id="10" name="Text 6"/>
          <p:cNvSpPr txBox="1"/>
          <p:nvPr/>
        </p:nvSpPr>
        <p:spPr>
          <a:xfrm>
            <a:off x="868680" y="4005072"/>
            <a:ext cx="1097280" cy="548640"/>
          </a:xfrm>
          <a:prstGeom prst="rect">
            <a:avLst/>
          </a:prstGeom>
          <a:noFill/>
          <a:ln/>
        </p:spPr>
        <p:txBody>
          <a:bodyPr wrap="square" lIns="0" tIns="0" rIns="0" bIns="0" rtlCol="0" anchor="ctr"/>
          <a:lstStyle/>
          <a:p>
            <a:pPr indent="0" marL="0">
              <a:buNone/>
            </a:pPr>
            <a:r>
              <a:rPr lang="en-US" sz="2600" b="1" dirty="0">
                <a:solidFill>
                  <a:srgbClr val="0D1117"/>
                </a:solidFill>
                <a:latin typeface="Arial" pitchFamily="34" charset="0"/>
                <a:ea typeface="Arial" pitchFamily="34" charset="-122"/>
                <a:cs typeface="Arial" pitchFamily="34" charset="-120"/>
              </a:rPr>
              <a:t>386</a:t>
            </a:r>
            <a:endParaRPr lang="en-US" sz="2600" dirty="0"/>
          </a:p>
        </p:txBody>
      </p:sp>
      <p:sp>
        <p:nvSpPr>
          <p:cNvPr id="11" name="Text 7"/>
          <p:cNvSpPr txBox="1"/>
          <p:nvPr/>
        </p:nvSpPr>
        <p:spPr>
          <a:xfrm>
            <a:off x="1783080" y="4041648"/>
            <a:ext cx="1188720" cy="548640"/>
          </a:xfrm>
          <a:prstGeom prst="rect">
            <a:avLst/>
          </a:prstGeom>
          <a:noFill/>
          <a:ln/>
        </p:spPr>
        <p:txBody>
          <a:bodyPr wrap="square" lIns="0" tIns="0" rIns="0" bIns="0" rtlCol="0" anchor="t"/>
          <a:lstStyle/>
          <a:p>
            <a:pPr indent="0" marL="0">
              <a:buNone/>
            </a:pPr>
            <a:r>
              <a:rPr lang="en-US" sz="1150" dirty="0">
                <a:solidFill>
                  <a:srgbClr val="5A6472"/>
                </a:solidFill>
                <a:latin typeface="Calibri" pitchFamily="34" charset="0"/>
                <a:ea typeface="Calibri" pitchFamily="34" charset="-122"/>
                <a:cs typeface="Calibri" pitchFamily="34" charset="-120"/>
              </a:rPr>
              <a:t>of 525 rows</a:t>
            </a:r>
            <a:endParaRPr lang="en-US" sz="1150" dirty="0"/>
          </a:p>
          <a:p>
            <a:pPr indent="0" marL="0">
              <a:buNone/>
            </a:pPr>
            <a:r>
              <a:rPr lang="en-US" sz="1150" dirty="0">
                <a:solidFill>
                  <a:srgbClr val="5A6472"/>
                </a:solidFill>
                <a:latin typeface="Calibri" pitchFamily="34" charset="0"/>
                <a:ea typeface="Calibri" pitchFamily="34" charset="-122"/>
                <a:cs typeface="Calibri" pitchFamily="34" charset="-120"/>
              </a:rPr>
              <a:t>round 1</a:t>
            </a:r>
            <a:endParaRPr lang="en-US" sz="1150" dirty="0"/>
          </a:p>
        </p:txBody>
      </p:sp>
      <p:sp>
        <p:nvSpPr>
          <p:cNvPr id="12" name="Shape 8"/>
          <p:cNvSpPr/>
          <p:nvPr/>
        </p:nvSpPr>
        <p:spPr>
          <a:xfrm>
            <a:off x="3291840" y="3931920"/>
            <a:ext cx="2377440" cy="1051560"/>
          </a:xfrm>
          <a:prstGeom prst="roundRect">
            <a:avLst>
              <a:gd name="adj" fmla="val 6957"/>
            </a:avLst>
          </a:prstGeom>
          <a:solidFill>
            <a:srgbClr val="EAF1FF"/>
          </a:solidFill>
          <a:ln w="9525">
            <a:solidFill>
              <a:srgbClr val="C9DAFD"/>
            </a:solidFill>
            <a:prstDash val="solid"/>
          </a:ln>
        </p:spPr>
      </p:sp>
      <p:sp>
        <p:nvSpPr>
          <p:cNvPr id="13" name="Text 9"/>
          <p:cNvSpPr txBox="1"/>
          <p:nvPr/>
        </p:nvSpPr>
        <p:spPr>
          <a:xfrm>
            <a:off x="3474720" y="4005072"/>
            <a:ext cx="1097280" cy="548640"/>
          </a:xfrm>
          <a:prstGeom prst="rect">
            <a:avLst/>
          </a:prstGeom>
          <a:noFill/>
          <a:ln/>
        </p:spPr>
        <p:txBody>
          <a:bodyPr wrap="square" lIns="0" tIns="0" rIns="0" bIns="0" rtlCol="0" anchor="ctr"/>
          <a:lstStyle/>
          <a:p>
            <a:pPr indent="0" marL="0">
              <a:buNone/>
            </a:pPr>
            <a:r>
              <a:rPr lang="en-US" sz="2600" b="1" dirty="0">
                <a:solidFill>
                  <a:srgbClr val="1E6BFF"/>
                </a:solidFill>
                <a:latin typeface="Arial" pitchFamily="34" charset="0"/>
                <a:ea typeface="Arial" pitchFamily="34" charset="-122"/>
                <a:cs typeface="Arial" pitchFamily="34" charset="-120"/>
              </a:rPr>
              <a:t>499</a:t>
            </a:r>
            <a:endParaRPr lang="en-US" sz="2600" dirty="0"/>
          </a:p>
        </p:txBody>
      </p:sp>
      <p:sp>
        <p:nvSpPr>
          <p:cNvPr id="14" name="Text 10"/>
          <p:cNvSpPr txBox="1"/>
          <p:nvPr/>
        </p:nvSpPr>
        <p:spPr>
          <a:xfrm>
            <a:off x="4389120" y="4041648"/>
            <a:ext cx="1188720" cy="548640"/>
          </a:xfrm>
          <a:prstGeom prst="rect">
            <a:avLst/>
          </a:prstGeom>
          <a:noFill/>
          <a:ln/>
        </p:spPr>
        <p:txBody>
          <a:bodyPr wrap="square" lIns="0" tIns="0" rIns="0" bIns="0" rtlCol="0" anchor="t"/>
          <a:lstStyle/>
          <a:p>
            <a:pPr indent="0" marL="0">
              <a:buNone/>
            </a:pPr>
            <a:r>
              <a:rPr lang="en-US" sz="1150" dirty="0">
                <a:solidFill>
                  <a:srgbClr val="5A6472"/>
                </a:solidFill>
                <a:latin typeface="Calibri" pitchFamily="34" charset="0"/>
                <a:ea typeface="Calibri" pitchFamily="34" charset="-122"/>
                <a:cs typeface="Calibri" pitchFamily="34" charset="-120"/>
              </a:rPr>
              <a:t>of 525 rows</a:t>
            </a:r>
            <a:endParaRPr lang="en-US" sz="1150" dirty="0"/>
          </a:p>
          <a:p>
            <a:pPr indent="0" marL="0">
              <a:buNone/>
            </a:pPr>
            <a:r>
              <a:rPr lang="en-US" sz="1150" dirty="0">
                <a:solidFill>
                  <a:srgbClr val="5A6472"/>
                </a:solidFill>
                <a:latin typeface="Calibri" pitchFamily="34" charset="0"/>
                <a:ea typeface="Calibri" pitchFamily="34" charset="-122"/>
                <a:cs typeface="Calibri" pitchFamily="34" charset="-120"/>
              </a:rPr>
              <a:t>round 3</a:t>
            </a:r>
            <a:endParaRPr lang="en-US" sz="1150" dirty="0"/>
          </a:p>
        </p:txBody>
      </p:sp>
      <p:sp>
        <p:nvSpPr>
          <p:cNvPr id="15" name="Text 11"/>
          <p:cNvSpPr txBox="1"/>
          <p:nvPr/>
        </p:nvSpPr>
        <p:spPr>
          <a:xfrm>
            <a:off x="685800" y="4983480"/>
            <a:ext cx="5120640" cy="228600"/>
          </a:xfrm>
          <a:prstGeom prst="rect">
            <a:avLst/>
          </a:prstGeom>
          <a:noFill/>
          <a:ln/>
        </p:spPr>
        <p:txBody>
          <a:bodyPr wrap="square" lIns="0" tIns="0" rIns="0" bIns="0" rtlCol="0" anchor="t"/>
          <a:lstStyle/>
          <a:p>
            <a:pPr indent="0" marL="0">
              <a:buNone/>
            </a:pPr>
            <a:r>
              <a:rPr lang="en-US" sz="1050" dirty="0">
                <a:solidFill>
                  <a:srgbClr val="8A93A0"/>
                </a:solidFill>
                <a:latin typeface="Calibri" pitchFamily="34" charset="0"/>
                <a:ea typeface="Calibri" pitchFamily="34" charset="-122"/>
                <a:cs typeface="Calibri" pitchFamily="34" charset="-120"/>
              </a:rPr>
              <a:t>Coverage of the test set by pseudo-labels</a:t>
            </a:r>
            <a:endParaRPr lang="en-US" sz="1050" dirty="0"/>
          </a:p>
        </p:txBody>
      </p:sp>
      <p:sp>
        <p:nvSpPr>
          <p:cNvPr id="16" name="Shape 12"/>
          <p:cNvSpPr/>
          <p:nvPr/>
        </p:nvSpPr>
        <p:spPr>
          <a:xfrm>
            <a:off x="6199632" y="1600200"/>
            <a:ext cx="5532120" cy="3611880"/>
          </a:xfrm>
          <a:prstGeom prst="roundRect">
            <a:avLst>
              <a:gd name="adj" fmla="val 2025"/>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17" name="Image 1" descr="/home/aigca/ALEXIS/Posters/build/pptx/icons/type_blue.png">    </p:cNvPr>
          <p:cNvPicPr>
            <a:picLocks noChangeAspect="1"/>
          </p:cNvPicPr>
          <p:nvPr/>
        </p:nvPicPr>
        <p:blipFill>
          <a:blip r:embed="rId2"/>
          <a:stretch>
            <a:fillRect/>
          </a:stretch>
        </p:blipFill>
        <p:spPr>
          <a:xfrm>
            <a:off x="6428232" y="1810512"/>
            <a:ext cx="329184" cy="329184"/>
          </a:xfrm>
          <a:prstGeom prst="rect">
            <a:avLst/>
          </a:prstGeom>
        </p:spPr>
      </p:pic>
      <p:sp>
        <p:nvSpPr>
          <p:cNvPr id="18" name="Text 13"/>
          <p:cNvSpPr txBox="1"/>
          <p:nvPr/>
        </p:nvSpPr>
        <p:spPr>
          <a:xfrm>
            <a:off x="6885432" y="1801368"/>
            <a:ext cx="4663440" cy="365760"/>
          </a:xfrm>
          <a:prstGeom prst="rect">
            <a:avLst/>
          </a:prstGeom>
          <a:noFill/>
          <a:ln/>
        </p:spPr>
        <p:txBody>
          <a:bodyPr wrap="square" lIns="0" tIns="0" rIns="0" bIns="0" rtlCol="0" anchor="ctr"/>
          <a:lstStyle/>
          <a:p>
            <a:pPr indent="0" marL="0">
              <a:buNone/>
            </a:pPr>
            <a:r>
              <a:rPr lang="en-US" sz="1500" b="1" dirty="0">
                <a:solidFill>
                  <a:srgbClr val="0D1117"/>
                </a:solidFill>
                <a:latin typeface="Arial" pitchFamily="34" charset="0"/>
                <a:ea typeface="Arial" pitchFamily="34" charset="-122"/>
                <a:cs typeface="Arial" pitchFamily="34" charset="-120"/>
              </a:rPr>
              <a:t>Character-level noise augmentation</a:t>
            </a:r>
            <a:endParaRPr lang="en-US" sz="1500" dirty="0"/>
          </a:p>
        </p:txBody>
      </p:sp>
      <p:sp>
        <p:nvSpPr>
          <p:cNvPr id="19" name="Text 14"/>
          <p:cNvSpPr txBox="1"/>
          <p:nvPr/>
        </p:nvSpPr>
        <p:spPr>
          <a:xfrm>
            <a:off x="6766560" y="2331720"/>
            <a:ext cx="640080" cy="777240"/>
          </a:xfrm>
          <a:prstGeom prst="rect">
            <a:avLst/>
          </a:prstGeom>
          <a:noFill/>
          <a:ln/>
        </p:spPr>
        <p:txBody>
          <a:bodyPr wrap="square" lIns="0" tIns="0" rIns="0" bIns="0" rtlCol="0" anchor="ctr"/>
          <a:lstStyle/>
          <a:p>
            <a:pPr algn="ctr" indent="0" marL="0">
              <a:buNone/>
            </a:pPr>
            <a:r>
              <a:rPr lang="en-US" sz="3600" dirty="0">
                <a:solidFill>
                  <a:srgbClr val="1E6BFF"/>
                </a:solidFill>
                <a:latin typeface="Arial" pitchFamily="34" charset="0"/>
                <a:ea typeface="Arial" pitchFamily="34" charset="-122"/>
                <a:cs typeface="Arial" pitchFamily="34" charset="-120"/>
              </a:rPr>
              <a:t>ة</a:t>
            </a:r>
            <a:endParaRPr lang="en-US" sz="3600" dirty="0"/>
          </a:p>
        </p:txBody>
      </p:sp>
      <p:sp>
        <p:nvSpPr>
          <p:cNvPr id="20" name="Text 15"/>
          <p:cNvSpPr txBox="1"/>
          <p:nvPr/>
        </p:nvSpPr>
        <p:spPr>
          <a:xfrm>
            <a:off x="7406640" y="2331720"/>
            <a:ext cx="640080" cy="777240"/>
          </a:xfrm>
          <a:prstGeom prst="rect">
            <a:avLst/>
          </a:prstGeom>
          <a:noFill/>
          <a:ln/>
        </p:spPr>
        <p:txBody>
          <a:bodyPr wrap="square" lIns="0" tIns="0" rIns="0" bIns="0" rtlCol="0" anchor="ctr"/>
          <a:lstStyle/>
          <a:p>
            <a:pPr algn="ctr" indent="0" marL="0">
              <a:buNone/>
            </a:pPr>
            <a:r>
              <a:rPr lang="en-US" sz="2400" dirty="0">
                <a:solidFill>
                  <a:srgbClr val="8A93A0"/>
                </a:solidFill>
                <a:latin typeface="Arial" pitchFamily="34" charset="0"/>
                <a:ea typeface="Arial" pitchFamily="34" charset="-122"/>
                <a:cs typeface="Arial" pitchFamily="34" charset="-120"/>
              </a:rPr>
              <a:t>↔</a:t>
            </a:r>
            <a:endParaRPr lang="en-US" sz="2400" dirty="0"/>
          </a:p>
        </p:txBody>
      </p:sp>
      <p:sp>
        <p:nvSpPr>
          <p:cNvPr id="21" name="Text 16"/>
          <p:cNvSpPr txBox="1"/>
          <p:nvPr/>
        </p:nvSpPr>
        <p:spPr>
          <a:xfrm>
            <a:off x="8046720" y="2331720"/>
            <a:ext cx="640080" cy="777240"/>
          </a:xfrm>
          <a:prstGeom prst="rect">
            <a:avLst/>
          </a:prstGeom>
          <a:noFill/>
          <a:ln/>
        </p:spPr>
        <p:txBody>
          <a:bodyPr wrap="square" lIns="0" tIns="0" rIns="0" bIns="0" rtlCol="0" anchor="ctr"/>
          <a:lstStyle/>
          <a:p>
            <a:pPr algn="ctr" indent="0" marL="0">
              <a:buNone/>
            </a:pPr>
            <a:r>
              <a:rPr lang="en-US" sz="3600" dirty="0">
                <a:solidFill>
                  <a:srgbClr val="1E6BFF"/>
                </a:solidFill>
                <a:latin typeface="Arial" pitchFamily="34" charset="0"/>
                <a:ea typeface="Arial" pitchFamily="34" charset="-122"/>
                <a:cs typeface="Arial" pitchFamily="34" charset="-120"/>
              </a:rPr>
              <a:t>ه</a:t>
            </a:r>
            <a:endParaRPr lang="en-US" sz="3600" dirty="0"/>
          </a:p>
        </p:txBody>
      </p:sp>
      <p:sp>
        <p:nvSpPr>
          <p:cNvPr id="22" name="Text 17"/>
          <p:cNvSpPr txBox="1"/>
          <p:nvPr/>
        </p:nvSpPr>
        <p:spPr>
          <a:xfrm>
            <a:off x="9326880" y="2331720"/>
            <a:ext cx="640080" cy="777240"/>
          </a:xfrm>
          <a:prstGeom prst="rect">
            <a:avLst/>
          </a:prstGeom>
          <a:noFill/>
          <a:ln/>
        </p:spPr>
        <p:txBody>
          <a:bodyPr wrap="square" lIns="0" tIns="0" rIns="0" bIns="0" rtlCol="0" anchor="ctr"/>
          <a:lstStyle/>
          <a:p>
            <a:pPr algn="ctr" indent="0" marL="0">
              <a:buNone/>
            </a:pPr>
            <a:r>
              <a:rPr lang="en-US" sz="3600" dirty="0">
                <a:solidFill>
                  <a:srgbClr val="1E6BFF"/>
                </a:solidFill>
                <a:latin typeface="Arial" pitchFamily="34" charset="0"/>
                <a:ea typeface="Arial" pitchFamily="34" charset="-122"/>
                <a:cs typeface="Arial" pitchFamily="34" charset="-120"/>
              </a:rPr>
              <a:t>ى</a:t>
            </a:r>
            <a:endParaRPr lang="en-US" sz="3600" dirty="0"/>
          </a:p>
        </p:txBody>
      </p:sp>
      <p:sp>
        <p:nvSpPr>
          <p:cNvPr id="23" name="Text 18"/>
          <p:cNvSpPr txBox="1"/>
          <p:nvPr/>
        </p:nvSpPr>
        <p:spPr>
          <a:xfrm>
            <a:off x="9966960" y="2331720"/>
            <a:ext cx="640080" cy="777240"/>
          </a:xfrm>
          <a:prstGeom prst="rect">
            <a:avLst/>
          </a:prstGeom>
          <a:noFill/>
          <a:ln/>
        </p:spPr>
        <p:txBody>
          <a:bodyPr wrap="square" lIns="0" tIns="0" rIns="0" bIns="0" rtlCol="0" anchor="ctr"/>
          <a:lstStyle/>
          <a:p>
            <a:pPr algn="ctr" indent="0" marL="0">
              <a:buNone/>
            </a:pPr>
            <a:r>
              <a:rPr lang="en-US" sz="2400" dirty="0">
                <a:solidFill>
                  <a:srgbClr val="8A93A0"/>
                </a:solidFill>
                <a:latin typeface="Arial" pitchFamily="34" charset="0"/>
                <a:ea typeface="Arial" pitchFamily="34" charset="-122"/>
                <a:cs typeface="Arial" pitchFamily="34" charset="-120"/>
              </a:rPr>
              <a:t>↔</a:t>
            </a:r>
            <a:endParaRPr lang="en-US" sz="2400" dirty="0"/>
          </a:p>
        </p:txBody>
      </p:sp>
      <p:sp>
        <p:nvSpPr>
          <p:cNvPr id="24" name="Text 19"/>
          <p:cNvSpPr txBox="1"/>
          <p:nvPr/>
        </p:nvSpPr>
        <p:spPr>
          <a:xfrm>
            <a:off x="10607040" y="2331720"/>
            <a:ext cx="640080" cy="777240"/>
          </a:xfrm>
          <a:prstGeom prst="rect">
            <a:avLst/>
          </a:prstGeom>
          <a:noFill/>
          <a:ln/>
        </p:spPr>
        <p:txBody>
          <a:bodyPr wrap="square" lIns="0" tIns="0" rIns="0" bIns="0" rtlCol="0" anchor="ctr"/>
          <a:lstStyle/>
          <a:p>
            <a:pPr algn="ctr" indent="0" marL="0">
              <a:buNone/>
            </a:pPr>
            <a:r>
              <a:rPr lang="en-US" sz="3600" dirty="0">
                <a:solidFill>
                  <a:srgbClr val="1E6BFF"/>
                </a:solidFill>
                <a:latin typeface="Arial" pitchFamily="34" charset="0"/>
                <a:ea typeface="Arial" pitchFamily="34" charset="-122"/>
                <a:cs typeface="Arial" pitchFamily="34" charset="-120"/>
              </a:rPr>
              <a:t>ي</a:t>
            </a:r>
            <a:endParaRPr lang="en-US" sz="3600" dirty="0"/>
          </a:p>
        </p:txBody>
      </p:sp>
      <p:sp>
        <p:nvSpPr>
          <p:cNvPr id="25" name="Text 20"/>
          <p:cNvSpPr txBox="1"/>
          <p:nvPr/>
        </p:nvSpPr>
        <p:spPr>
          <a:xfrm>
            <a:off x="6428232" y="3246120"/>
            <a:ext cx="5074920" cy="1828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5A6472"/>
                </a:solidFill>
                <a:latin typeface="Calibri" pitchFamily="34" charset="0"/>
                <a:ea typeface="Calibri" pitchFamily="34" charset="-122"/>
                <a:cs typeface="Calibri" pitchFamily="34" charset="-120"/>
              </a:rPr>
              <a:t>One noised copy of every gold row: Arabic letter-variant swaps (real orthographic variation) plus delete, duplicate and swap at ≈6% per character.</a:t>
            </a:r>
            <a:endParaRPr lang="en-US" sz="1300" dirty="0"/>
          </a:p>
          <a:p>
            <a:pPr marL="342900" indent="-342900">
              <a:spcAft>
                <a:spcPts val="600"/>
              </a:spcAft>
              <a:buSzPct val="100000"/>
              <a:buChar char="•"/>
            </a:pPr>
            <a:r>
              <a:rPr lang="en-US" sz="1300" dirty="0">
                <a:solidFill>
                  <a:srgbClr val="5A6472"/>
                </a:solidFill>
                <a:latin typeface="Calibri" pitchFamily="34" charset="0"/>
                <a:ea typeface="Calibri" pitchFamily="34" charset="-122"/>
                <a:cs typeface="Calibri" pitchFamily="34" charset="-120"/>
              </a:rPr>
              <a:t>Attacks the Lebanese OOV gap directly and makes no assumption about Lebanese class proportions.</a:t>
            </a:r>
            <a:endParaRPr lang="en-US" sz="1300" dirty="0"/>
          </a:p>
        </p:txBody>
      </p:sp>
      <p:sp>
        <p:nvSpPr>
          <p:cNvPr id="26" name="Shape 21"/>
          <p:cNvSpPr/>
          <p:nvPr/>
        </p:nvSpPr>
        <p:spPr>
          <a:xfrm>
            <a:off x="457200" y="5394960"/>
            <a:ext cx="11274552" cy="777240"/>
          </a:xfrm>
          <a:prstGeom prst="roundRect">
            <a:avLst>
              <a:gd name="adj" fmla="val 9412"/>
            </a:avLst>
          </a:prstGeom>
          <a:solidFill>
            <a:srgbClr val="EAF1FF"/>
          </a:solidFill>
          <a:ln w="9525">
            <a:solidFill>
              <a:srgbClr val="C9DAFD"/>
            </a:solidFill>
            <a:prstDash val="solid"/>
          </a:ln>
        </p:spPr>
      </p:sp>
      <p:pic>
        <p:nvPicPr>
          <p:cNvPr id="27" name="Image 2" descr="/home/aigca/ALEXIS/Posters/build/pptx/icons/layers_blue.png">    </p:cNvPr>
          <p:cNvPicPr>
            <a:picLocks noChangeAspect="1"/>
          </p:cNvPicPr>
          <p:nvPr/>
        </p:nvPicPr>
        <p:blipFill>
          <a:blip r:embed="rId3"/>
          <a:stretch>
            <a:fillRect/>
          </a:stretch>
        </p:blipFill>
        <p:spPr>
          <a:xfrm>
            <a:off x="640080" y="5646420"/>
            <a:ext cx="274320" cy="274320"/>
          </a:xfrm>
          <a:prstGeom prst="rect">
            <a:avLst/>
          </a:prstGeom>
        </p:spPr>
      </p:pic>
      <p:sp>
        <p:nvSpPr>
          <p:cNvPr id="28" name="Text 22"/>
          <p:cNvSpPr txBox="1"/>
          <p:nvPr/>
        </p:nvSpPr>
        <p:spPr>
          <a:xfrm>
            <a:off x="1051560" y="5394960"/>
            <a:ext cx="10497312" cy="777240"/>
          </a:xfrm>
          <a:prstGeom prst="rect">
            <a:avLst/>
          </a:prstGeom>
          <a:noFill/>
          <a:ln/>
        </p:spPr>
        <p:txBody>
          <a:bodyPr wrap="square" lIns="0" tIns="0" rIns="0" bIns="0" rtlCol="0" anchor="ctr"/>
          <a:lstStyle/>
          <a:p>
            <a:pPr indent="0" marL="0">
              <a:buNone/>
            </a:pPr>
            <a:r>
              <a:rPr lang="en-US" sz="1300" dirty="0">
                <a:solidFill>
                  <a:srgbClr val="0D1117"/>
                </a:solidFill>
                <a:latin typeface="Calibri" pitchFamily="34" charset="0"/>
                <a:ea typeface="Calibri" pitchFamily="34" charset="-122"/>
                <a:cs typeface="Calibri" pitchFamily="34" charset="-120"/>
              </a:rPr>
              <a:t>Uniform softmax ensemble of the three backbones. The 58 test rows (11.0%) byte-identical to training get an exact-match lookup; models and ablations are judged on the other 89.0%.</a:t>
            </a:r>
            <a:endParaRPr lang="en-US" sz="130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3" type="body" hasCustomPrompt="1"/>
          </p:nvPr>
        </p:nvSpPr>
        <p:spPr>
          <a:xfrm>
            <a:off x="822960" y="2011680"/>
            <a:ext cx="2926080" cy="1828800"/>
          </a:xfrm>
          <a:prstGeom prst="rect">
            <a:avLst/>
          </a:prstGeom>
          <a:noFill/>
          <a:ln/>
        </p:spPr>
        <p:txBody>
          <a:bodyPr wrap="square" lIns="0" tIns="0" rIns="0" bIns="0" rtlCol="0" anchor="ctr"/>
          <a:lstStyle/>
          <a:p>
            <a:pPr algn="l" indent="0" marL="0">
              <a:buNone/>
            </a:pPr>
            <a:r>
              <a:rPr lang="en-US" sz="12000" b="1" dirty="0">
                <a:solidFill>
                  <a:srgbClr val="1E6BFF"/>
                </a:solidFill>
                <a:latin typeface="Arial" pitchFamily="34" charset="0"/>
                <a:ea typeface="Arial" pitchFamily="34" charset="-122"/>
                <a:cs typeface="Arial" pitchFamily="34" charset="-120"/>
              </a:rPr>
              <a:t>02</a:t>
            </a:r>
            <a:endParaRPr lang="en-US" sz="12000" dirty="0"/>
          </a:p>
        </p:txBody>
      </p:sp>
      <p:sp>
        <p:nvSpPr>
          <p:cNvPr id="3" name="Text 1"/>
          <p:cNvSpPr/>
          <p:nvPr>
            <p:ph idx="104" type="title" hasCustomPrompt="1"/>
          </p:nvPr>
        </p:nvSpPr>
        <p:spPr>
          <a:xfrm>
            <a:off x="4754880" y="2468880"/>
            <a:ext cx="6949440" cy="822960"/>
          </a:xfrm>
          <a:prstGeom prst="rect">
            <a:avLst/>
          </a:prstGeom>
          <a:noFill/>
          <a:ln/>
        </p:spPr>
        <p:txBody>
          <a:bodyPr wrap="square" lIns="0" tIns="0" rIns="0" bIns="0" rtlCol="0" anchor="ctr"/>
          <a:lstStyle/>
          <a:p>
            <a:pPr algn="l" indent="0" marL="0">
              <a:buNone/>
            </a:pPr>
            <a:r>
              <a:rPr lang="en-US" sz="3600" b="1" dirty="0">
                <a:solidFill>
                  <a:srgbClr val="FFFFFF"/>
                </a:solidFill>
                <a:latin typeface="Arial" pitchFamily="34" charset="0"/>
                <a:ea typeface="Arial" pitchFamily="34" charset="-122"/>
                <a:cs typeface="Arial" pitchFamily="34" charset="-120"/>
              </a:rPr>
              <a:t>Results</a:t>
            </a:r>
            <a:endParaRPr lang="en-US" sz="3600" dirty="0"/>
          </a:p>
        </p:txBody>
      </p:sp>
      <p:sp>
        <p:nvSpPr>
          <p:cNvPr id="4" name="Text 1"/>
          <p:cNvSpPr/>
          <p:nvPr>
            <p:ph idx="105" type="body" hasCustomPrompt="1"/>
          </p:nvPr>
        </p:nvSpPr>
        <p:spPr>
          <a:xfrm>
            <a:off x="4773168" y="3310128"/>
            <a:ext cx="6858000" cy="548640"/>
          </a:xfrm>
          <a:prstGeom prst="rect">
            <a:avLst/>
          </a:prstGeom>
          <a:noFill/>
          <a:ln/>
        </p:spPr>
        <p:txBody>
          <a:bodyPr wrap="square" lIns="0" tIns="0" rIns="0" bIns="0" rtlCol="0" anchor="t"/>
          <a:lstStyle/>
          <a:p>
            <a:pPr algn="l" indent="0" marL="0">
              <a:buNone/>
            </a:pPr>
            <a:r>
              <a:rPr lang="en-US" sz="1600" dirty="0">
                <a:solidFill>
                  <a:srgbClr val="9FB3D0"/>
                </a:solidFill>
                <a:latin typeface="Calibri" pitchFamily="34" charset="0"/>
                <a:ea typeface="Calibri" pitchFamily="34" charset="-122"/>
                <a:cs typeface="Calibri" pitchFamily="34" charset="-120"/>
              </a:rPr>
              <a:t>Official leaderboard, ablation and error analysis</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3" type="body" hasCustomPrompt="1"/>
          </p:nvPr>
        </p:nvSpPr>
        <p:spPr>
          <a:xfrm>
            <a:off x="786384" y="457200"/>
            <a:ext cx="8229600" cy="256032"/>
          </a:xfrm>
          <a:prstGeom prst="rect">
            <a:avLst/>
          </a:prstGeom>
          <a:noFill/>
          <a:ln/>
        </p:spPr>
        <p:txBody>
          <a:bodyPr wrap="square" lIns="0" tIns="0" rIns="0" bIns="0" rtlCol="0" anchor="ctr"/>
          <a:lstStyle/>
          <a:p>
            <a:pPr algn="l" indent="0" marL="0">
              <a:buNone/>
            </a:pPr>
            <a:r>
              <a:rPr lang="en-US" sz="1100" b="1" spc="100" kern="0" dirty="0">
                <a:solidFill>
                  <a:srgbClr val="1E6BFF"/>
                </a:solidFill>
                <a:latin typeface="Arial" pitchFamily="34" charset="0"/>
                <a:ea typeface="Arial" pitchFamily="34" charset="-122"/>
                <a:cs typeface="Arial" pitchFamily="34" charset="-120"/>
              </a:rPr>
              <a:t>OFFICIAL TEST SET</a:t>
            </a:r>
            <a:endParaRPr lang="en-US" sz="1100" dirty="0"/>
          </a:p>
        </p:txBody>
      </p:sp>
      <p:sp>
        <p:nvSpPr>
          <p:cNvPr id="3" name="Text 1"/>
          <p:cNvSpPr/>
          <p:nvPr>
            <p:ph idx="104" type="title" hasCustomPrompt="1"/>
          </p:nvPr>
        </p:nvSpPr>
        <p:spPr>
          <a:xfrm>
            <a:off x="457200" y="768096"/>
            <a:ext cx="11247120" cy="566928"/>
          </a:xfrm>
          <a:prstGeom prst="rect">
            <a:avLst/>
          </a:prstGeom>
          <a:noFill/>
          <a:ln/>
        </p:spPr>
        <p:txBody>
          <a:bodyPr wrap="square" lIns="0" tIns="0" rIns="0" bIns="0" rtlCol="0" anchor="t"/>
          <a:lstStyle/>
          <a:p>
            <a:pPr algn="l" indent="0" marL="0">
              <a:buNone/>
            </a:pPr>
            <a:r>
              <a:rPr lang="en-US" sz="2800" b="1" dirty="0">
                <a:solidFill>
                  <a:srgbClr val="0D1117"/>
                </a:solidFill>
                <a:latin typeface="Arial" pitchFamily="34" charset="0"/>
                <a:ea typeface="Arial" pitchFamily="34" charset="-122"/>
                <a:cs typeface="Arial" pitchFamily="34" charset="-120"/>
              </a:rPr>
              <a:t>DialectSentEval 2026 Subtask 1 leaderboard</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6766560" cy="914400"/>
        </p:xfrm>
        <a:graphic>
          <a:graphicData uri="http://schemas.openxmlformats.org/drawingml/2006/table">
            <a:tbl>
              <a:tblPr/>
              <a:tblGrid>
                <a:gridCol w="731520"/>
                <a:gridCol w="4206240"/>
                <a:gridCol w="1828800"/>
              </a:tblGrid>
              <a:tr h="338328">
                <a:tc>
                  <a:txBody>
                    <a:bodyPr/>
                    <a:lstStyle/>
                    <a:p>
                      <a:pPr algn="ctr" indent="0" marL="0">
                        <a:buNone/>
                      </a:pPr>
                      <a:r>
                        <a:rPr lang="en-US" sz="1150" b="1" spc="50" kern="0" dirty="0">
                          <a:solidFill>
                            <a:srgbClr val="FFFFFF"/>
                          </a:solidFill>
                          <a:latin typeface="Arial" pitchFamily="34" charset="0"/>
                          <a:ea typeface="Arial" pitchFamily="34" charset="-122"/>
                          <a:cs typeface="Arial" pitchFamily="34" charset="-120"/>
                        </a:rPr>
                        <a:t>#</a:t>
                      </a:r>
                      <a:endParaRPr lang="en-US" sz="1150" dirty="0">
                        <a:latin typeface="Arial" charset="0"/>
                        <a:ea typeface="Arial" charset="0"/>
                        <a:cs typeface="Arial"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0D1117"/>
                    </a:solidFill>
                  </a:tcPr>
                </a:tc>
                <a:tc>
                  <a:txBody>
                    <a:bodyPr/>
                    <a:lstStyle/>
                    <a:p>
                      <a:pPr algn="l" indent="0" marL="0">
                        <a:buNone/>
                      </a:pPr>
                      <a:r>
                        <a:rPr lang="en-US" sz="1150" b="1" spc="50" kern="0" dirty="0">
                          <a:solidFill>
                            <a:srgbClr val="FFFFFF"/>
                          </a:solidFill>
                          <a:latin typeface="Arial" pitchFamily="34" charset="0"/>
                          <a:ea typeface="Arial" pitchFamily="34" charset="-122"/>
                          <a:cs typeface="Arial" pitchFamily="34" charset="-120"/>
                        </a:rPr>
                        <a:t>Team / participant</a:t>
                      </a:r>
                      <a:endParaRPr lang="en-US" sz="1150" dirty="0">
                        <a:latin typeface="Arial" charset="0"/>
                        <a:ea typeface="Arial" charset="0"/>
                        <a:cs typeface="Arial"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0D1117"/>
                    </a:solidFill>
                  </a:tcPr>
                </a:tc>
                <a:tc>
                  <a:txBody>
                    <a:bodyPr/>
                    <a:lstStyle/>
                    <a:p>
                      <a:pPr algn="r" indent="0" marL="0">
                        <a:buNone/>
                      </a:pPr>
                      <a:r>
                        <a:rPr lang="en-US" sz="1150" b="1" spc="50" kern="0" dirty="0">
                          <a:solidFill>
                            <a:srgbClr val="FFFFFF"/>
                          </a:solidFill>
                          <a:latin typeface="Arial" pitchFamily="34" charset="0"/>
                          <a:ea typeface="Arial" pitchFamily="34" charset="-122"/>
                          <a:cs typeface="Arial" pitchFamily="34" charset="-120"/>
                        </a:rPr>
                        <a:t>Macro F1</a:t>
                      </a:r>
                      <a:endParaRPr lang="en-US" sz="1150" dirty="0">
                        <a:latin typeface="Arial" charset="0"/>
                        <a:ea typeface="Arial" charset="0"/>
                        <a:cs typeface="Arial"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0D1117"/>
                    </a:solidFill>
                  </a:tcPr>
                </a:tc>
              </a:tr>
              <a:tr h="338328">
                <a:tc>
                  <a:txBody>
                    <a:bodyPr/>
                    <a:lstStyle/>
                    <a:p>
                      <a:pPr algn="ctr" indent="0" marL="0">
                        <a:buNone/>
                      </a:pPr>
                      <a:r>
                        <a:rPr lang="en-US" sz="1300" b="1" dirty="0">
                          <a:solidFill>
                            <a:srgbClr val="1553CC"/>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EAF1FF"/>
                    </a:solidFill>
                  </a:tcPr>
                </a:tc>
                <a:tc>
                  <a:txBody>
                    <a:bodyPr/>
                    <a:lstStyle/>
                    <a:p>
                      <a:pPr algn="l" indent="0" marL="0">
                        <a:buNone/>
                      </a:pPr>
                      <a:r>
                        <a:rPr lang="en-US" sz="1300" b="1" dirty="0">
                          <a:solidFill>
                            <a:srgbClr val="1553CC"/>
                          </a:solidFill>
                          <a:latin typeface="Calibri" pitchFamily="34" charset="0"/>
                          <a:ea typeface="Calibri" pitchFamily="34" charset="-122"/>
                          <a:cs typeface="Calibri" pitchFamily="34" charset="-120"/>
                        </a:rPr>
                        <a:t>ALEXIS (ours)</a:t>
                      </a:r>
                      <a:endParaRPr lang="en-US" sz="13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EAF1FF"/>
                    </a:solidFill>
                  </a:tcPr>
                </a:tc>
                <a:tc>
                  <a:txBody>
                    <a:bodyPr/>
                    <a:lstStyle/>
                    <a:p>
                      <a:pPr algn="r" indent="0" marL="0">
                        <a:buNone/>
                      </a:pPr>
                      <a:r>
                        <a:rPr lang="en-US" sz="1300" b="1" dirty="0">
                          <a:solidFill>
                            <a:srgbClr val="1553CC"/>
                          </a:solidFill>
                          <a:latin typeface="Calibri" pitchFamily="34" charset="0"/>
                          <a:ea typeface="Calibri" pitchFamily="34" charset="-122"/>
                          <a:cs typeface="Calibri" pitchFamily="34" charset="-120"/>
                        </a:rPr>
                        <a:t>0.8667</a:t>
                      </a:r>
                      <a:endParaRPr lang="en-US" sz="13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EAF1FF"/>
                    </a:solidFill>
                  </a:tcPr>
                </a:tc>
              </a:tr>
              <a:tr h="338328">
                <a:tc>
                  <a:txBody>
                    <a:bodyPr/>
                    <a:lstStyle/>
                    <a:p>
                      <a:pPr algn="ctr" indent="0" marL="0">
                        <a:buNone/>
                      </a:pPr>
                      <a:r>
                        <a:rPr lang="en-US" sz="1300" dirty="0">
                          <a:solidFill>
                            <a:srgbClr val="0D1117"/>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D1117"/>
                          </a:solidFill>
                          <a:latin typeface="Calibri" pitchFamily="34" charset="0"/>
                          <a:ea typeface="Calibri" pitchFamily="34" charset="-122"/>
                          <a:cs typeface="Calibri" pitchFamily="34" charset="-120"/>
                        </a:rPr>
                        <a:t>ajwad_hossain</a:t>
                      </a:r>
                      <a:endParaRPr lang="en-US" sz="13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D1117"/>
                          </a:solidFill>
                          <a:latin typeface="Calibri" pitchFamily="34" charset="0"/>
                          <a:ea typeface="Calibri" pitchFamily="34" charset="-122"/>
                          <a:cs typeface="Calibri" pitchFamily="34" charset="-120"/>
                        </a:rPr>
                        <a:t>0.8210</a:t>
                      </a:r>
                      <a:endParaRPr lang="en-US" sz="13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338328">
                <a:tc>
                  <a:txBody>
                    <a:bodyPr/>
                    <a:lstStyle/>
                    <a:p>
                      <a:pPr algn="ctr" indent="0" marL="0">
                        <a:buNone/>
                      </a:pPr>
                      <a:r>
                        <a:rPr lang="en-US" sz="1300" dirty="0">
                          <a:solidFill>
                            <a:srgbClr val="0D1117"/>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D1117"/>
                          </a:solidFill>
                          <a:latin typeface="Calibri" pitchFamily="34" charset="0"/>
                          <a:ea typeface="Calibri" pitchFamily="34" charset="-122"/>
                          <a:cs typeface="Calibri" pitchFamily="34" charset="-120"/>
                        </a:rPr>
                        <a:t>tasneemduridi</a:t>
                      </a:r>
                      <a:endParaRPr lang="en-US" sz="13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D1117"/>
                          </a:solidFill>
                          <a:latin typeface="Calibri" pitchFamily="34" charset="0"/>
                          <a:ea typeface="Calibri" pitchFamily="34" charset="-122"/>
                          <a:cs typeface="Calibri" pitchFamily="34" charset="-120"/>
                        </a:rPr>
                        <a:t>0.8174</a:t>
                      </a:r>
                      <a:endParaRPr lang="en-US" sz="13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338328">
                <a:tc>
                  <a:txBody>
                    <a:bodyPr/>
                    <a:lstStyle/>
                    <a:p>
                      <a:pPr algn="ctr" indent="0" marL="0">
                        <a:buNone/>
                      </a:pPr>
                      <a:r>
                        <a:rPr lang="en-US" sz="1300" dirty="0">
                          <a:solidFill>
                            <a:srgbClr val="0D1117"/>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D1117"/>
                          </a:solidFill>
                          <a:latin typeface="Calibri" pitchFamily="34" charset="0"/>
                          <a:ea typeface="Calibri" pitchFamily="34" charset="-122"/>
                          <a:cs typeface="Calibri" pitchFamily="34" charset="-120"/>
                        </a:rPr>
                        <a:t>habiba_ayman</a:t>
                      </a:r>
                      <a:endParaRPr lang="en-US" sz="13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D1117"/>
                          </a:solidFill>
                          <a:latin typeface="Calibri" pitchFamily="34" charset="0"/>
                          <a:ea typeface="Calibri" pitchFamily="34" charset="-122"/>
                          <a:cs typeface="Calibri" pitchFamily="34" charset="-120"/>
                        </a:rPr>
                        <a:t>0.8140</a:t>
                      </a:r>
                      <a:endParaRPr lang="en-US" sz="13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338328">
                <a:tc>
                  <a:txBody>
                    <a:bodyPr/>
                    <a:lstStyle/>
                    <a:p>
                      <a:pPr algn="ctr" indent="0" marL="0">
                        <a:buNone/>
                      </a:pPr>
                      <a:r>
                        <a:rPr lang="en-US" sz="1300" dirty="0">
                          <a:solidFill>
                            <a:srgbClr val="0D1117"/>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D1117"/>
                          </a:solidFill>
                          <a:latin typeface="Calibri" pitchFamily="34" charset="0"/>
                          <a:ea typeface="Calibri" pitchFamily="34" charset="-122"/>
                          <a:cs typeface="Calibri" pitchFamily="34" charset="-120"/>
                        </a:rPr>
                        <a:t>normalman159</a:t>
                      </a:r>
                      <a:endParaRPr lang="en-US" sz="13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D1117"/>
                          </a:solidFill>
                          <a:latin typeface="Calibri" pitchFamily="34" charset="0"/>
                          <a:ea typeface="Calibri" pitchFamily="34" charset="-122"/>
                          <a:cs typeface="Calibri" pitchFamily="34" charset="-120"/>
                        </a:rPr>
                        <a:t>0.8010</a:t>
                      </a:r>
                      <a:endParaRPr lang="en-US" sz="13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338328">
                <a:tc>
                  <a:txBody>
                    <a:bodyPr/>
                    <a:lstStyle/>
                    <a:p>
                      <a:pPr algn="ctr" indent="0" marL="0">
                        <a:buNone/>
                      </a:pPr>
                      <a:r>
                        <a:rPr lang="en-US" sz="1300" dirty="0">
                          <a:solidFill>
                            <a:srgbClr val="0D1117"/>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D1117"/>
                          </a:solidFill>
                          <a:latin typeface="Calibri" pitchFamily="34" charset="0"/>
                          <a:ea typeface="Calibri" pitchFamily="34" charset="-122"/>
                          <a:cs typeface="Calibri" pitchFamily="34" charset="-120"/>
                        </a:rPr>
                        <a:t>ahmadalmoustafa</a:t>
                      </a:r>
                      <a:endParaRPr lang="en-US" sz="13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D1117"/>
                          </a:solidFill>
                          <a:latin typeface="Calibri" pitchFamily="34" charset="0"/>
                          <a:ea typeface="Calibri" pitchFamily="34" charset="-122"/>
                          <a:cs typeface="Calibri" pitchFamily="34" charset="-120"/>
                        </a:rPr>
                        <a:t>0.7977</a:t>
                      </a:r>
                      <a:endParaRPr lang="en-US" sz="13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338328">
                <a:tc>
                  <a:txBody>
                    <a:bodyPr/>
                    <a:lstStyle/>
                    <a:p>
                      <a:pPr algn="ctr" indent="0" marL="0">
                        <a:buNone/>
                      </a:pPr>
                      <a:r>
                        <a:rPr lang="en-US" sz="1300" dirty="0">
                          <a:solidFill>
                            <a:srgbClr val="0D1117"/>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D1117"/>
                          </a:solidFill>
                          <a:latin typeface="Calibri" pitchFamily="34" charset="0"/>
                          <a:ea typeface="Calibri" pitchFamily="34" charset="-122"/>
                          <a:cs typeface="Calibri" pitchFamily="34" charset="-120"/>
                        </a:rPr>
                        <a:t>mona_</a:t>
                      </a:r>
                      <a:endParaRPr lang="en-US" sz="13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D1117"/>
                          </a:solidFill>
                          <a:latin typeface="Calibri" pitchFamily="34" charset="0"/>
                          <a:ea typeface="Calibri" pitchFamily="34" charset="-122"/>
                          <a:cs typeface="Calibri" pitchFamily="34" charset="-120"/>
                        </a:rPr>
                        <a:t>0.7953</a:t>
                      </a:r>
                      <a:endParaRPr lang="en-US" sz="13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338328">
                <a:tc>
                  <a:txBody>
                    <a:bodyPr/>
                    <a:lstStyle/>
                    <a:p>
                      <a:pPr algn="ctr" indent="0" marL="0">
                        <a:buNone/>
                      </a:pPr>
                      <a:r>
                        <a:rPr lang="en-US" sz="1300" dirty="0">
                          <a:solidFill>
                            <a:srgbClr val="0D1117"/>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D1117"/>
                          </a:solidFill>
                          <a:latin typeface="Calibri" pitchFamily="34" charset="0"/>
                          <a:ea typeface="Calibri" pitchFamily="34" charset="-122"/>
                          <a:cs typeface="Calibri" pitchFamily="34" charset="-120"/>
                        </a:rPr>
                        <a:t>faisalm93</a:t>
                      </a:r>
                      <a:endParaRPr lang="en-US" sz="13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D1117"/>
                          </a:solidFill>
                          <a:latin typeface="Calibri" pitchFamily="34" charset="0"/>
                          <a:ea typeface="Calibri" pitchFamily="34" charset="-122"/>
                          <a:cs typeface="Calibri" pitchFamily="34" charset="-120"/>
                        </a:rPr>
                        <a:t>0.7939</a:t>
                      </a:r>
                      <a:endParaRPr lang="en-US" sz="13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338328">
                <a:tc>
                  <a:txBody>
                    <a:bodyPr/>
                    <a:lstStyle/>
                    <a:p>
                      <a:pPr algn="ctr" indent="0" marL="0">
                        <a:buNone/>
                      </a:pPr>
                      <a:r>
                        <a:rPr lang="en-US" sz="1300" dirty="0">
                          <a:solidFill>
                            <a:srgbClr val="0D1117"/>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D1117"/>
                          </a:solidFill>
                          <a:latin typeface="Calibri" pitchFamily="34" charset="0"/>
                          <a:ea typeface="Calibri" pitchFamily="34" charset="-122"/>
                          <a:cs typeface="Calibri" pitchFamily="34" charset="-120"/>
                        </a:rPr>
                        <a:t>hoanguitcs</a:t>
                      </a:r>
                      <a:endParaRPr lang="en-US" sz="13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D1117"/>
                          </a:solidFill>
                          <a:latin typeface="Calibri" pitchFamily="34" charset="0"/>
                          <a:ea typeface="Calibri" pitchFamily="34" charset="-122"/>
                          <a:cs typeface="Calibri" pitchFamily="34" charset="-120"/>
                        </a:rPr>
                        <a:t>0.7936</a:t>
                      </a:r>
                      <a:endParaRPr lang="en-US" sz="13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338328">
                <a:tc>
                  <a:txBody>
                    <a:bodyPr/>
                    <a:lstStyle/>
                    <a:p>
                      <a:pPr algn="ctr" indent="0" marL="0">
                        <a:buNone/>
                      </a:pPr>
                      <a:r>
                        <a:rPr lang="en-US" sz="1300" dirty="0">
                          <a:solidFill>
                            <a:srgbClr val="0D1117"/>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D1117"/>
                          </a:solidFill>
                          <a:latin typeface="Calibri" pitchFamily="34" charset="0"/>
                          <a:ea typeface="Calibri" pitchFamily="34" charset="-122"/>
                          <a:cs typeface="Calibri" pitchFamily="34" charset="-120"/>
                        </a:rPr>
                        <a:t>shadenalzeer</a:t>
                      </a:r>
                      <a:endParaRPr lang="en-US" sz="13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D1117"/>
                          </a:solidFill>
                          <a:latin typeface="Calibri" pitchFamily="34" charset="0"/>
                          <a:ea typeface="Calibri" pitchFamily="34" charset="-122"/>
                          <a:cs typeface="Calibri" pitchFamily="34" charset="-120"/>
                        </a:rPr>
                        <a:t>0.7894</a:t>
                      </a:r>
                      <a:endParaRPr lang="en-US" sz="13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338328">
                <a:tc>
                  <a:txBody>
                    <a:bodyPr/>
                    <a:lstStyle/>
                    <a:p>
                      <a:pPr algn="ctr" indent="0" marL="0">
                        <a:buNone/>
                      </a:pPr>
                      <a:r>
                        <a:rPr lang="en-US" sz="1300" dirty="0">
                          <a:solidFill>
                            <a:srgbClr val="0D1117"/>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D1117"/>
                          </a:solidFill>
                          <a:latin typeface="Calibri" pitchFamily="34" charset="0"/>
                          <a:ea typeface="Calibri" pitchFamily="34" charset="-122"/>
                          <a:cs typeface="Calibri" pitchFamily="34" charset="-120"/>
                        </a:rPr>
                        <a:t>hh03112005</a:t>
                      </a:r>
                      <a:endParaRPr lang="en-US" sz="13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D1117"/>
                          </a:solidFill>
                          <a:latin typeface="Calibri" pitchFamily="34" charset="0"/>
                          <a:ea typeface="Calibri" pitchFamily="34" charset="-122"/>
                          <a:cs typeface="Calibri" pitchFamily="34" charset="-120"/>
                        </a:rPr>
                        <a:t>0.7859</a:t>
                      </a:r>
                      <a:endParaRPr lang="en-US" sz="13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338328">
                <a:tc>
                  <a:txBody>
                    <a:bodyPr/>
                    <a:lstStyle/>
                    <a:p>
                      <a:pPr algn="ctr" indent="0" marL="0">
                        <a:buNone/>
                      </a:pPr>
                      <a:r>
                        <a:rPr lang="en-US" sz="1300" dirty="0">
                          <a:solidFill>
                            <a:srgbClr val="0D1117"/>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D1117"/>
                          </a:solidFill>
                          <a:latin typeface="Calibri" pitchFamily="34" charset="0"/>
                          <a:ea typeface="Calibri" pitchFamily="34" charset="-122"/>
                          <a:cs typeface="Calibri" pitchFamily="34" charset="-120"/>
                        </a:rPr>
                        <a:t>23020073</a:t>
                      </a:r>
                      <a:endParaRPr lang="en-US" sz="13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0D1117"/>
                          </a:solidFill>
                          <a:latin typeface="Calibri" pitchFamily="34" charset="0"/>
                          <a:ea typeface="Calibri" pitchFamily="34" charset="-122"/>
                          <a:cs typeface="Calibri" pitchFamily="34" charset="-120"/>
                        </a:rPr>
                        <a:t>0.7722</a:t>
                      </a:r>
                      <a:endParaRPr lang="en-US" sz="13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457200" y="6053328"/>
            <a:ext cx="6766560" cy="274320"/>
          </a:xfrm>
          <a:prstGeom prst="rect">
            <a:avLst/>
          </a:prstGeom>
          <a:noFill/>
          <a:ln/>
        </p:spPr>
        <p:txBody>
          <a:bodyPr wrap="square" lIns="0" tIns="0" rIns="0" bIns="0" rtlCol="0" anchor="t"/>
          <a:lstStyle/>
          <a:p>
            <a:pPr indent="0" marL="0">
              <a:buNone/>
            </a:pPr>
            <a:r>
              <a:rPr lang="en-US" sz="1050" dirty="0">
                <a:solidFill>
                  <a:srgbClr val="8A93A0"/>
                </a:solidFill>
                <a:latin typeface="Calibri" pitchFamily="34" charset="0"/>
                <a:ea typeface="Calibri" pitchFamily="34" charset="-122"/>
                <a:cs typeface="Calibri" pitchFamily="34" charset="-120"/>
              </a:rPr>
              <a:t>Submission IDs omitted.</a:t>
            </a:r>
            <a:endParaRPr lang="en-US" sz="1050" dirty="0"/>
          </a:p>
        </p:txBody>
      </p:sp>
      <p:sp>
        <p:nvSpPr>
          <p:cNvPr id="7" name="Shape 3"/>
          <p:cNvSpPr/>
          <p:nvPr/>
        </p:nvSpPr>
        <p:spPr>
          <a:xfrm>
            <a:off x="7543800" y="1554480"/>
            <a:ext cx="4187952" cy="1371600"/>
          </a:xfrm>
          <a:prstGeom prst="roundRect">
            <a:avLst>
              <a:gd name="adj" fmla="val 5333"/>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sp>
        <p:nvSpPr>
          <p:cNvPr id="8" name="Text 4"/>
          <p:cNvSpPr txBox="1"/>
          <p:nvPr/>
        </p:nvSpPr>
        <p:spPr>
          <a:xfrm>
            <a:off x="7772400" y="1719072"/>
            <a:ext cx="3730752" cy="566928"/>
          </a:xfrm>
          <a:prstGeom prst="rect">
            <a:avLst/>
          </a:prstGeom>
          <a:noFill/>
          <a:ln/>
        </p:spPr>
        <p:txBody>
          <a:bodyPr wrap="square" lIns="0" tIns="0" rIns="0" bIns="0" rtlCol="0" anchor="ctr"/>
          <a:lstStyle/>
          <a:p>
            <a:pPr indent="0" marL="0">
              <a:buNone/>
            </a:pPr>
            <a:r>
              <a:rPr lang="en-US" sz="3000" b="1" dirty="0">
                <a:solidFill>
                  <a:srgbClr val="1E6BFF"/>
                </a:solidFill>
                <a:latin typeface="Arial" pitchFamily="34" charset="0"/>
                <a:ea typeface="Arial" pitchFamily="34" charset="-122"/>
                <a:cs typeface="Arial" pitchFamily="34" charset="-120"/>
              </a:rPr>
              <a:t>#1</a:t>
            </a:r>
            <a:endParaRPr lang="en-US" sz="3000" dirty="0"/>
          </a:p>
        </p:txBody>
      </p:sp>
      <p:sp>
        <p:nvSpPr>
          <p:cNvPr id="9" name="Text 5"/>
          <p:cNvSpPr txBox="1"/>
          <p:nvPr/>
        </p:nvSpPr>
        <p:spPr>
          <a:xfrm>
            <a:off x="7772400" y="2304288"/>
            <a:ext cx="3730752" cy="274320"/>
          </a:xfrm>
          <a:prstGeom prst="rect">
            <a:avLst/>
          </a:prstGeom>
          <a:noFill/>
          <a:ln/>
        </p:spPr>
        <p:txBody>
          <a:bodyPr wrap="square" lIns="0" tIns="0" rIns="0" bIns="0" rtlCol="0" anchor="t"/>
          <a:lstStyle/>
          <a:p>
            <a:pPr indent="0" marL="0">
              <a:buNone/>
            </a:pPr>
            <a:r>
              <a:rPr lang="en-US" sz="1200" b="1" dirty="0">
                <a:solidFill>
                  <a:srgbClr val="0D1117"/>
                </a:solidFill>
                <a:latin typeface="Arial" pitchFamily="34" charset="0"/>
                <a:ea typeface="Arial" pitchFamily="34" charset="-122"/>
                <a:cs typeface="Arial" pitchFamily="34" charset="-120"/>
              </a:rPr>
              <a:t>of 12 teams</a:t>
            </a:r>
            <a:endParaRPr lang="en-US" sz="1200" dirty="0"/>
          </a:p>
        </p:txBody>
      </p:sp>
      <p:sp>
        <p:nvSpPr>
          <p:cNvPr id="10" name="Text 6"/>
          <p:cNvSpPr txBox="1"/>
          <p:nvPr/>
        </p:nvSpPr>
        <p:spPr>
          <a:xfrm>
            <a:off x="7772400" y="2560320"/>
            <a:ext cx="3730752" cy="274320"/>
          </a:xfrm>
          <a:prstGeom prst="rect">
            <a:avLst/>
          </a:prstGeom>
          <a:noFill/>
          <a:ln/>
        </p:spPr>
        <p:txBody>
          <a:bodyPr wrap="square" lIns="0" tIns="0" rIns="0" bIns="0" rtlCol="0" anchor="t"/>
          <a:lstStyle/>
          <a:p>
            <a:pPr indent="0" marL="0">
              <a:buNone/>
            </a:pPr>
            <a:r>
              <a:rPr lang="en-US" sz="1150" dirty="0">
                <a:solidFill>
                  <a:srgbClr val="5A6472"/>
                </a:solidFill>
                <a:latin typeface="Calibri" pitchFamily="34" charset="0"/>
                <a:ea typeface="Calibri" pitchFamily="34" charset="-122"/>
                <a:cs typeface="Calibri" pitchFamily="34" charset="-120"/>
              </a:rPr>
              <a:t>first place overall</a:t>
            </a:r>
            <a:endParaRPr lang="en-US" sz="1150" dirty="0"/>
          </a:p>
        </p:txBody>
      </p:sp>
      <p:sp>
        <p:nvSpPr>
          <p:cNvPr id="11" name="Shape 7"/>
          <p:cNvSpPr/>
          <p:nvPr/>
        </p:nvSpPr>
        <p:spPr>
          <a:xfrm>
            <a:off x="7543800" y="3072384"/>
            <a:ext cx="4187952" cy="1371600"/>
          </a:xfrm>
          <a:prstGeom prst="roundRect">
            <a:avLst>
              <a:gd name="adj" fmla="val 5333"/>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sp>
        <p:nvSpPr>
          <p:cNvPr id="12" name="Text 8"/>
          <p:cNvSpPr txBox="1"/>
          <p:nvPr/>
        </p:nvSpPr>
        <p:spPr>
          <a:xfrm>
            <a:off x="7772400" y="3236976"/>
            <a:ext cx="3730752" cy="566928"/>
          </a:xfrm>
          <a:prstGeom prst="rect">
            <a:avLst/>
          </a:prstGeom>
          <a:noFill/>
          <a:ln/>
        </p:spPr>
        <p:txBody>
          <a:bodyPr wrap="square" lIns="0" tIns="0" rIns="0" bIns="0" rtlCol="0" anchor="ctr"/>
          <a:lstStyle/>
          <a:p>
            <a:pPr indent="0" marL="0">
              <a:buNone/>
            </a:pPr>
            <a:r>
              <a:rPr lang="en-US" sz="3000" b="1" dirty="0">
                <a:solidFill>
                  <a:srgbClr val="1E6BFF"/>
                </a:solidFill>
                <a:latin typeface="Arial" pitchFamily="34" charset="0"/>
                <a:ea typeface="Arial" pitchFamily="34" charset="-122"/>
                <a:cs typeface="Arial" pitchFamily="34" charset="-120"/>
              </a:rPr>
              <a:t>0.8667</a:t>
            </a:r>
            <a:endParaRPr lang="en-US" sz="3000" dirty="0"/>
          </a:p>
        </p:txBody>
      </p:sp>
      <p:sp>
        <p:nvSpPr>
          <p:cNvPr id="13" name="Text 9"/>
          <p:cNvSpPr txBox="1"/>
          <p:nvPr/>
        </p:nvSpPr>
        <p:spPr>
          <a:xfrm>
            <a:off x="7772400" y="3822192"/>
            <a:ext cx="3730752" cy="274320"/>
          </a:xfrm>
          <a:prstGeom prst="rect">
            <a:avLst/>
          </a:prstGeom>
          <a:noFill/>
          <a:ln/>
        </p:spPr>
        <p:txBody>
          <a:bodyPr wrap="square" lIns="0" tIns="0" rIns="0" bIns="0" rtlCol="0" anchor="t"/>
          <a:lstStyle/>
          <a:p>
            <a:pPr indent="0" marL="0">
              <a:buNone/>
            </a:pPr>
            <a:r>
              <a:rPr lang="en-US" sz="1200" b="1" dirty="0">
                <a:solidFill>
                  <a:srgbClr val="0D1117"/>
                </a:solidFill>
                <a:latin typeface="Arial" pitchFamily="34" charset="0"/>
                <a:ea typeface="Arial" pitchFamily="34" charset="-122"/>
                <a:cs typeface="Arial" pitchFamily="34" charset="-120"/>
              </a:rPr>
              <a:t>Macro F1</a:t>
            </a:r>
            <a:endParaRPr lang="en-US" sz="1200" dirty="0"/>
          </a:p>
        </p:txBody>
      </p:sp>
      <p:sp>
        <p:nvSpPr>
          <p:cNvPr id="14" name="Text 10"/>
          <p:cNvSpPr txBox="1"/>
          <p:nvPr/>
        </p:nvSpPr>
        <p:spPr>
          <a:xfrm>
            <a:off x="7772400" y="4078224"/>
            <a:ext cx="3730752" cy="274320"/>
          </a:xfrm>
          <a:prstGeom prst="rect">
            <a:avLst/>
          </a:prstGeom>
          <a:noFill/>
          <a:ln/>
        </p:spPr>
        <p:txBody>
          <a:bodyPr wrap="square" lIns="0" tIns="0" rIns="0" bIns="0" rtlCol="0" anchor="t"/>
          <a:lstStyle/>
          <a:p>
            <a:pPr indent="0" marL="0">
              <a:buNone/>
            </a:pPr>
            <a:r>
              <a:rPr lang="en-US" sz="1150" dirty="0">
                <a:solidFill>
                  <a:srgbClr val="5A6472"/>
                </a:solidFill>
                <a:latin typeface="Calibri" pitchFamily="34" charset="0"/>
                <a:ea typeface="Calibri" pitchFamily="34" charset="-122"/>
                <a:cs typeface="Calibri" pitchFamily="34" charset="-120"/>
              </a:rPr>
              <a:t>accuracy 0.8857</a:t>
            </a:r>
            <a:endParaRPr lang="en-US" sz="1150" dirty="0"/>
          </a:p>
        </p:txBody>
      </p:sp>
      <p:sp>
        <p:nvSpPr>
          <p:cNvPr id="15" name="Shape 11"/>
          <p:cNvSpPr/>
          <p:nvPr/>
        </p:nvSpPr>
        <p:spPr>
          <a:xfrm>
            <a:off x="7543800" y="4590288"/>
            <a:ext cx="4187952" cy="1371600"/>
          </a:xfrm>
          <a:prstGeom prst="roundRect">
            <a:avLst>
              <a:gd name="adj" fmla="val 5333"/>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sp>
        <p:nvSpPr>
          <p:cNvPr id="16" name="Text 12"/>
          <p:cNvSpPr txBox="1"/>
          <p:nvPr/>
        </p:nvSpPr>
        <p:spPr>
          <a:xfrm>
            <a:off x="7772400" y="4754880"/>
            <a:ext cx="3730752" cy="566928"/>
          </a:xfrm>
          <a:prstGeom prst="rect">
            <a:avLst/>
          </a:prstGeom>
          <a:noFill/>
          <a:ln/>
        </p:spPr>
        <p:txBody>
          <a:bodyPr wrap="square" lIns="0" tIns="0" rIns="0" bIns="0" rtlCol="0" anchor="ctr"/>
          <a:lstStyle/>
          <a:p>
            <a:pPr indent="0" marL="0">
              <a:buNone/>
            </a:pPr>
            <a:r>
              <a:rPr lang="en-US" sz="3000" b="1" dirty="0">
                <a:solidFill>
                  <a:srgbClr val="B57400"/>
                </a:solidFill>
                <a:latin typeface="Arial" pitchFamily="34" charset="0"/>
                <a:ea typeface="Arial" pitchFamily="34" charset="-122"/>
                <a:cs typeface="Arial" pitchFamily="34" charset="-120"/>
              </a:rPr>
              <a:t>+4.6</a:t>
            </a:r>
            <a:endParaRPr lang="en-US" sz="3000" dirty="0"/>
          </a:p>
        </p:txBody>
      </p:sp>
      <p:sp>
        <p:nvSpPr>
          <p:cNvPr id="17" name="Text 13"/>
          <p:cNvSpPr txBox="1"/>
          <p:nvPr/>
        </p:nvSpPr>
        <p:spPr>
          <a:xfrm>
            <a:off x="7772400" y="5340096"/>
            <a:ext cx="3730752" cy="274320"/>
          </a:xfrm>
          <a:prstGeom prst="rect">
            <a:avLst/>
          </a:prstGeom>
          <a:noFill/>
          <a:ln/>
        </p:spPr>
        <p:txBody>
          <a:bodyPr wrap="square" lIns="0" tIns="0" rIns="0" bIns="0" rtlCol="0" anchor="t"/>
          <a:lstStyle/>
          <a:p>
            <a:pPr indent="0" marL="0">
              <a:buNone/>
            </a:pPr>
            <a:r>
              <a:rPr lang="en-US" sz="1200" b="1" dirty="0">
                <a:solidFill>
                  <a:srgbClr val="0D1117"/>
                </a:solidFill>
                <a:latin typeface="Arial" pitchFamily="34" charset="0"/>
                <a:ea typeface="Arial" pitchFamily="34" charset="-122"/>
                <a:cs typeface="Arial" pitchFamily="34" charset="-120"/>
              </a:rPr>
              <a:t>points</a:t>
            </a:r>
            <a:endParaRPr lang="en-US" sz="1200" dirty="0"/>
          </a:p>
        </p:txBody>
      </p:sp>
      <p:sp>
        <p:nvSpPr>
          <p:cNvPr id="18" name="Text 14"/>
          <p:cNvSpPr txBox="1"/>
          <p:nvPr/>
        </p:nvSpPr>
        <p:spPr>
          <a:xfrm>
            <a:off x="7772400" y="5596128"/>
            <a:ext cx="3730752" cy="274320"/>
          </a:xfrm>
          <a:prstGeom prst="rect">
            <a:avLst/>
          </a:prstGeom>
          <a:noFill/>
          <a:ln/>
        </p:spPr>
        <p:txBody>
          <a:bodyPr wrap="square" lIns="0" tIns="0" rIns="0" bIns="0" rtlCol="0" anchor="t"/>
          <a:lstStyle/>
          <a:p>
            <a:pPr indent="0" marL="0">
              <a:buNone/>
            </a:pPr>
            <a:r>
              <a:rPr lang="en-US" sz="1150" dirty="0">
                <a:solidFill>
                  <a:srgbClr val="5A6472"/>
                </a:solidFill>
                <a:latin typeface="Calibri" pitchFamily="34" charset="0"/>
                <a:ea typeface="Calibri" pitchFamily="34" charset="-122"/>
                <a:cs typeface="Calibri" pitchFamily="34" charset="-120"/>
              </a:rPr>
              <a:t>ahead of the runner-up (0.8210)</a:t>
            </a:r>
            <a:endParaRPr lang="en-US" sz="115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3" type="body" hasCustomPrompt="1"/>
          </p:nvPr>
        </p:nvSpPr>
        <p:spPr>
          <a:xfrm>
            <a:off x="786384" y="457200"/>
            <a:ext cx="8229600" cy="256032"/>
          </a:xfrm>
          <a:prstGeom prst="rect">
            <a:avLst/>
          </a:prstGeom>
          <a:noFill/>
          <a:ln/>
        </p:spPr>
        <p:txBody>
          <a:bodyPr wrap="square" lIns="0" tIns="0" rIns="0" bIns="0" rtlCol="0" anchor="ctr"/>
          <a:lstStyle/>
          <a:p>
            <a:pPr algn="l" indent="0" marL="0">
              <a:buNone/>
            </a:pPr>
            <a:r>
              <a:rPr lang="en-US" sz="1100" b="1" spc="100" kern="0" dirty="0">
                <a:solidFill>
                  <a:srgbClr val="1E6BFF"/>
                </a:solidFill>
                <a:latin typeface="Arial" pitchFamily="34" charset="0"/>
                <a:ea typeface="Arial" pitchFamily="34" charset="-122"/>
                <a:cs typeface="Arial" pitchFamily="34" charset="-120"/>
              </a:rPr>
              <a:t>ABLATION</a:t>
            </a:r>
            <a:endParaRPr lang="en-US" sz="1100" dirty="0"/>
          </a:p>
        </p:txBody>
      </p:sp>
      <p:sp>
        <p:nvSpPr>
          <p:cNvPr id="3" name="Text 1"/>
          <p:cNvSpPr/>
          <p:nvPr>
            <p:ph idx="104" type="title" hasCustomPrompt="1"/>
          </p:nvPr>
        </p:nvSpPr>
        <p:spPr>
          <a:xfrm>
            <a:off x="457200" y="768096"/>
            <a:ext cx="11247120" cy="566928"/>
          </a:xfrm>
          <a:prstGeom prst="rect">
            <a:avLst/>
          </a:prstGeom>
          <a:noFill/>
          <a:ln/>
        </p:spPr>
        <p:txBody>
          <a:bodyPr wrap="square" lIns="0" tIns="0" rIns="0" bIns="0" rtlCol="0" anchor="t"/>
          <a:lstStyle/>
          <a:p>
            <a:pPr algn="l" indent="0" marL="0">
              <a:buNone/>
            </a:pPr>
            <a:r>
              <a:rPr lang="en-US" sz="2800" b="1" dirty="0">
                <a:solidFill>
                  <a:srgbClr val="0D1117"/>
                </a:solidFill>
                <a:latin typeface="Arial" pitchFamily="34" charset="0"/>
                <a:ea typeface="Arial" pitchFamily="34" charset="-122"/>
                <a:cs typeface="Arial" pitchFamily="34" charset="-120"/>
              </a:rPr>
              <a:t>Every step scored on the real leaderboard</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74552" cy="914400"/>
        </p:xfrm>
        <a:graphic>
          <a:graphicData uri="http://schemas.openxmlformats.org/drawingml/2006/table">
            <a:tbl>
              <a:tblPr/>
              <a:tblGrid>
                <a:gridCol w="7982712"/>
                <a:gridCol w="1645920"/>
                <a:gridCol w="1645920"/>
              </a:tblGrid>
              <a:tr h="475488">
                <a:tc>
                  <a:txBody>
                    <a:bodyPr/>
                    <a:lstStyle/>
                    <a:p>
                      <a:pPr algn="l" indent="0" marL="0">
                        <a:buNone/>
                      </a:pPr>
                      <a:r>
                        <a:rPr lang="en-US" sz="1350" b="1" spc="50" kern="0" dirty="0">
                          <a:solidFill>
                            <a:srgbClr val="FFFFFF"/>
                          </a:solidFill>
                          <a:latin typeface="Arial" pitchFamily="34" charset="0"/>
                          <a:ea typeface="Arial" pitchFamily="34" charset="-122"/>
                          <a:cs typeface="Arial" pitchFamily="34" charset="-120"/>
                        </a:rPr>
                        <a:t>Configuration (each row an independent leaderboard submission)</a:t>
                      </a:r>
                      <a:endParaRPr lang="en-US" sz="1350" dirty="0">
                        <a:latin typeface="Arial" charset="0"/>
                        <a:ea typeface="Arial" charset="0"/>
                        <a:cs typeface="Arial"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0D1117"/>
                    </a:solidFill>
                  </a:tcPr>
                </a:tc>
                <a:tc>
                  <a:txBody>
                    <a:bodyPr/>
                    <a:lstStyle/>
                    <a:p>
                      <a:pPr algn="r" indent="0" marL="0">
                        <a:buNone/>
                      </a:pPr>
                      <a:r>
                        <a:rPr lang="en-US" sz="1350" b="1" spc="50" kern="0" dirty="0">
                          <a:solidFill>
                            <a:srgbClr val="FFFFFF"/>
                          </a:solidFill>
                          <a:latin typeface="Arial" pitchFamily="34" charset="0"/>
                          <a:ea typeface="Arial" pitchFamily="34" charset="-122"/>
                          <a:cs typeface="Arial" pitchFamily="34" charset="-120"/>
                        </a:rPr>
                        <a:t>Macro F1</a:t>
                      </a:r>
                      <a:endParaRPr lang="en-US" sz="1350" dirty="0">
                        <a:latin typeface="Arial" charset="0"/>
                        <a:ea typeface="Arial" charset="0"/>
                        <a:cs typeface="Arial"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0D1117"/>
                    </a:solidFill>
                  </a:tcPr>
                </a:tc>
                <a:tc>
                  <a:txBody>
                    <a:bodyPr/>
                    <a:lstStyle/>
                    <a:p>
                      <a:pPr algn="r" indent="0" marL="0">
                        <a:buNone/>
                      </a:pPr>
                      <a:r>
                        <a:rPr lang="en-US" sz="1350" b="1" spc="50" kern="0" dirty="0">
                          <a:solidFill>
                            <a:srgbClr val="FFFFFF"/>
                          </a:solidFill>
                          <a:latin typeface="Arial" pitchFamily="34" charset="0"/>
                          <a:ea typeface="Arial" pitchFamily="34" charset="-122"/>
                          <a:cs typeface="Arial" pitchFamily="34" charset="-120"/>
                        </a:rPr>
                        <a:t>Δ</a:t>
                      </a:r>
                      <a:endParaRPr lang="en-US" sz="1350" dirty="0">
                        <a:latin typeface="Arial" charset="0"/>
                        <a:ea typeface="Arial" charset="0"/>
                        <a:cs typeface="Arial"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0D1117"/>
                    </a:solidFill>
                  </a:tcPr>
                </a:tc>
              </a:tr>
              <a:tr h="475488">
                <a:tc>
                  <a:txBody>
                    <a:bodyPr/>
                    <a:lstStyle/>
                    <a:p>
                      <a:pPr algn="l" indent="0" marL="0">
                        <a:buNone/>
                      </a:pPr>
                      <a:r>
                        <a:rPr lang="en-US" sz="1500" dirty="0">
                          <a:solidFill>
                            <a:srgbClr val="0D1117"/>
                          </a:solidFill>
                          <a:latin typeface="Calibri" pitchFamily="34" charset="0"/>
                          <a:ea typeface="Calibri" pitchFamily="34" charset="-122"/>
                          <a:cs typeface="Calibri" pitchFamily="34" charset="-120"/>
                        </a:rPr>
                        <a:t>Baseline: gold-only ensemble</a:t>
                      </a:r>
                      <a:endParaRPr lang="en-US" sz="15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D1117"/>
                          </a:solidFill>
                          <a:latin typeface="Calibri" pitchFamily="34" charset="0"/>
                          <a:ea typeface="Calibri" pitchFamily="34" charset="-122"/>
                          <a:cs typeface="Calibri" pitchFamily="34" charset="-120"/>
                        </a:rPr>
                        <a:t>0.7806</a:t>
                      </a:r>
                      <a:endParaRPr lang="en-US" sz="15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D1117"/>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475488">
                <a:tc>
                  <a:txBody>
                    <a:bodyPr/>
                    <a:lstStyle/>
                    <a:p>
                      <a:pPr algn="l" indent="0" marL="0">
                        <a:buNone/>
                      </a:pPr>
                      <a:r>
                        <a:rPr lang="en-US" sz="1500" dirty="0">
                          <a:solidFill>
                            <a:srgbClr val="0D1117"/>
                          </a:solidFill>
                          <a:latin typeface="Calibri" pitchFamily="34" charset="0"/>
                          <a:ea typeface="Calibri" pitchFamily="34" charset="-122"/>
                          <a:cs typeface="Calibri" pitchFamily="34" charset="-120"/>
                        </a:rPr>
                        <a:t>+ FGM adversarial training (single backbone)</a:t>
                      </a:r>
                      <a:endParaRPr lang="en-US" sz="15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D1117"/>
                          </a:solidFill>
                          <a:latin typeface="Calibri" pitchFamily="34" charset="0"/>
                          <a:ea typeface="Calibri" pitchFamily="34" charset="-122"/>
                          <a:cs typeface="Calibri" pitchFamily="34" charset="-120"/>
                        </a:rPr>
                        <a:t>0.8204</a:t>
                      </a:r>
                      <a:endParaRPr lang="en-US" sz="15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D1117"/>
                          </a:solidFill>
                          <a:latin typeface="Calibri" pitchFamily="34" charset="0"/>
                          <a:ea typeface="Calibri" pitchFamily="34" charset="-122"/>
                          <a:cs typeface="Calibri" pitchFamily="34" charset="-120"/>
                        </a:rPr>
                        <a:t>+0.040</a:t>
                      </a:r>
                      <a:endParaRPr lang="en-US" sz="15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475488">
                <a:tc>
                  <a:txBody>
                    <a:bodyPr/>
                    <a:lstStyle/>
                    <a:p>
                      <a:pPr algn="l" indent="0" marL="0">
                        <a:buNone/>
                      </a:pPr>
                      <a:r>
                        <a:rPr lang="en-US" sz="1500" dirty="0">
                          <a:solidFill>
                            <a:srgbClr val="0D1117"/>
                          </a:solidFill>
                          <a:latin typeface="Calibri" pitchFamily="34" charset="0"/>
                          <a:ea typeface="Calibri" pitchFamily="34" charset="-122"/>
                          <a:cs typeface="Calibri" pitchFamily="34" charset="-120"/>
                        </a:rPr>
                        <a:t>+ Self-training, 3 rounds</a:t>
                      </a:r>
                      <a:endParaRPr lang="en-US" sz="15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D1117"/>
                          </a:solidFill>
                          <a:latin typeface="Calibri" pitchFamily="34" charset="0"/>
                          <a:ea typeface="Calibri" pitchFamily="34" charset="-122"/>
                          <a:cs typeface="Calibri" pitchFamily="34" charset="-120"/>
                        </a:rPr>
                        <a:t>0.8477</a:t>
                      </a:r>
                      <a:endParaRPr lang="en-US" sz="15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D1117"/>
                          </a:solidFill>
                          <a:latin typeface="Calibri" pitchFamily="34" charset="0"/>
                          <a:ea typeface="Calibri" pitchFamily="34" charset="-122"/>
                          <a:cs typeface="Calibri" pitchFamily="34" charset="-120"/>
                        </a:rPr>
                        <a:t>+0.027</a:t>
                      </a:r>
                      <a:endParaRPr lang="en-US" sz="15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475488">
                <a:tc>
                  <a:txBody>
                    <a:bodyPr/>
                    <a:lstStyle/>
                    <a:p>
                      <a:pPr algn="l" indent="0" marL="0">
                        <a:buNone/>
                      </a:pPr>
                      <a:r>
                        <a:rPr lang="en-US" sz="1500" b="1" dirty="0">
                          <a:solidFill>
                            <a:srgbClr val="C8372D"/>
                          </a:solidFill>
                          <a:latin typeface="Calibri" pitchFamily="34" charset="0"/>
                          <a:ea typeface="Calibri" pitchFamily="34" charset="-122"/>
                          <a:cs typeface="Calibri" pitchFamily="34" charset="-120"/>
                        </a:rPr>
                        <a:t>Forced class-proportion pseudo-label filter (reverted)</a:t>
                      </a:r>
                      <a:endParaRPr lang="en-US" sz="15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DECEC"/>
                    </a:solidFill>
                  </a:tcPr>
                </a:tc>
                <a:tc>
                  <a:txBody>
                    <a:bodyPr/>
                    <a:lstStyle/>
                    <a:p>
                      <a:pPr algn="r" indent="0" marL="0">
                        <a:buNone/>
                      </a:pPr>
                      <a:r>
                        <a:rPr lang="en-US" sz="1500" b="1" dirty="0">
                          <a:solidFill>
                            <a:srgbClr val="C8372D"/>
                          </a:solidFill>
                          <a:latin typeface="Calibri" pitchFamily="34" charset="0"/>
                          <a:ea typeface="Calibri" pitchFamily="34" charset="-122"/>
                          <a:cs typeface="Calibri" pitchFamily="34" charset="-120"/>
                        </a:rPr>
                        <a:t>0.8336</a:t>
                      </a:r>
                      <a:endParaRPr lang="en-US" sz="15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DECEC"/>
                    </a:solidFill>
                  </a:tcPr>
                </a:tc>
                <a:tc>
                  <a:txBody>
                    <a:bodyPr/>
                    <a:lstStyle/>
                    <a:p>
                      <a:pPr algn="r" indent="0" marL="0">
                        <a:buNone/>
                      </a:pPr>
                      <a:r>
                        <a:rPr lang="en-US" sz="1500" b="1" dirty="0">
                          <a:solidFill>
                            <a:srgbClr val="C8372D"/>
                          </a:solidFill>
                          <a:latin typeface="Calibri" pitchFamily="34" charset="0"/>
                          <a:ea typeface="Calibri" pitchFamily="34" charset="-122"/>
                          <a:cs typeface="Calibri" pitchFamily="34" charset="-120"/>
                        </a:rPr>
                        <a:t>−0.014</a:t>
                      </a:r>
                      <a:endParaRPr lang="en-US" sz="15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DECEC"/>
                    </a:solidFill>
                  </a:tcPr>
                </a:tc>
              </a:tr>
              <a:tr h="475488">
                <a:tc>
                  <a:txBody>
                    <a:bodyPr/>
                    <a:lstStyle/>
                    <a:p>
                      <a:pPr algn="l" indent="0" marL="0">
                        <a:buNone/>
                      </a:pPr>
                      <a:r>
                        <a:rPr lang="en-US" sz="1500" dirty="0">
                          <a:solidFill>
                            <a:srgbClr val="0D1117"/>
                          </a:solidFill>
                          <a:latin typeface="Calibri" pitchFamily="34" charset="0"/>
                          <a:ea typeface="Calibri" pitchFamily="34" charset="-122"/>
                          <a:cs typeface="Calibri" pitchFamily="34" charset="-120"/>
                        </a:rPr>
                        <a:t>+ Mild per-class pseudo-label filter</a:t>
                      </a:r>
                      <a:endParaRPr lang="en-US" sz="15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D1117"/>
                          </a:solidFill>
                          <a:latin typeface="Calibri" pitchFamily="34" charset="0"/>
                          <a:ea typeface="Calibri" pitchFamily="34" charset="-122"/>
                          <a:cs typeface="Calibri" pitchFamily="34" charset="-120"/>
                        </a:rPr>
                        <a:t>0.8656</a:t>
                      </a:r>
                      <a:endParaRPr lang="en-US" sz="15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D1117"/>
                          </a:solidFill>
                          <a:latin typeface="Calibri" pitchFamily="34" charset="0"/>
                          <a:ea typeface="Calibri" pitchFamily="34" charset="-122"/>
                          <a:cs typeface="Calibri" pitchFamily="34" charset="-120"/>
                        </a:rPr>
                        <a:t>+0.018</a:t>
                      </a:r>
                      <a:endParaRPr lang="en-US" sz="15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475488">
                <a:tc>
                  <a:txBody>
                    <a:bodyPr/>
                    <a:lstStyle/>
                    <a:p>
                      <a:pPr algn="l" indent="0" marL="0">
                        <a:buNone/>
                      </a:pPr>
                      <a:r>
                        <a:rPr lang="en-US" sz="1500" b="1" dirty="0">
                          <a:solidFill>
                            <a:srgbClr val="1553CC"/>
                          </a:solidFill>
                          <a:latin typeface="Calibri" pitchFamily="34" charset="0"/>
                          <a:ea typeface="Calibri" pitchFamily="34" charset="-122"/>
                          <a:cs typeface="Calibri" pitchFamily="34" charset="-120"/>
                        </a:rPr>
                        <a:t>+ Character-noise augmentation (final system)</a:t>
                      </a:r>
                      <a:endParaRPr lang="en-US" sz="15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EAF1FF"/>
                    </a:solidFill>
                  </a:tcPr>
                </a:tc>
                <a:tc>
                  <a:txBody>
                    <a:bodyPr/>
                    <a:lstStyle/>
                    <a:p>
                      <a:pPr algn="r" indent="0" marL="0">
                        <a:buNone/>
                      </a:pPr>
                      <a:r>
                        <a:rPr lang="en-US" sz="1500" b="1" dirty="0">
                          <a:solidFill>
                            <a:srgbClr val="1553CC"/>
                          </a:solidFill>
                          <a:latin typeface="Calibri" pitchFamily="34" charset="0"/>
                          <a:ea typeface="Calibri" pitchFamily="34" charset="-122"/>
                          <a:cs typeface="Calibri" pitchFamily="34" charset="-120"/>
                        </a:rPr>
                        <a:t>0.8667</a:t>
                      </a:r>
                      <a:endParaRPr lang="en-US" sz="15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EAF1FF"/>
                    </a:solidFill>
                  </a:tcPr>
                </a:tc>
                <a:tc>
                  <a:txBody>
                    <a:bodyPr/>
                    <a:lstStyle/>
                    <a:p>
                      <a:pPr algn="r" indent="0" marL="0">
                        <a:buNone/>
                      </a:pPr>
                      <a:r>
                        <a:rPr lang="en-US" sz="1500" b="1" dirty="0">
                          <a:solidFill>
                            <a:srgbClr val="1553CC"/>
                          </a:solidFill>
                          <a:latin typeface="Calibri" pitchFamily="34" charset="0"/>
                          <a:ea typeface="Calibri" pitchFamily="34" charset="-122"/>
                          <a:cs typeface="Calibri" pitchFamily="34" charset="-120"/>
                        </a:rPr>
                        <a:t>+0.001</a:t>
                      </a:r>
                      <a:endParaRPr lang="en-US" sz="15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EAF1FF"/>
                    </a:solidFill>
                  </a:tcPr>
                </a:tc>
              </a:tr>
            </a:tbl>
          </a:graphicData>
        </a:graphic>
      </p:graphicFrame>
      <p:sp>
        <p:nvSpPr>
          <p:cNvPr id="6" name="Text 2"/>
          <p:cNvSpPr txBox="1"/>
          <p:nvPr/>
        </p:nvSpPr>
        <p:spPr>
          <a:xfrm>
            <a:off x="457200" y="5029200"/>
            <a:ext cx="11247120" cy="274320"/>
          </a:xfrm>
          <a:prstGeom prst="rect">
            <a:avLst/>
          </a:prstGeom>
          <a:noFill/>
          <a:ln/>
        </p:spPr>
        <p:txBody>
          <a:bodyPr wrap="square" lIns="0" tIns="0" rIns="0" bIns="0" rtlCol="0" anchor="t"/>
          <a:lstStyle/>
          <a:p>
            <a:pPr indent="0" marL="0">
              <a:buNone/>
            </a:pPr>
            <a:r>
              <a:rPr lang="en-US" sz="1100" dirty="0">
                <a:solidFill>
                  <a:srgbClr val="8A93A0"/>
                </a:solidFill>
                <a:latin typeface="Calibri" pitchFamily="34" charset="0"/>
                <a:ea typeface="Calibri" pitchFamily="34" charset="-122"/>
                <a:cs typeface="Calibri" pitchFamily="34" charset="-120"/>
              </a:rPr>
              <a:t>Δ against the previous retained row; the mild filter is measured from 0.8477 because the forced filter was reverted.</a:t>
            </a:r>
            <a:endParaRPr lang="en-US" sz="1100" dirty="0"/>
          </a:p>
        </p:txBody>
      </p:sp>
      <p:sp>
        <p:nvSpPr>
          <p:cNvPr id="7" name="Shape 3"/>
          <p:cNvSpPr/>
          <p:nvPr/>
        </p:nvSpPr>
        <p:spPr>
          <a:xfrm>
            <a:off x="457200" y="5440680"/>
            <a:ext cx="11274552" cy="566928"/>
          </a:xfrm>
          <a:prstGeom prst="roundRect">
            <a:avLst>
              <a:gd name="adj" fmla="val 12903"/>
            </a:avLst>
          </a:prstGeom>
          <a:solidFill>
            <a:srgbClr val="EAF1FF"/>
          </a:solidFill>
          <a:ln w="9525">
            <a:solidFill>
              <a:srgbClr val="C9DAFD"/>
            </a:solidFill>
            <a:prstDash val="solid"/>
          </a:ln>
        </p:spPr>
      </p:sp>
      <p:pic>
        <p:nvPicPr>
          <p:cNvPr id="8" name="Image 0" descr="/home/aigca/ALEXIS/Posters/build/pptx/icons/trend_blue.png">    </p:cNvPr>
          <p:cNvPicPr>
            <a:picLocks noChangeAspect="1"/>
          </p:cNvPicPr>
          <p:nvPr/>
        </p:nvPicPr>
        <p:blipFill>
          <a:blip r:embed="rId1"/>
          <a:stretch>
            <a:fillRect/>
          </a:stretch>
        </p:blipFill>
        <p:spPr>
          <a:xfrm>
            <a:off x="640080" y="5586984"/>
            <a:ext cx="274320" cy="274320"/>
          </a:xfrm>
          <a:prstGeom prst="rect">
            <a:avLst/>
          </a:prstGeom>
        </p:spPr>
      </p:pic>
      <p:sp>
        <p:nvSpPr>
          <p:cNvPr id="9" name="Text 4"/>
          <p:cNvSpPr txBox="1"/>
          <p:nvPr/>
        </p:nvSpPr>
        <p:spPr>
          <a:xfrm>
            <a:off x="1051560" y="5440680"/>
            <a:ext cx="10497312" cy="566928"/>
          </a:xfrm>
          <a:prstGeom prst="rect">
            <a:avLst/>
          </a:prstGeom>
          <a:noFill/>
          <a:ln/>
        </p:spPr>
        <p:txBody>
          <a:bodyPr wrap="square" lIns="0" tIns="0" rIns="0" bIns="0" rtlCol="0" anchor="ctr"/>
          <a:lstStyle/>
          <a:p>
            <a:pPr indent="0" marL="0">
              <a:buNone/>
            </a:pPr>
            <a:r>
              <a:rPr lang="en-US" sz="1300" dirty="0">
                <a:solidFill>
                  <a:srgbClr val="0D1117"/>
                </a:solidFill>
                <a:latin typeface="Calibri" pitchFamily="34" charset="0"/>
                <a:ea typeface="Calibri" pitchFamily="34" charset="-122"/>
                <a:cs typeface="Calibri" pitchFamily="34" charset="-120"/>
              </a:rPr>
              <a:t>Adversarial training, self-training and the per-class filter each earn their place: +0.040, +0.027 and +0.018 Macro F1.</a:t>
            </a:r>
            <a:endParaRPr lang="en-US" sz="130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3" type="body" hasCustomPrompt="1"/>
          </p:nvPr>
        </p:nvSpPr>
        <p:spPr>
          <a:xfrm>
            <a:off x="786384" y="457200"/>
            <a:ext cx="8229600" cy="256032"/>
          </a:xfrm>
          <a:prstGeom prst="rect">
            <a:avLst/>
          </a:prstGeom>
          <a:noFill/>
          <a:ln/>
        </p:spPr>
        <p:txBody>
          <a:bodyPr wrap="square" lIns="0" tIns="0" rIns="0" bIns="0" rtlCol="0" anchor="ctr"/>
          <a:lstStyle/>
          <a:p>
            <a:pPr algn="l" indent="0" marL="0">
              <a:buNone/>
            </a:pPr>
            <a:r>
              <a:rPr lang="en-US" sz="1100" b="1" spc="100" kern="0" dirty="0">
                <a:solidFill>
                  <a:srgbClr val="1E6BFF"/>
                </a:solidFill>
                <a:latin typeface="Arial" pitchFamily="34" charset="0"/>
                <a:ea typeface="Arial" pitchFamily="34" charset="-122"/>
                <a:cs typeface="Arial" pitchFamily="34" charset="-120"/>
              </a:rPr>
              <a:t>WHAT DID NOT WORK</a:t>
            </a:r>
            <a:endParaRPr lang="en-US" sz="1100" dirty="0"/>
          </a:p>
        </p:txBody>
      </p:sp>
      <p:sp>
        <p:nvSpPr>
          <p:cNvPr id="3" name="Text 1"/>
          <p:cNvSpPr/>
          <p:nvPr>
            <p:ph idx="104" type="title" hasCustomPrompt="1"/>
          </p:nvPr>
        </p:nvSpPr>
        <p:spPr>
          <a:xfrm>
            <a:off x="457200" y="768096"/>
            <a:ext cx="11247120" cy="566928"/>
          </a:xfrm>
          <a:prstGeom prst="rect">
            <a:avLst/>
          </a:prstGeom>
          <a:noFill/>
          <a:ln/>
        </p:spPr>
        <p:txBody>
          <a:bodyPr wrap="square" lIns="0" tIns="0" rIns="0" bIns="0" rtlCol="0" anchor="t"/>
          <a:lstStyle/>
          <a:p>
            <a:pPr algn="l" indent="0" marL="0">
              <a:buNone/>
            </a:pPr>
            <a:r>
              <a:rPr lang="en-US" sz="2800" b="1" dirty="0">
                <a:solidFill>
                  <a:srgbClr val="0D1117"/>
                </a:solidFill>
                <a:latin typeface="Arial" pitchFamily="34" charset="0"/>
                <a:ea typeface="Arial" pitchFamily="34" charset="-122"/>
                <a:cs typeface="Arial" pitchFamily="34" charset="-120"/>
              </a:rPr>
              <a:t>Failures that confirm the diagnosis</a:t>
            </a:r>
            <a:endParaRPr lang="en-US" sz="2800" dirty="0"/>
          </a:p>
        </p:txBody>
      </p:sp>
      <p:sp>
        <p:nvSpPr>
          <p:cNvPr id="5" name="Shape 2"/>
          <p:cNvSpPr/>
          <p:nvPr/>
        </p:nvSpPr>
        <p:spPr>
          <a:xfrm>
            <a:off x="457200" y="1600200"/>
            <a:ext cx="5532120" cy="3291840"/>
          </a:xfrm>
          <a:prstGeom prst="roundRect">
            <a:avLst>
              <a:gd name="adj" fmla="val 2222"/>
            </a:avLst>
          </a:prstGeom>
          <a:solidFill>
            <a:srgbClr val="FDECEC"/>
          </a:solidFill>
          <a:ln w="9525">
            <a:solidFill>
              <a:srgbClr val="F2C2BE"/>
            </a:solidFill>
            <a:prstDash val="solid"/>
          </a:ln>
          <a:effectLst>
            <a:outerShdw sx="100000" sy="100000" kx="0" ky="0" algn="bl" rotWithShape="0" blurRad="101600" dist="25400" dir="5400000">
              <a:srgbClr val="0D1B3A">
                <a:alpha val="10000"/>
              </a:srgbClr>
            </a:outerShdw>
          </a:effectLst>
        </p:spPr>
      </p:sp>
      <p:pic>
        <p:nvPicPr>
          <p:cNvPr id="6" name="Image 0" descr="/home/aigca/ALEXIS/Posters/build/pptx/icons/alert_red.png">    </p:cNvPr>
          <p:cNvPicPr>
            <a:picLocks noChangeAspect="1"/>
          </p:cNvPicPr>
          <p:nvPr/>
        </p:nvPicPr>
        <p:blipFill>
          <a:blip r:embed="rId1"/>
          <a:stretch>
            <a:fillRect/>
          </a:stretch>
        </p:blipFill>
        <p:spPr>
          <a:xfrm>
            <a:off x="658368" y="1801368"/>
            <a:ext cx="329184" cy="329184"/>
          </a:xfrm>
          <a:prstGeom prst="rect">
            <a:avLst/>
          </a:prstGeom>
        </p:spPr>
      </p:pic>
      <p:sp>
        <p:nvSpPr>
          <p:cNvPr id="7" name="Text 3"/>
          <p:cNvSpPr txBox="1"/>
          <p:nvPr/>
        </p:nvSpPr>
        <p:spPr>
          <a:xfrm>
            <a:off x="1115568" y="1792224"/>
            <a:ext cx="4672584" cy="365760"/>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An instructive failure</a:t>
            </a:r>
            <a:endParaRPr lang="en-US" sz="1400" dirty="0"/>
          </a:p>
        </p:txBody>
      </p:sp>
      <p:sp>
        <p:nvSpPr>
          <p:cNvPr id="8" name="Text 4"/>
          <p:cNvSpPr txBox="1"/>
          <p:nvPr/>
        </p:nvSpPr>
        <p:spPr>
          <a:xfrm>
            <a:off x="658368" y="2276856"/>
            <a:ext cx="5129784" cy="2615184"/>
          </a:xfrm>
          <a:prstGeom prst="rect">
            <a:avLst/>
          </a:prstGeom>
          <a:noFill/>
          <a:ln/>
        </p:spPr>
        <p:txBody>
          <a:bodyPr wrap="square" lIns="0" tIns="0" rIns="0" bIns="0" rtlCol="0" anchor="t"/>
          <a:lstStyle/>
          <a:p>
            <a:pPr indent="0" marL="0">
              <a:spcAft>
                <a:spcPts val="400"/>
              </a:spcAft>
              <a:buNone/>
            </a:pPr>
            <a:r>
              <a:rPr lang="en-US" sz="1400" dirty="0">
                <a:solidFill>
                  <a:srgbClr val="5A6472"/>
                </a:solidFill>
                <a:latin typeface="Calibri" pitchFamily="34" charset="0"/>
                <a:ea typeface="Calibri" pitchFamily="34" charset="-122"/>
                <a:cs typeface="Calibri" pitchFamily="34" charset="-120"/>
              </a:rPr>
              <a:t>An aggressive filter forced pseudo-label class proportions to match the four seen dialects. It regressed on the leaderboard (0.8336 vs 0.8477): it assumed Lebanese shares the seen dialects’ distribution. The milder, dialect-agnostic filter makes no such assumption, and is what we deployed.</a:t>
            </a:r>
            <a:endParaRPr lang="en-US" sz="1400" dirty="0"/>
          </a:p>
        </p:txBody>
      </p:sp>
      <p:sp>
        <p:nvSpPr>
          <p:cNvPr id="9" name="Shape 5"/>
          <p:cNvSpPr/>
          <p:nvPr/>
        </p:nvSpPr>
        <p:spPr>
          <a:xfrm>
            <a:off x="6199632" y="1600200"/>
            <a:ext cx="5532120" cy="3291840"/>
          </a:xfrm>
          <a:prstGeom prst="roundRect">
            <a:avLst>
              <a:gd name="adj" fmla="val 2222"/>
            </a:avLst>
          </a:prstGeom>
          <a:solidFill>
            <a:srgbClr val="FFF4E6"/>
          </a:solidFill>
          <a:ln w="9525">
            <a:solidFill>
              <a:srgbClr val="F3D19A"/>
            </a:solidFill>
            <a:prstDash val="solid"/>
          </a:ln>
          <a:effectLst>
            <a:outerShdw sx="100000" sy="100000" kx="0" ky="0" algn="bl" rotWithShape="0" blurRad="101600" dist="25400" dir="5400000">
              <a:srgbClr val="0D1B3A">
                <a:alpha val="10000"/>
              </a:srgbClr>
            </a:outerShdw>
          </a:effectLst>
        </p:spPr>
      </p:sp>
      <p:pic>
        <p:nvPicPr>
          <p:cNvPr id="10" name="Image 1" descr="/home/aigca/ALEXIS/Posters/build/pptx/icons/flask_amber.png">    </p:cNvPr>
          <p:cNvPicPr>
            <a:picLocks noChangeAspect="1"/>
          </p:cNvPicPr>
          <p:nvPr/>
        </p:nvPicPr>
        <p:blipFill>
          <a:blip r:embed="rId2"/>
          <a:stretch>
            <a:fillRect/>
          </a:stretch>
        </p:blipFill>
        <p:spPr>
          <a:xfrm>
            <a:off x="6400800" y="1801368"/>
            <a:ext cx="329184" cy="329184"/>
          </a:xfrm>
          <a:prstGeom prst="rect">
            <a:avLst/>
          </a:prstGeom>
        </p:spPr>
      </p:pic>
      <p:sp>
        <p:nvSpPr>
          <p:cNvPr id="11" name="Text 6"/>
          <p:cNvSpPr txBox="1"/>
          <p:nvPr/>
        </p:nvSpPr>
        <p:spPr>
          <a:xfrm>
            <a:off x="6858000" y="1792224"/>
            <a:ext cx="4663440" cy="365760"/>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Tried, not deployed</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0" y="2331720"/>
          <a:ext cx="5120640" cy="914400"/>
        </p:xfrm>
        <a:graphic>
          <a:graphicData uri="http://schemas.openxmlformats.org/drawingml/2006/table">
            <a:tbl>
              <a:tblPr/>
              <a:tblGrid>
                <a:gridCol w="3749040"/>
                <a:gridCol w="1371600"/>
              </a:tblGrid>
              <a:tr h="457200">
                <a:tc>
                  <a:txBody>
                    <a:bodyPr/>
                    <a:lstStyle/>
                    <a:p>
                      <a:pPr algn="l" indent="0" marL="0">
                        <a:buNone/>
                      </a:pPr>
                      <a:r>
                        <a:rPr lang="en-US" sz="1100" b="1" spc="50" kern="0" dirty="0">
                          <a:solidFill>
                            <a:srgbClr val="FFFFFF"/>
                          </a:solidFill>
                          <a:latin typeface="Arial" pitchFamily="34" charset="0"/>
                          <a:ea typeface="Arial" pitchFamily="34" charset="-122"/>
                          <a:cs typeface="Arial" pitchFamily="34" charset="-120"/>
                        </a:rPr>
                        <a:t>Single-backbone alternative</a:t>
                      </a:r>
                      <a:endParaRPr lang="en-US" sz="1100" dirty="0">
                        <a:latin typeface="Arial" charset="0"/>
                        <a:ea typeface="Arial" charset="0"/>
                        <a:cs typeface="Arial"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0D1117"/>
                    </a:solidFill>
                  </a:tcPr>
                </a:tc>
                <a:tc>
                  <a:txBody>
                    <a:bodyPr/>
                    <a:lstStyle/>
                    <a:p>
                      <a:pPr algn="r" indent="0" marL="0">
                        <a:buNone/>
                      </a:pPr>
                      <a:r>
                        <a:rPr lang="en-US" sz="1100" b="1" spc="50" kern="0" dirty="0">
                          <a:solidFill>
                            <a:srgbClr val="FFFFFF"/>
                          </a:solidFill>
                          <a:latin typeface="Arial" pitchFamily="34" charset="0"/>
                          <a:ea typeface="Arial" pitchFamily="34" charset="-122"/>
                          <a:cs typeface="Arial" pitchFamily="34" charset="-120"/>
                        </a:rPr>
                        <a:t>Score</a:t>
                      </a:r>
                      <a:endParaRPr lang="en-US" sz="1100" dirty="0">
                        <a:latin typeface="Arial" charset="0"/>
                        <a:ea typeface="Arial" charset="0"/>
                        <a:cs typeface="Arial"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0D1117"/>
                    </a:solidFill>
                  </a:tcPr>
                </a:tc>
              </a:tr>
              <a:tr h="457200">
                <a:tc>
                  <a:txBody>
                    <a:bodyPr/>
                    <a:lstStyle/>
                    <a:p>
                      <a:pPr algn="l" indent="0" marL="0">
                        <a:buNone/>
                      </a:pPr>
                      <a:r>
                        <a:rPr lang="en-US" sz="1250" dirty="0">
                          <a:solidFill>
                            <a:srgbClr val="0D1117"/>
                          </a:solidFill>
                          <a:latin typeface="Calibri" pitchFamily="34" charset="0"/>
                          <a:ea typeface="Calibri" pitchFamily="34" charset="-122"/>
                          <a:cs typeface="Calibri" pitchFamily="34" charset="-120"/>
                        </a:rPr>
                        <a:t>R-Drop, SWAD, IRM, CORAL, SupCon, MixStyle, char-CNN/BiLSTM</a:t>
                      </a:r>
                      <a:endParaRPr lang="en-US" sz="125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50" dirty="0">
                          <a:solidFill>
                            <a:srgbClr val="0D1117"/>
                          </a:solidFill>
                          <a:latin typeface="Calibri" pitchFamily="34" charset="0"/>
                          <a:ea typeface="Calibri" pitchFamily="34" charset="-122"/>
                          <a:cs typeface="Calibri" pitchFamily="34" charset="-120"/>
                        </a:rPr>
                        <a:t>0.785–0.807</a:t>
                      </a:r>
                      <a:endParaRPr lang="en-US" sz="125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457200">
                <a:tc>
                  <a:txBody>
                    <a:bodyPr/>
                    <a:lstStyle/>
                    <a:p>
                      <a:pPr algn="l" indent="0" marL="0">
                        <a:buNone/>
                      </a:pPr>
                      <a:r>
                        <a:rPr lang="en-US" sz="1250" dirty="0">
                          <a:solidFill>
                            <a:srgbClr val="0D1117"/>
                          </a:solidFill>
                          <a:latin typeface="Calibri" pitchFamily="34" charset="0"/>
                          <a:ea typeface="Calibri" pitchFamily="34" charset="-122"/>
                          <a:cs typeface="Calibri" pitchFamily="34" charset="-120"/>
                        </a:rPr>
                        <a:t>Fish (gradient matching)</a:t>
                      </a:r>
                      <a:endParaRPr lang="en-US" sz="125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50" dirty="0">
                          <a:solidFill>
                            <a:srgbClr val="0D1117"/>
                          </a:solidFill>
                          <a:latin typeface="Calibri" pitchFamily="34" charset="0"/>
                          <a:ea typeface="Calibri" pitchFamily="34" charset="-122"/>
                          <a:cs typeface="Calibri" pitchFamily="34" charset="-120"/>
                        </a:rPr>
                        <a:t>0.3215</a:t>
                      </a:r>
                      <a:endParaRPr lang="en-US" sz="125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457200">
                <a:tc>
                  <a:txBody>
                    <a:bodyPr/>
                    <a:lstStyle/>
                    <a:p>
                      <a:pPr algn="l" indent="0" marL="0">
                        <a:buNone/>
                      </a:pPr>
                      <a:r>
                        <a:rPr lang="en-US" sz="1250" dirty="0">
                          <a:solidFill>
                            <a:srgbClr val="0D1117"/>
                          </a:solidFill>
                          <a:latin typeface="Calibri" pitchFamily="34" charset="0"/>
                          <a:ea typeface="Calibri" pitchFamily="34" charset="-122"/>
                          <a:cs typeface="Calibri" pitchFamily="34" charset="-120"/>
                        </a:rPr>
                        <a:t>ByT5 backbone (5-fold CV; never submitted)</a:t>
                      </a:r>
                      <a:endParaRPr lang="en-US" sz="125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r" indent="0" marL="0">
                        <a:buNone/>
                      </a:pPr>
                      <a:r>
                        <a:rPr lang="en-US" sz="1250" dirty="0">
                          <a:solidFill>
                            <a:srgbClr val="0D1117"/>
                          </a:solidFill>
                          <a:latin typeface="Calibri" pitchFamily="34" charset="0"/>
                          <a:ea typeface="Calibri" pitchFamily="34" charset="-122"/>
                          <a:cs typeface="Calibri" pitchFamily="34" charset="-120"/>
                        </a:rPr>
                        <a:t>0.376</a:t>
                      </a:r>
                      <a:endParaRPr lang="en-US" sz="125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bl>
          </a:graphicData>
        </a:graphic>
      </p:graphicFrame>
      <p:sp>
        <p:nvSpPr>
          <p:cNvPr id="13" name="Shape 7"/>
          <p:cNvSpPr/>
          <p:nvPr/>
        </p:nvSpPr>
        <p:spPr>
          <a:xfrm>
            <a:off x="457200" y="5120640"/>
            <a:ext cx="11274552" cy="685800"/>
          </a:xfrm>
          <a:prstGeom prst="roundRect">
            <a:avLst>
              <a:gd name="adj" fmla="val 10667"/>
            </a:avLst>
          </a:prstGeom>
          <a:solidFill>
            <a:srgbClr val="EAF1FF"/>
          </a:solidFill>
          <a:ln w="9525">
            <a:solidFill>
              <a:srgbClr val="C9DAFD"/>
            </a:solidFill>
            <a:prstDash val="solid"/>
          </a:ln>
        </p:spPr>
      </p:sp>
      <p:pic>
        <p:nvPicPr>
          <p:cNvPr id="14" name="Image 2" descr="/home/aigca/ALEXIS/Posters/build/pptx/icons/target_blue.png">    </p:cNvPr>
          <p:cNvPicPr>
            <a:picLocks noChangeAspect="1"/>
          </p:cNvPicPr>
          <p:nvPr/>
        </p:nvPicPr>
        <p:blipFill>
          <a:blip r:embed="rId3"/>
          <a:stretch>
            <a:fillRect/>
          </a:stretch>
        </p:blipFill>
        <p:spPr>
          <a:xfrm>
            <a:off x="640080" y="5326380"/>
            <a:ext cx="274320" cy="274320"/>
          </a:xfrm>
          <a:prstGeom prst="rect">
            <a:avLst/>
          </a:prstGeom>
        </p:spPr>
      </p:pic>
      <p:sp>
        <p:nvSpPr>
          <p:cNvPr id="15" name="Text 8"/>
          <p:cNvSpPr txBox="1"/>
          <p:nvPr/>
        </p:nvSpPr>
        <p:spPr>
          <a:xfrm>
            <a:off x="1051560" y="5120640"/>
            <a:ext cx="10497312" cy="685800"/>
          </a:xfrm>
          <a:prstGeom prst="rect">
            <a:avLst/>
          </a:prstGeom>
          <a:noFill/>
          <a:ln/>
        </p:spPr>
        <p:txBody>
          <a:bodyPr wrap="square" lIns="0" tIns="0" rIns="0" bIns="0" rtlCol="0" anchor="ctr"/>
          <a:lstStyle/>
          <a:p>
            <a:pPr indent="0" marL="0">
              <a:buNone/>
            </a:pPr>
            <a:r>
              <a:rPr lang="en-US" sz="1300" dirty="0">
                <a:solidFill>
                  <a:srgbClr val="0D1117"/>
                </a:solidFill>
                <a:latin typeface="Calibri" pitchFamily="34" charset="0"/>
                <a:ea typeface="Calibri" pitchFamily="34" charset="-122"/>
                <a:cs typeface="Calibri" pitchFamily="34" charset="-120"/>
              </a:rPr>
              <a:t>None beat FGM’s 0.8204, consistent with our diagnosis: they target generic regularization or domain invariance, not the OOV mechanism.</a:t>
            </a:r>
            <a:endParaRPr lang="en-US" sz="130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3" type="body" hasCustomPrompt="1"/>
          </p:nvPr>
        </p:nvSpPr>
        <p:spPr>
          <a:xfrm>
            <a:off x="786384" y="457200"/>
            <a:ext cx="8229600" cy="256032"/>
          </a:xfrm>
          <a:prstGeom prst="rect">
            <a:avLst/>
          </a:prstGeom>
          <a:noFill/>
          <a:ln/>
        </p:spPr>
        <p:txBody>
          <a:bodyPr wrap="square" lIns="0" tIns="0" rIns="0" bIns="0" rtlCol="0" anchor="ctr"/>
          <a:lstStyle/>
          <a:p>
            <a:pPr algn="l" indent="0" marL="0">
              <a:buNone/>
            </a:pPr>
            <a:r>
              <a:rPr lang="en-US" sz="1100" b="1" spc="100" kern="0" dirty="0">
                <a:solidFill>
                  <a:srgbClr val="1E6BFF"/>
                </a:solidFill>
                <a:latin typeface="Arial" pitchFamily="34" charset="0"/>
                <a:ea typeface="Arial" pitchFamily="34" charset="-122"/>
                <a:cs typeface="Arial" pitchFamily="34" charset="-120"/>
              </a:rPr>
              <a:t>ERROR ANALYSIS</a:t>
            </a:r>
            <a:endParaRPr lang="en-US" sz="1100" dirty="0"/>
          </a:p>
        </p:txBody>
      </p:sp>
      <p:sp>
        <p:nvSpPr>
          <p:cNvPr id="3" name="Text 1"/>
          <p:cNvSpPr/>
          <p:nvPr>
            <p:ph idx="104" type="title" hasCustomPrompt="1"/>
          </p:nvPr>
        </p:nvSpPr>
        <p:spPr>
          <a:xfrm>
            <a:off x="457200" y="768096"/>
            <a:ext cx="11247120" cy="566928"/>
          </a:xfrm>
          <a:prstGeom prst="rect">
            <a:avLst/>
          </a:prstGeom>
          <a:noFill/>
          <a:ln/>
        </p:spPr>
        <p:txBody>
          <a:bodyPr wrap="square" lIns="0" tIns="0" rIns="0" bIns="0" rtlCol="0" anchor="t"/>
          <a:lstStyle/>
          <a:p>
            <a:pPr algn="l" indent="0" marL="0">
              <a:buNone/>
            </a:pPr>
            <a:r>
              <a:rPr lang="en-US" sz="2800" b="1" dirty="0">
                <a:solidFill>
                  <a:srgbClr val="0D1117"/>
                </a:solidFill>
                <a:latin typeface="Arial" pitchFamily="34" charset="0"/>
                <a:ea typeface="Arial" pitchFamily="34" charset="-122"/>
                <a:cs typeface="Arial" pitchFamily="34" charset="-120"/>
              </a:rPr>
              <a:t>Neutral is the hardest class to recover</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6675120" cy="914400"/>
        </p:xfrm>
        <a:graphic>
          <a:graphicData uri="http://schemas.openxmlformats.org/drawingml/2006/table">
            <a:tbl>
              <a:tblPr/>
              <a:tblGrid>
                <a:gridCol w="2286000"/>
                <a:gridCol w="1463040"/>
                <a:gridCol w="1463040"/>
                <a:gridCol w="1463040"/>
              </a:tblGrid>
              <a:tr h="713232">
                <a:tc>
                  <a:txBody>
                    <a:bodyPr/>
                    <a:lstStyle/>
                    <a:p>
                      <a:pPr algn="l" indent="0" marL="0">
                        <a:buNone/>
                      </a:pPr>
                      <a:r>
                        <a:rPr lang="en-US" sz="1250" b="1" dirty="0">
                          <a:solidFill>
                            <a:srgbClr val="FFFFFF"/>
                          </a:solidFill>
                          <a:latin typeface="Arial" pitchFamily="34" charset="0"/>
                          <a:ea typeface="Arial" pitchFamily="34" charset="-122"/>
                          <a:cs typeface="Arial" pitchFamily="34" charset="-120"/>
                        </a:rPr>
                        <a:t>Held-out dialect</a:t>
                      </a:r>
                      <a:endParaRPr lang="en-US" sz="1250" dirty="0">
                        <a:latin typeface="Arial" charset="0"/>
                        <a:ea typeface="Arial" charset="0"/>
                        <a:cs typeface="Arial"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D1117"/>
                    </a:solidFill>
                  </a:tcPr>
                </a:tc>
                <a:tc>
                  <a:txBody>
                    <a:bodyPr/>
                    <a:lstStyle/>
                    <a:p>
                      <a:pPr algn="ctr" indent="0" marL="0">
                        <a:buNone/>
                      </a:pPr>
                      <a:r>
                        <a:rPr lang="en-US" sz="1250" b="1" dirty="0">
                          <a:solidFill>
                            <a:srgbClr val="FFFFFF"/>
                          </a:solidFill>
                          <a:latin typeface="Arial" pitchFamily="34" charset="0"/>
                          <a:ea typeface="Arial" pitchFamily="34" charset="-122"/>
                          <a:cs typeface="Arial" pitchFamily="34" charset="-120"/>
                        </a:rPr>
                        <a:t>Neg. F1</a:t>
                      </a:r>
                      <a:endParaRPr lang="en-US" sz="1250" dirty="0">
                        <a:latin typeface="Arial" charset="0"/>
                        <a:ea typeface="Arial" charset="0"/>
                        <a:cs typeface="Arial"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D1117"/>
                    </a:solidFill>
                  </a:tcPr>
                </a:tc>
                <a:tc>
                  <a:txBody>
                    <a:bodyPr/>
                    <a:lstStyle/>
                    <a:p>
                      <a:pPr algn="ctr" indent="0" marL="0">
                        <a:buNone/>
                      </a:pPr>
                      <a:r>
                        <a:rPr lang="en-US" sz="1250" b="1" dirty="0">
                          <a:solidFill>
                            <a:srgbClr val="FFFFFF"/>
                          </a:solidFill>
                          <a:latin typeface="Arial" pitchFamily="34" charset="0"/>
                          <a:ea typeface="Arial" pitchFamily="34" charset="-122"/>
                          <a:cs typeface="Arial" pitchFamily="34" charset="-120"/>
                        </a:rPr>
                        <a:t>Neu. F1</a:t>
                      </a:r>
                      <a:endParaRPr lang="en-US" sz="1250" dirty="0">
                        <a:latin typeface="Arial" charset="0"/>
                        <a:ea typeface="Arial" charset="0"/>
                        <a:cs typeface="Arial"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D1117"/>
                    </a:solidFill>
                  </a:tcPr>
                </a:tc>
                <a:tc>
                  <a:txBody>
                    <a:bodyPr/>
                    <a:lstStyle/>
                    <a:p>
                      <a:pPr algn="ctr" indent="0" marL="0">
                        <a:buNone/>
                      </a:pPr>
                      <a:r>
                        <a:rPr lang="en-US" sz="1250" b="1" dirty="0">
                          <a:solidFill>
                            <a:srgbClr val="FFFFFF"/>
                          </a:solidFill>
                          <a:latin typeface="Arial" pitchFamily="34" charset="0"/>
                          <a:ea typeface="Arial" pitchFamily="34" charset="-122"/>
                          <a:cs typeface="Arial" pitchFamily="34" charset="-120"/>
                        </a:rPr>
                        <a:t>Pos. F1</a:t>
                      </a:r>
                      <a:endParaRPr lang="en-US" sz="1250" dirty="0">
                        <a:latin typeface="Arial" charset="0"/>
                        <a:ea typeface="Arial" charset="0"/>
                        <a:cs typeface="Arial"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D1117"/>
                    </a:solidFill>
                  </a:tcPr>
                </a:tc>
              </a:tr>
              <a:tr h="713232">
                <a:tc>
                  <a:txBody>
                    <a:bodyPr/>
                    <a:lstStyle/>
                    <a:p>
                      <a:pPr algn="l" indent="0" marL="0">
                        <a:buNone/>
                      </a:pPr>
                      <a:r>
                        <a:rPr lang="en-US" sz="1500" b="1" dirty="0">
                          <a:solidFill>
                            <a:srgbClr val="0D1117"/>
                          </a:solidFill>
                          <a:latin typeface="Calibri" pitchFamily="34" charset="0"/>
                          <a:ea typeface="Calibri" pitchFamily="34" charset="-122"/>
                          <a:cs typeface="Calibri" pitchFamily="34" charset="-120"/>
                        </a:rPr>
                        <a:t>Jordanian</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0.988</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2660D0"/>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0.970</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4073D6"/>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0.983</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2D65D2"/>
                    </a:solidFill>
                  </a:tcPr>
                </a:tc>
              </a:tr>
              <a:tr h="713232">
                <a:tc>
                  <a:txBody>
                    <a:bodyPr/>
                    <a:lstStyle/>
                    <a:p>
                      <a:pPr algn="l" indent="0" marL="0">
                        <a:buNone/>
                      </a:pPr>
                      <a:r>
                        <a:rPr lang="en-US" sz="1500" b="1" dirty="0">
                          <a:solidFill>
                            <a:srgbClr val="0D1117"/>
                          </a:solidFill>
                          <a:latin typeface="Calibri" pitchFamily="34" charset="0"/>
                          <a:ea typeface="Calibri" pitchFamily="34" charset="-122"/>
                          <a:cs typeface="Calibri" pitchFamily="34" charset="-120"/>
                        </a:rPr>
                        <a:t>Saudi</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0.976</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376CD4"/>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0.950</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5C88D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0.984</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2C64D1"/>
                    </a:solidFill>
                  </a:tcPr>
                </a:tc>
              </a:tr>
              <a:tr h="713232">
                <a:tc>
                  <a:txBody>
                    <a:bodyPr/>
                    <a:lstStyle/>
                    <a:p>
                      <a:pPr algn="l" indent="0" marL="0">
                        <a:buNone/>
                      </a:pPr>
                      <a:r>
                        <a:rPr lang="en-US" sz="1500" b="1" dirty="0">
                          <a:solidFill>
                            <a:srgbClr val="0D1117"/>
                          </a:solidFill>
                          <a:latin typeface="Calibri" pitchFamily="34" charset="0"/>
                          <a:ea typeface="Calibri" pitchFamily="34" charset="-122"/>
                          <a:cs typeface="Calibri" pitchFamily="34" charset="-120"/>
                        </a:rPr>
                        <a:t>Darija</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D1117"/>
                          </a:solidFill>
                          <a:latin typeface="Calibri" pitchFamily="34" charset="0"/>
                          <a:ea typeface="Calibri" pitchFamily="34" charset="-122"/>
                          <a:cs typeface="Calibri" pitchFamily="34" charset="-120"/>
                        </a:rPr>
                        <a:t>0.911</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93B1EA"/>
                    </a:solidFill>
                  </a:tcPr>
                </a:tc>
                <a:tc>
                  <a:txBody>
                    <a:bodyPr/>
                    <a:lstStyle/>
                    <a:p>
                      <a:pPr algn="ctr" indent="0" marL="0">
                        <a:buNone/>
                      </a:pPr>
                      <a:r>
                        <a:rPr lang="en-US" sz="1500" b="1" dirty="0">
                          <a:solidFill>
                            <a:srgbClr val="0D1117"/>
                          </a:solidFill>
                          <a:latin typeface="Calibri" pitchFamily="34" charset="0"/>
                          <a:ea typeface="Calibri" pitchFamily="34" charset="-122"/>
                          <a:cs typeface="Calibri" pitchFamily="34" charset="-120"/>
                        </a:rPr>
                        <a:t>0.888</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B4C9F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0.933</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749AE3"/>
                    </a:solidFill>
                  </a:tcPr>
                </a:tc>
              </a:tr>
              <a:tr h="713232">
                <a:tc>
                  <a:txBody>
                    <a:bodyPr/>
                    <a:lstStyle/>
                    <a:p>
                      <a:pPr algn="l" indent="0" marL="0">
                        <a:buNone/>
                      </a:pPr>
                      <a:r>
                        <a:rPr lang="en-US" sz="1500" b="1" dirty="0">
                          <a:solidFill>
                            <a:srgbClr val="0D1117"/>
                          </a:solidFill>
                          <a:latin typeface="Calibri" pitchFamily="34" charset="0"/>
                          <a:ea typeface="Calibri" pitchFamily="34" charset="-122"/>
                          <a:cs typeface="Calibri" pitchFamily="34" charset="-120"/>
                        </a:rPr>
                        <a:t>Egyptian</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D1117"/>
                          </a:solidFill>
                          <a:latin typeface="Calibri" pitchFamily="34" charset="0"/>
                          <a:ea typeface="Calibri" pitchFamily="34" charset="-122"/>
                          <a:cs typeface="Calibri" pitchFamily="34" charset="-120"/>
                        </a:rPr>
                        <a:t>0.928</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7B9FE4"/>
                    </a:solidFill>
                  </a:tcPr>
                </a:tc>
                <a:tc>
                  <a:txBody>
                    <a:bodyPr/>
                    <a:lstStyle/>
                    <a:p>
                      <a:pPr algn="ctr" indent="0" marL="0">
                        <a:buNone/>
                      </a:pPr>
                      <a:r>
                        <a:rPr lang="en-US" sz="1500" b="1" dirty="0">
                          <a:solidFill>
                            <a:srgbClr val="0D1117"/>
                          </a:solidFill>
                          <a:latin typeface="Calibri" pitchFamily="34" charset="0"/>
                          <a:ea typeface="Calibri" pitchFamily="34" charset="-122"/>
                          <a:cs typeface="Calibri" pitchFamily="34" charset="-120"/>
                        </a:rPr>
                        <a:t>0.856</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1EBFD"/>
                    </a:solidFill>
                  </a:tcPr>
                </a:tc>
                <a:tc>
                  <a:txBody>
                    <a:bodyPr/>
                    <a:lstStyle/>
                    <a:p>
                      <a:pPr algn="ctr" indent="0" marL="0">
                        <a:buNone/>
                      </a:pPr>
                      <a:r>
                        <a:rPr lang="en-US" sz="1500" b="1" dirty="0">
                          <a:solidFill>
                            <a:srgbClr val="0D1117"/>
                          </a:solidFill>
                          <a:latin typeface="Calibri" pitchFamily="34" charset="0"/>
                          <a:ea typeface="Calibri" pitchFamily="34" charset="-122"/>
                          <a:cs typeface="Calibri" pitchFamily="34" charset="-120"/>
                        </a:rPr>
                        <a:t>0.914</a:t>
                      </a:r>
                      <a:endParaRPr lang="en-US" sz="1500" dirty="0">
                        <a:latin typeface="Calibri" charset="0"/>
                        <a:ea typeface="Calibri" charset="0"/>
                        <a:cs typeface="Calibri" charset="0"/>
                      </a:endParaRPr>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8FAEE9"/>
                    </a:solidFill>
                  </a:tcPr>
                </a:tc>
              </a:tr>
            </a:tbl>
          </a:graphicData>
        </a:graphic>
      </p:graphicFrame>
      <p:sp>
        <p:nvSpPr>
          <p:cNvPr id="6" name="Text 2"/>
          <p:cNvSpPr txBox="1"/>
          <p:nvPr/>
        </p:nvSpPr>
        <p:spPr>
          <a:xfrm>
            <a:off x="457200" y="5257800"/>
            <a:ext cx="6675120" cy="274320"/>
          </a:xfrm>
          <a:prstGeom prst="rect">
            <a:avLst/>
          </a:prstGeom>
          <a:noFill/>
          <a:ln/>
        </p:spPr>
        <p:txBody>
          <a:bodyPr wrap="square" lIns="0" tIns="0" rIns="0" bIns="0" rtlCol="0" anchor="t"/>
          <a:lstStyle/>
          <a:p>
            <a:pPr indent="0" marL="0">
              <a:buNone/>
            </a:pPr>
            <a:r>
              <a:rPr lang="en-US" sz="1100" dirty="0">
                <a:solidFill>
                  <a:srgbClr val="8A93A0"/>
                </a:solidFill>
                <a:latin typeface="Calibri" pitchFamily="34" charset="0"/>
                <a:ea typeface="Calibri" pitchFamily="34" charset="-122"/>
                <a:cs typeface="Calibri" pitchFamily="34" charset="-120"/>
              </a:rPr>
              <a:t>LODO per-class F1 when each seen dialect is held out.</a:t>
            </a:r>
            <a:endParaRPr lang="en-US" sz="1100" dirty="0"/>
          </a:p>
        </p:txBody>
      </p:sp>
      <p:sp>
        <p:nvSpPr>
          <p:cNvPr id="7" name="Shape 3"/>
          <p:cNvSpPr/>
          <p:nvPr/>
        </p:nvSpPr>
        <p:spPr>
          <a:xfrm>
            <a:off x="7452360" y="1600200"/>
            <a:ext cx="4279392" cy="1325880"/>
          </a:xfrm>
          <a:prstGeom prst="roundRect">
            <a:avLst>
              <a:gd name="adj" fmla="val 5517"/>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sp>
        <p:nvSpPr>
          <p:cNvPr id="8" name="Text 4"/>
          <p:cNvSpPr txBox="1"/>
          <p:nvPr/>
        </p:nvSpPr>
        <p:spPr>
          <a:xfrm>
            <a:off x="7680960" y="1764792"/>
            <a:ext cx="3822192" cy="566928"/>
          </a:xfrm>
          <a:prstGeom prst="rect">
            <a:avLst/>
          </a:prstGeom>
          <a:noFill/>
          <a:ln/>
        </p:spPr>
        <p:txBody>
          <a:bodyPr wrap="square" lIns="0" tIns="0" rIns="0" bIns="0" rtlCol="0" anchor="ctr"/>
          <a:lstStyle/>
          <a:p>
            <a:pPr indent="0" marL="0">
              <a:buNone/>
            </a:pPr>
            <a:r>
              <a:rPr lang="en-US" sz="3000" b="1" dirty="0">
                <a:solidFill>
                  <a:srgbClr val="1E6BFF"/>
                </a:solidFill>
                <a:latin typeface="Arial" pitchFamily="34" charset="0"/>
                <a:ea typeface="Arial" pitchFamily="34" charset="-122"/>
                <a:cs typeface="Arial" pitchFamily="34" charset="-120"/>
              </a:rPr>
              <a:t>0.980</a:t>
            </a:r>
            <a:endParaRPr lang="en-US" sz="3000" dirty="0"/>
          </a:p>
        </p:txBody>
      </p:sp>
      <p:sp>
        <p:nvSpPr>
          <p:cNvPr id="9" name="Text 5"/>
          <p:cNvSpPr txBox="1"/>
          <p:nvPr/>
        </p:nvSpPr>
        <p:spPr>
          <a:xfrm>
            <a:off x="7680960" y="2350008"/>
            <a:ext cx="3822192" cy="274320"/>
          </a:xfrm>
          <a:prstGeom prst="rect">
            <a:avLst/>
          </a:prstGeom>
          <a:noFill/>
          <a:ln/>
        </p:spPr>
        <p:txBody>
          <a:bodyPr wrap="square" lIns="0" tIns="0" rIns="0" bIns="0" rtlCol="0" anchor="t"/>
          <a:lstStyle/>
          <a:p>
            <a:pPr indent="0" marL="0">
              <a:buNone/>
            </a:pPr>
            <a:r>
              <a:rPr lang="en-US" sz="1200" b="1" dirty="0">
                <a:solidFill>
                  <a:srgbClr val="0D1117"/>
                </a:solidFill>
                <a:latin typeface="Arial" pitchFamily="34" charset="0"/>
                <a:ea typeface="Arial" pitchFamily="34" charset="-122"/>
                <a:cs typeface="Arial" pitchFamily="34" charset="-120"/>
              </a:rPr>
              <a:t>Easiest: Jordanian (mean F1)</a:t>
            </a:r>
            <a:endParaRPr lang="en-US" sz="1200" dirty="0"/>
          </a:p>
        </p:txBody>
      </p:sp>
      <p:sp>
        <p:nvSpPr>
          <p:cNvPr id="10" name="Text 6"/>
          <p:cNvSpPr txBox="1"/>
          <p:nvPr/>
        </p:nvSpPr>
        <p:spPr>
          <a:xfrm>
            <a:off x="7680960" y="2606040"/>
            <a:ext cx="3822192" cy="228600"/>
          </a:xfrm>
          <a:prstGeom prst="rect">
            <a:avLst/>
          </a:prstGeom>
          <a:noFill/>
          <a:ln/>
        </p:spPr>
        <p:txBody>
          <a:bodyPr wrap="square" lIns="0" tIns="0" rIns="0" bIns="0" rtlCol="0" anchor="t"/>
          <a:lstStyle/>
          <a:p>
            <a:pPr indent="0" marL="0">
              <a:buNone/>
            </a:pPr>
            <a:r>
              <a:rPr lang="en-US" sz="1150" dirty="0">
                <a:solidFill>
                  <a:srgbClr val="5A6472"/>
                </a:solidFill>
                <a:latin typeface="Calibri" pitchFamily="34" charset="0"/>
                <a:ea typeface="Calibri" pitchFamily="34" charset="-122"/>
                <a:cs typeface="Calibri" pitchFamily="34" charset="-120"/>
              </a:rPr>
              <a:t>the Levantine relative of Lebanese</a:t>
            </a:r>
            <a:endParaRPr lang="en-US" sz="1150" dirty="0"/>
          </a:p>
        </p:txBody>
      </p:sp>
      <p:sp>
        <p:nvSpPr>
          <p:cNvPr id="11" name="Shape 7"/>
          <p:cNvSpPr/>
          <p:nvPr/>
        </p:nvSpPr>
        <p:spPr>
          <a:xfrm>
            <a:off x="7452360" y="3090672"/>
            <a:ext cx="4279392" cy="1325880"/>
          </a:xfrm>
          <a:prstGeom prst="roundRect">
            <a:avLst>
              <a:gd name="adj" fmla="val 5517"/>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sp>
        <p:nvSpPr>
          <p:cNvPr id="12" name="Text 8"/>
          <p:cNvSpPr txBox="1"/>
          <p:nvPr/>
        </p:nvSpPr>
        <p:spPr>
          <a:xfrm>
            <a:off x="7680960" y="3255264"/>
            <a:ext cx="3822192" cy="566928"/>
          </a:xfrm>
          <a:prstGeom prst="rect">
            <a:avLst/>
          </a:prstGeom>
          <a:noFill/>
          <a:ln/>
        </p:spPr>
        <p:txBody>
          <a:bodyPr wrap="square" lIns="0" tIns="0" rIns="0" bIns="0" rtlCol="0" anchor="ctr"/>
          <a:lstStyle/>
          <a:p>
            <a:pPr indent="0" marL="0">
              <a:buNone/>
            </a:pPr>
            <a:r>
              <a:rPr lang="en-US" sz="3000" b="1" dirty="0">
                <a:solidFill>
                  <a:srgbClr val="B57400"/>
                </a:solidFill>
                <a:latin typeface="Arial" pitchFamily="34" charset="0"/>
                <a:ea typeface="Arial" pitchFamily="34" charset="-122"/>
                <a:cs typeface="Arial" pitchFamily="34" charset="-120"/>
              </a:rPr>
              <a:t>0.899</a:t>
            </a:r>
            <a:endParaRPr lang="en-US" sz="3000" dirty="0"/>
          </a:p>
        </p:txBody>
      </p:sp>
      <p:sp>
        <p:nvSpPr>
          <p:cNvPr id="13" name="Text 9"/>
          <p:cNvSpPr txBox="1"/>
          <p:nvPr/>
        </p:nvSpPr>
        <p:spPr>
          <a:xfrm>
            <a:off x="7680960" y="3840480"/>
            <a:ext cx="3822192" cy="274320"/>
          </a:xfrm>
          <a:prstGeom prst="rect">
            <a:avLst/>
          </a:prstGeom>
          <a:noFill/>
          <a:ln/>
        </p:spPr>
        <p:txBody>
          <a:bodyPr wrap="square" lIns="0" tIns="0" rIns="0" bIns="0" rtlCol="0" anchor="t"/>
          <a:lstStyle/>
          <a:p>
            <a:pPr indent="0" marL="0">
              <a:buNone/>
            </a:pPr>
            <a:r>
              <a:rPr lang="en-US" sz="1200" b="1" dirty="0">
                <a:solidFill>
                  <a:srgbClr val="0D1117"/>
                </a:solidFill>
                <a:latin typeface="Arial" pitchFamily="34" charset="0"/>
                <a:ea typeface="Arial" pitchFamily="34" charset="-122"/>
                <a:cs typeface="Arial" pitchFamily="34" charset="-120"/>
              </a:rPr>
              <a:t>Hardest: Egyptian (mean F1)</a:t>
            </a:r>
            <a:endParaRPr lang="en-US" sz="1200" dirty="0"/>
          </a:p>
        </p:txBody>
      </p:sp>
      <p:sp>
        <p:nvSpPr>
          <p:cNvPr id="14" name="Text 10"/>
          <p:cNvSpPr txBox="1"/>
          <p:nvPr/>
        </p:nvSpPr>
        <p:spPr>
          <a:xfrm>
            <a:off x="7680960" y="4096512"/>
            <a:ext cx="3822192" cy="228600"/>
          </a:xfrm>
          <a:prstGeom prst="rect">
            <a:avLst/>
          </a:prstGeom>
          <a:noFill/>
          <a:ln/>
        </p:spPr>
        <p:txBody>
          <a:bodyPr wrap="square" lIns="0" tIns="0" rIns="0" bIns="0" rtlCol="0" anchor="t"/>
          <a:lstStyle/>
          <a:p>
            <a:pPr indent="0" marL="0">
              <a:buNone/>
            </a:pPr>
            <a:r>
              <a:rPr lang="en-US" sz="1150" dirty="0">
                <a:solidFill>
                  <a:srgbClr val="5A6472"/>
                </a:solidFill>
                <a:latin typeface="Calibri" pitchFamily="34" charset="0"/>
                <a:ea typeface="Calibri" pitchFamily="34" charset="-122"/>
                <a:cs typeface="Calibri" pitchFamily="34" charset="-120"/>
              </a:rPr>
              <a:t>dialect family alone does not fully predict difficulty</a:t>
            </a:r>
            <a:endParaRPr lang="en-US" sz="1150" dirty="0"/>
          </a:p>
        </p:txBody>
      </p:sp>
      <p:sp>
        <p:nvSpPr>
          <p:cNvPr id="15" name="Shape 11"/>
          <p:cNvSpPr/>
          <p:nvPr/>
        </p:nvSpPr>
        <p:spPr>
          <a:xfrm>
            <a:off x="7452360" y="4572000"/>
            <a:ext cx="4279392" cy="1600200"/>
          </a:xfrm>
          <a:prstGeom prst="roundRect">
            <a:avLst>
              <a:gd name="adj" fmla="val 4571"/>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16" name="Image 0" descr="/home/aigca/ALEXIS/Posters/build/pptx/icons/eye_blue.png">    </p:cNvPr>
          <p:cNvPicPr>
            <a:picLocks noChangeAspect="1"/>
          </p:cNvPicPr>
          <p:nvPr/>
        </p:nvPicPr>
        <p:blipFill>
          <a:blip r:embed="rId1"/>
          <a:stretch>
            <a:fillRect/>
          </a:stretch>
        </p:blipFill>
        <p:spPr>
          <a:xfrm>
            <a:off x="7653528" y="4773168"/>
            <a:ext cx="329184" cy="329184"/>
          </a:xfrm>
          <a:prstGeom prst="rect">
            <a:avLst/>
          </a:prstGeom>
        </p:spPr>
      </p:pic>
      <p:sp>
        <p:nvSpPr>
          <p:cNvPr id="17" name="Text 12"/>
          <p:cNvSpPr txBox="1"/>
          <p:nvPr/>
        </p:nvSpPr>
        <p:spPr>
          <a:xfrm>
            <a:off x="8110728" y="4764024"/>
            <a:ext cx="3419856" cy="365760"/>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An optimistic proxy</a:t>
            </a:r>
            <a:endParaRPr lang="en-US" sz="1400" dirty="0"/>
          </a:p>
        </p:txBody>
      </p:sp>
      <p:sp>
        <p:nvSpPr>
          <p:cNvPr id="18" name="Text 13"/>
          <p:cNvSpPr txBox="1"/>
          <p:nvPr/>
        </p:nvSpPr>
        <p:spPr>
          <a:xfrm>
            <a:off x="7653528" y="5248656"/>
            <a:ext cx="3877056" cy="923544"/>
          </a:xfrm>
          <a:prstGeom prst="rect">
            <a:avLst/>
          </a:prstGeom>
          <a:noFill/>
          <a:ln/>
        </p:spPr>
        <p:txBody>
          <a:bodyPr wrap="square" lIns="0" tIns="0" rIns="0" bIns="0" rtlCol="0" anchor="t"/>
          <a:lstStyle/>
          <a:p>
            <a:pPr indent="0" marL="0">
              <a:spcAft>
                <a:spcPts val="400"/>
              </a:spcAft>
              <a:buNone/>
            </a:pPr>
            <a:r>
              <a:rPr lang="en-US" sz="1150" dirty="0">
                <a:solidFill>
                  <a:srgbClr val="5A6472"/>
                </a:solidFill>
                <a:latin typeface="Calibri" pitchFamily="34" charset="0"/>
                <a:ea typeface="Calibri" pitchFamily="34" charset="-122"/>
                <a:cs typeface="Calibri" pitchFamily="34" charset="-120"/>
              </a:rPr>
              <a:t>LODO rows come from the same translated-review pipeline as training. Seen-dialect CV exceeds 0.93 Macro F1; the official score is 0.8667.</a:t>
            </a:r>
            <a:endParaRPr lang="en-US" sz="115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3" type="body" hasCustomPrompt="1"/>
          </p:nvPr>
        </p:nvSpPr>
        <p:spPr>
          <a:xfrm>
            <a:off x="786384" y="457200"/>
            <a:ext cx="8229600" cy="256032"/>
          </a:xfrm>
          <a:prstGeom prst="rect">
            <a:avLst/>
          </a:prstGeom>
          <a:noFill/>
          <a:ln/>
        </p:spPr>
        <p:txBody>
          <a:bodyPr wrap="square" lIns="0" tIns="0" rIns="0" bIns="0" rtlCol="0" anchor="ctr"/>
          <a:lstStyle/>
          <a:p>
            <a:pPr algn="l" indent="0" marL="0">
              <a:buNone/>
            </a:pPr>
            <a:r>
              <a:rPr lang="en-US" sz="1100" b="1" spc="100" kern="0" dirty="0">
                <a:solidFill>
                  <a:srgbClr val="1E6BFF"/>
                </a:solidFill>
                <a:latin typeface="Arial" pitchFamily="34" charset="0"/>
                <a:ea typeface="Arial" pitchFamily="34" charset="-122"/>
                <a:cs typeface="Arial" pitchFamily="34" charset="-120"/>
              </a:rPr>
              <a:t>CONCLUSION</a:t>
            </a:r>
            <a:endParaRPr lang="en-US" sz="1100" dirty="0"/>
          </a:p>
        </p:txBody>
      </p:sp>
      <p:sp>
        <p:nvSpPr>
          <p:cNvPr id="3" name="Text 1"/>
          <p:cNvSpPr/>
          <p:nvPr>
            <p:ph idx="104" type="title" hasCustomPrompt="1"/>
          </p:nvPr>
        </p:nvSpPr>
        <p:spPr>
          <a:xfrm>
            <a:off x="457200" y="768096"/>
            <a:ext cx="11247120" cy="566928"/>
          </a:xfrm>
          <a:prstGeom prst="rect">
            <a:avLst/>
          </a:prstGeom>
          <a:noFill/>
          <a:ln/>
        </p:spPr>
        <p:txBody>
          <a:bodyPr wrap="square" lIns="0" tIns="0" rIns="0" bIns="0" rtlCol="0" anchor="t"/>
          <a:lstStyle/>
          <a:p>
            <a:pPr algn="l" indent="0" marL="0">
              <a:buNone/>
            </a:pPr>
            <a:r>
              <a:rPr lang="en-US" sz="2800" b="1" dirty="0">
                <a:solidFill>
                  <a:srgbClr val="0D1117"/>
                </a:solidFill>
                <a:latin typeface="Arial" pitchFamily="34" charset="0"/>
                <a:ea typeface="Arial" pitchFamily="34" charset="-122"/>
                <a:cs typeface="Arial" pitchFamily="34" charset="-120"/>
              </a:rPr>
              <a:t>What to take away</a:t>
            </a:r>
            <a:endParaRPr lang="en-US" sz="2800" dirty="0"/>
          </a:p>
        </p:txBody>
      </p:sp>
      <p:sp>
        <p:nvSpPr>
          <p:cNvPr id="5" name="Shape 2"/>
          <p:cNvSpPr/>
          <p:nvPr/>
        </p:nvSpPr>
        <p:spPr>
          <a:xfrm>
            <a:off x="457200" y="1600200"/>
            <a:ext cx="7040880" cy="1161288"/>
          </a:xfrm>
          <a:prstGeom prst="roundRect">
            <a:avLst>
              <a:gd name="adj" fmla="val 6299"/>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6" name="Image 0" descr="/home/aigca/ALEXIS/Posters/build/pptx/icons/target_blue.png">    </p:cNvPr>
          <p:cNvPicPr>
            <a:picLocks noChangeAspect="1"/>
          </p:cNvPicPr>
          <p:nvPr/>
        </p:nvPicPr>
        <p:blipFill>
          <a:blip r:embed="rId1"/>
          <a:stretch>
            <a:fillRect/>
          </a:stretch>
        </p:blipFill>
        <p:spPr>
          <a:xfrm>
            <a:off x="658368" y="1801368"/>
            <a:ext cx="329184" cy="329184"/>
          </a:xfrm>
          <a:prstGeom prst="rect">
            <a:avLst/>
          </a:prstGeom>
        </p:spPr>
      </p:pic>
      <p:sp>
        <p:nvSpPr>
          <p:cNvPr id="7" name="Text 3"/>
          <p:cNvSpPr txBox="1"/>
          <p:nvPr/>
        </p:nvSpPr>
        <p:spPr>
          <a:xfrm>
            <a:off x="1115568" y="1792224"/>
            <a:ext cx="6181344" cy="365760"/>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Diagnose the failure mode first</a:t>
            </a:r>
            <a:endParaRPr lang="en-US" sz="1400" dirty="0"/>
          </a:p>
        </p:txBody>
      </p:sp>
      <p:sp>
        <p:nvSpPr>
          <p:cNvPr id="8" name="Text 4"/>
          <p:cNvSpPr txBox="1"/>
          <p:nvPr/>
        </p:nvSpPr>
        <p:spPr>
          <a:xfrm>
            <a:off x="658368" y="2276856"/>
            <a:ext cx="6638544" cy="484632"/>
          </a:xfrm>
          <a:prstGeom prst="rect">
            <a:avLst/>
          </a:prstGeom>
          <a:noFill/>
          <a:ln/>
        </p:spPr>
        <p:txBody>
          <a:bodyPr wrap="square" lIns="0" tIns="0" rIns="0" bIns="0" rtlCol="0" anchor="t"/>
          <a:lstStyle/>
          <a:p>
            <a:pPr indent="0" marL="0">
              <a:spcAft>
                <a:spcPts val="400"/>
              </a:spcAft>
              <a:buNone/>
            </a:pPr>
            <a:r>
              <a:rPr lang="en-US" sz="1250" dirty="0">
                <a:solidFill>
                  <a:srgbClr val="5A6472"/>
                </a:solidFill>
                <a:latin typeface="Calibri" pitchFamily="34" charset="0"/>
                <a:ea typeface="Calibri" pitchFamily="34" charset="-122"/>
                <a:cs typeface="Calibri" pitchFamily="34" charset="-120"/>
              </a:rPr>
              <a:t>An unseen test dialect makes this zero-shot transfer: validate leave-one-dialect-out, which k-fold cannot provide.</a:t>
            </a:r>
            <a:endParaRPr lang="en-US" sz="1250" dirty="0"/>
          </a:p>
        </p:txBody>
      </p:sp>
      <p:sp>
        <p:nvSpPr>
          <p:cNvPr id="9" name="Shape 5"/>
          <p:cNvSpPr/>
          <p:nvPr/>
        </p:nvSpPr>
        <p:spPr>
          <a:xfrm>
            <a:off x="457200" y="2898648"/>
            <a:ext cx="7040880" cy="1161288"/>
          </a:xfrm>
          <a:prstGeom prst="roundRect">
            <a:avLst>
              <a:gd name="adj" fmla="val 6299"/>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10" name="Image 1" descr="/home/aigca/ALEXIS/Posters/build/pptx/icons/shield_blue.png">    </p:cNvPr>
          <p:cNvPicPr>
            <a:picLocks noChangeAspect="1"/>
          </p:cNvPicPr>
          <p:nvPr/>
        </p:nvPicPr>
        <p:blipFill>
          <a:blip r:embed="rId2"/>
          <a:stretch>
            <a:fillRect/>
          </a:stretch>
        </p:blipFill>
        <p:spPr>
          <a:xfrm>
            <a:off x="658368" y="3099816"/>
            <a:ext cx="329184" cy="329184"/>
          </a:xfrm>
          <a:prstGeom prst="rect">
            <a:avLst/>
          </a:prstGeom>
        </p:spPr>
      </p:pic>
      <p:sp>
        <p:nvSpPr>
          <p:cNvPr id="11" name="Text 6"/>
          <p:cNvSpPr txBox="1"/>
          <p:nvPr/>
        </p:nvSpPr>
        <p:spPr>
          <a:xfrm>
            <a:off x="1115568" y="3090672"/>
            <a:ext cx="6181344" cy="365760"/>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Match interventions to the shift</a:t>
            </a:r>
            <a:endParaRPr lang="en-US" sz="1400" dirty="0"/>
          </a:p>
        </p:txBody>
      </p:sp>
      <p:sp>
        <p:nvSpPr>
          <p:cNvPr id="12" name="Text 7"/>
          <p:cNvSpPr txBox="1"/>
          <p:nvPr/>
        </p:nvSpPr>
        <p:spPr>
          <a:xfrm>
            <a:off x="658368" y="3575304"/>
            <a:ext cx="6638544" cy="484632"/>
          </a:xfrm>
          <a:prstGeom prst="rect">
            <a:avLst/>
          </a:prstGeom>
          <a:noFill/>
          <a:ln/>
        </p:spPr>
        <p:txBody>
          <a:bodyPr wrap="square" lIns="0" tIns="0" rIns="0" bIns="0" rtlCol="0" anchor="t"/>
          <a:lstStyle/>
          <a:p>
            <a:pPr indent="0" marL="0">
              <a:spcAft>
                <a:spcPts val="400"/>
              </a:spcAft>
              <a:buNone/>
            </a:pPr>
            <a:r>
              <a:rPr lang="en-US" sz="1250" dirty="0">
                <a:solidFill>
                  <a:srgbClr val="5A6472"/>
                </a:solidFill>
                <a:latin typeface="Calibri" pitchFamily="34" charset="0"/>
                <a:ea typeface="Calibri" pitchFamily="34" charset="-122"/>
                <a:cs typeface="Calibri" pitchFamily="34" charset="-120"/>
              </a:rPr>
              <a:t>FGM and character noise target the lexical and orthographic distance; self-training uses the unlabeled test set.</a:t>
            </a:r>
            <a:endParaRPr lang="en-US" sz="1250" dirty="0"/>
          </a:p>
        </p:txBody>
      </p:sp>
      <p:sp>
        <p:nvSpPr>
          <p:cNvPr id="13" name="Shape 8"/>
          <p:cNvSpPr/>
          <p:nvPr/>
        </p:nvSpPr>
        <p:spPr>
          <a:xfrm>
            <a:off x="457200" y="4197096"/>
            <a:ext cx="7040880" cy="1161288"/>
          </a:xfrm>
          <a:prstGeom prst="roundRect">
            <a:avLst>
              <a:gd name="adj" fmla="val 6299"/>
            </a:avLst>
          </a:prstGeom>
          <a:solidFill>
            <a:srgbClr val="FFFFFF"/>
          </a:solidFill>
          <a:ln w="9525">
            <a:solidFill>
              <a:srgbClr val="E3E9F2"/>
            </a:solidFill>
            <a:prstDash val="solid"/>
          </a:ln>
          <a:effectLst>
            <a:outerShdw sx="100000" sy="100000" kx="0" ky="0" algn="bl" rotWithShape="0" blurRad="101600" dist="25400" dir="5400000">
              <a:srgbClr val="0D1B3A">
                <a:alpha val="10000"/>
              </a:srgbClr>
            </a:outerShdw>
          </a:effectLst>
        </p:spPr>
      </p:sp>
      <p:pic>
        <p:nvPicPr>
          <p:cNvPr id="14" name="Image 2" descr="/home/aigca/ALEXIS/Posters/build/pptx/icons/award_blue.png">    </p:cNvPr>
          <p:cNvPicPr>
            <a:picLocks noChangeAspect="1"/>
          </p:cNvPicPr>
          <p:nvPr/>
        </p:nvPicPr>
        <p:blipFill>
          <a:blip r:embed="rId3"/>
          <a:stretch>
            <a:fillRect/>
          </a:stretch>
        </p:blipFill>
        <p:spPr>
          <a:xfrm>
            <a:off x="658368" y="4398264"/>
            <a:ext cx="329184" cy="329184"/>
          </a:xfrm>
          <a:prstGeom prst="rect">
            <a:avLst/>
          </a:prstGeom>
        </p:spPr>
      </p:pic>
      <p:sp>
        <p:nvSpPr>
          <p:cNvPr id="15" name="Text 9"/>
          <p:cNvSpPr txBox="1"/>
          <p:nvPr/>
        </p:nvSpPr>
        <p:spPr>
          <a:xfrm>
            <a:off x="1115568" y="4389120"/>
            <a:ext cx="6181344" cy="365760"/>
          </a:xfrm>
          <a:prstGeom prst="rect">
            <a:avLst/>
          </a:prstGeom>
          <a:noFill/>
          <a:ln/>
        </p:spPr>
        <p:txBody>
          <a:bodyPr wrap="square" lIns="0" tIns="0" rIns="0" bIns="0" rtlCol="0" anchor="ctr"/>
          <a:lstStyle/>
          <a:p>
            <a:pPr indent="0" marL="0">
              <a:buNone/>
            </a:pPr>
            <a:r>
              <a:rPr lang="en-US" sz="1400" b="1" dirty="0">
                <a:solidFill>
                  <a:srgbClr val="0D1117"/>
                </a:solidFill>
                <a:latin typeface="Arial" pitchFamily="34" charset="0"/>
                <a:ea typeface="Arial" pitchFamily="34" charset="-122"/>
                <a:cs typeface="Arial" pitchFamily="34" charset="-120"/>
              </a:rPr>
              <a:t>Rank #1 of 12 teams</a:t>
            </a:r>
            <a:endParaRPr lang="en-US" sz="1400" dirty="0"/>
          </a:p>
        </p:txBody>
      </p:sp>
      <p:sp>
        <p:nvSpPr>
          <p:cNvPr id="16" name="Text 10"/>
          <p:cNvSpPr txBox="1"/>
          <p:nvPr/>
        </p:nvSpPr>
        <p:spPr>
          <a:xfrm>
            <a:off x="658368" y="4873752"/>
            <a:ext cx="6638544" cy="484632"/>
          </a:xfrm>
          <a:prstGeom prst="rect">
            <a:avLst/>
          </a:prstGeom>
          <a:noFill/>
          <a:ln/>
        </p:spPr>
        <p:txBody>
          <a:bodyPr wrap="square" lIns="0" tIns="0" rIns="0" bIns="0" rtlCol="0" anchor="t"/>
          <a:lstStyle/>
          <a:p>
            <a:pPr indent="0" marL="0">
              <a:spcAft>
                <a:spcPts val="400"/>
              </a:spcAft>
              <a:buNone/>
            </a:pPr>
            <a:r>
              <a:rPr lang="en-US" sz="1250" dirty="0">
                <a:solidFill>
                  <a:srgbClr val="5A6472"/>
                </a:solidFill>
                <a:latin typeface="Calibri" pitchFamily="34" charset="0"/>
                <a:ea typeface="Calibri" pitchFamily="34" charset="-122"/>
                <a:cs typeface="Calibri" pitchFamily="34" charset="-120"/>
              </a:rPr>
              <a:t>Macro F1 0.8667 and accuracy 0.8857, 4.6 points ahead of the runner-up.</a:t>
            </a:r>
            <a:endParaRPr lang="en-US" sz="1250" dirty="0"/>
          </a:p>
        </p:txBody>
      </p:sp>
      <p:sp>
        <p:nvSpPr>
          <p:cNvPr id="17" name="Shape 11"/>
          <p:cNvSpPr/>
          <p:nvPr/>
        </p:nvSpPr>
        <p:spPr>
          <a:xfrm>
            <a:off x="7726680" y="1600200"/>
            <a:ext cx="4005072" cy="3758184"/>
          </a:xfrm>
          <a:prstGeom prst="roundRect">
            <a:avLst>
              <a:gd name="adj" fmla="val 1946"/>
            </a:avLst>
          </a:prstGeom>
          <a:solidFill>
            <a:srgbClr val="0D1117"/>
          </a:solidFill>
          <a:ln w="9525">
            <a:solidFill>
              <a:srgbClr val="0D1117"/>
            </a:solidFill>
            <a:prstDash val="solid"/>
          </a:ln>
          <a:effectLst>
            <a:outerShdw sx="100000" sy="100000" kx="0" ky="0" algn="bl" rotWithShape="0" blurRad="101600" dist="25400" dir="5400000">
              <a:srgbClr val="0D1B3A">
                <a:alpha val="35000"/>
              </a:srgbClr>
            </a:outerShdw>
          </a:effectLst>
        </p:spPr>
      </p:sp>
      <p:pic>
        <p:nvPicPr>
          <p:cNvPr id="18" name="Image 3" descr="/home/aigca/ALEXIS/Posters/build/pptx/icons/arrow_white.png">    </p:cNvPr>
          <p:cNvPicPr>
            <a:picLocks noChangeAspect="1"/>
          </p:cNvPicPr>
          <p:nvPr/>
        </p:nvPicPr>
        <p:blipFill>
          <a:blip r:embed="rId4"/>
          <a:stretch>
            <a:fillRect/>
          </a:stretch>
        </p:blipFill>
        <p:spPr>
          <a:xfrm>
            <a:off x="7955280" y="1810512"/>
            <a:ext cx="292608" cy="292608"/>
          </a:xfrm>
          <a:prstGeom prst="rect">
            <a:avLst/>
          </a:prstGeom>
        </p:spPr>
      </p:pic>
      <p:sp>
        <p:nvSpPr>
          <p:cNvPr id="19" name="Text 12"/>
          <p:cNvSpPr txBox="1"/>
          <p:nvPr/>
        </p:nvSpPr>
        <p:spPr>
          <a:xfrm>
            <a:off x="8339328" y="1810512"/>
            <a:ext cx="3200400" cy="292608"/>
          </a:xfrm>
          <a:prstGeom prst="rect">
            <a:avLst/>
          </a:prstGeom>
          <a:noFill/>
          <a:ln/>
        </p:spPr>
        <p:txBody>
          <a:bodyPr wrap="square" lIns="0" tIns="0" rIns="0" bIns="0" rtlCol="0" anchor="ctr"/>
          <a:lstStyle/>
          <a:p>
            <a:pPr indent="0" marL="0">
              <a:buNone/>
            </a:pPr>
            <a:r>
              <a:rPr lang="en-US" sz="1200" b="1" spc="100" kern="0" dirty="0">
                <a:solidFill>
                  <a:srgbClr val="22C3FF"/>
                </a:solidFill>
                <a:latin typeface="Arial" pitchFamily="34" charset="0"/>
                <a:ea typeface="Arial" pitchFamily="34" charset="-122"/>
                <a:cs typeface="Arial" pitchFamily="34" charset="-120"/>
              </a:rPr>
              <a:t>OPEN CHALLENGE</a:t>
            </a:r>
            <a:endParaRPr lang="en-US" sz="1200" dirty="0"/>
          </a:p>
        </p:txBody>
      </p:sp>
      <p:sp>
        <p:nvSpPr>
          <p:cNvPr id="20" name="Text 13"/>
          <p:cNvSpPr txBox="1"/>
          <p:nvPr/>
        </p:nvSpPr>
        <p:spPr>
          <a:xfrm>
            <a:off x="7955280" y="2286000"/>
            <a:ext cx="3611880" cy="292608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D5DEEC"/>
                </a:solidFill>
                <a:latin typeface="Calibri" pitchFamily="34" charset="0"/>
                <a:ea typeface="Calibri" pitchFamily="34" charset="-122"/>
                <a:cs typeface="Calibri" pitchFamily="34" charset="-120"/>
              </a:rPr>
              <a:t>Lebanese remains the dominant error source, even for the best system.</a:t>
            </a:r>
            <a:endParaRPr lang="en-US" sz="1350" dirty="0"/>
          </a:p>
          <a:p>
            <a:pPr marL="342900" indent="-342900">
              <a:spcAft>
                <a:spcPts val="800"/>
              </a:spcAft>
              <a:buSzPct val="100000"/>
              <a:buChar char="•"/>
            </a:pPr>
            <a:r>
              <a:rPr lang="en-US" sz="1350" dirty="0">
                <a:solidFill>
                  <a:srgbClr val="D5DEEC"/>
                </a:solidFill>
                <a:latin typeface="Calibri" pitchFamily="34" charset="0"/>
                <a:ea typeface="Calibri" pitchFamily="34" charset="-122"/>
                <a:cs typeface="Calibri" pitchFamily="34" charset="-120"/>
              </a:rPr>
              <a:t>Seen-dialect CV is above 0.93 Macro F1; the official score is 0.8667.</a:t>
            </a:r>
            <a:endParaRPr lang="en-US" sz="1350" dirty="0"/>
          </a:p>
          <a:p>
            <a:pPr marL="342900" indent="-342900">
              <a:spcAft>
                <a:spcPts val="800"/>
              </a:spcAft>
              <a:buSzPct val="100000"/>
              <a:buChar char="•"/>
            </a:pPr>
            <a:r>
              <a:rPr lang="en-US" sz="1350" dirty="0">
                <a:solidFill>
                  <a:srgbClr val="D5DEEC"/>
                </a:solidFill>
                <a:latin typeface="Calibri" pitchFamily="34" charset="0"/>
                <a:ea typeface="Calibri" pitchFamily="34" charset="-122"/>
                <a:cs typeface="Calibri" pitchFamily="34" charset="-120"/>
              </a:rPr>
              <a:t>Closing the gap will likely require genuine Lebanese-domain signal rather than more regularization.</a:t>
            </a:r>
            <a:endParaRPr lang="en-US" sz="1350" dirty="0"/>
          </a:p>
        </p:txBody>
      </p:sp>
      <p:sp>
        <p:nvSpPr>
          <p:cNvPr id="21" name="Shape 14"/>
          <p:cNvSpPr/>
          <p:nvPr/>
        </p:nvSpPr>
        <p:spPr>
          <a:xfrm>
            <a:off x="457200" y="5577840"/>
            <a:ext cx="11274552" cy="502920"/>
          </a:xfrm>
          <a:prstGeom prst="roundRect">
            <a:avLst>
              <a:gd name="adj" fmla="val 14545"/>
            </a:avLst>
          </a:prstGeom>
          <a:solidFill>
            <a:srgbClr val="EAF1FF"/>
          </a:solidFill>
          <a:ln w="9525">
            <a:solidFill>
              <a:srgbClr val="C9DAFD"/>
            </a:solidFill>
            <a:prstDash val="solid"/>
          </a:ln>
        </p:spPr>
      </p:sp>
      <p:pic>
        <p:nvPicPr>
          <p:cNvPr id="22" name="Image 4" descr="/home/aigca/ALEXIS/Posters/build/pptx/icons/github_blue.png">    </p:cNvPr>
          <p:cNvPicPr>
            <a:picLocks noChangeAspect="1"/>
          </p:cNvPicPr>
          <p:nvPr/>
        </p:nvPicPr>
        <p:blipFill>
          <a:blip r:embed="rId5"/>
          <a:stretch>
            <a:fillRect/>
          </a:stretch>
        </p:blipFill>
        <p:spPr>
          <a:xfrm>
            <a:off x="640080" y="5692140"/>
            <a:ext cx="274320" cy="274320"/>
          </a:xfrm>
          <a:prstGeom prst="rect">
            <a:avLst/>
          </a:prstGeom>
        </p:spPr>
      </p:pic>
      <p:sp>
        <p:nvSpPr>
          <p:cNvPr id="23" name="Text 15"/>
          <p:cNvSpPr txBox="1"/>
          <p:nvPr/>
        </p:nvSpPr>
        <p:spPr>
          <a:xfrm>
            <a:off x="1051560" y="5577840"/>
            <a:ext cx="10497312" cy="502920"/>
          </a:xfrm>
          <a:prstGeom prst="rect">
            <a:avLst/>
          </a:prstGeom>
          <a:noFill/>
          <a:ln/>
        </p:spPr>
        <p:txBody>
          <a:bodyPr wrap="square" lIns="0" tIns="0" rIns="0" bIns="0" rtlCol="0" anchor="ctr"/>
          <a:lstStyle/>
          <a:p>
            <a:pPr indent="0" marL="0">
              <a:buNone/>
            </a:pPr>
            <a:r>
              <a:rPr lang="en-US" sz="1300" dirty="0">
                <a:solidFill>
                  <a:srgbClr val="1553CC"/>
                </a:solidFill>
                <a:latin typeface="Calibri" pitchFamily="34" charset="0"/>
                <a:ea typeface="Calibri" pitchFamily="34" charset="-122"/>
                <a:cs typeface="Calibri" pitchFamily="34" charset="-120"/>
              </a:rPr>
              <a:t>github.com/Momen-Ibrahim-Fawzy/ALEXIS-DialectSentEval-Subtask1-SentimentAnalysis-</a:t>
            </a:r>
            <a:endParaRPr lang="en-US" sz="1300" dirty="0"/>
          </a:p>
        </p:txBody>
      </p:sp>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011680"/>
            <a:ext cx="6035040" cy="914400"/>
          </a:xfrm>
          <a:prstGeom prst="rect">
            <a:avLst/>
          </a:prstGeom>
          <a:noFill/>
          <a:ln/>
        </p:spPr>
        <p:txBody>
          <a:bodyPr wrap="square" lIns="0" tIns="0" rIns="0" bIns="0"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Thank You</a:t>
            </a:r>
            <a:endParaRPr lang="en-US" sz="4800" dirty="0"/>
          </a:p>
        </p:txBody>
      </p:sp>
      <p:sp>
        <p:nvSpPr>
          <p:cNvPr id="3" name="Text 1"/>
          <p:cNvSpPr txBox="1"/>
          <p:nvPr/>
        </p:nvSpPr>
        <p:spPr>
          <a:xfrm>
            <a:off x="548640" y="2926080"/>
            <a:ext cx="6035040" cy="411480"/>
          </a:xfrm>
          <a:prstGeom prst="rect">
            <a:avLst/>
          </a:prstGeom>
          <a:noFill/>
          <a:ln/>
        </p:spPr>
        <p:txBody>
          <a:bodyPr wrap="square" lIns="0" tIns="0" rIns="0" bIns="0" rtlCol="0" anchor="t"/>
          <a:lstStyle/>
          <a:p>
            <a:pPr algn="ctr" indent="0" marL="0">
              <a:buNone/>
            </a:pPr>
            <a:r>
              <a:rPr lang="en-US" sz="1600" dirty="0">
                <a:solidFill>
                  <a:srgbClr val="22C3FF"/>
                </a:solidFill>
                <a:latin typeface="Arial" pitchFamily="34" charset="0"/>
                <a:ea typeface="Arial" pitchFamily="34" charset="-122"/>
                <a:cs typeface="Arial" pitchFamily="34" charset="-120"/>
              </a:rPr>
              <a:t>Questions welcome</a:t>
            </a:r>
            <a:endParaRPr lang="en-US" sz="1600" dirty="0"/>
          </a:p>
        </p:txBody>
      </p:sp>
      <p:sp>
        <p:nvSpPr>
          <p:cNvPr id="4" name="Shape 2"/>
          <p:cNvSpPr/>
          <p:nvPr/>
        </p:nvSpPr>
        <p:spPr>
          <a:xfrm>
            <a:off x="2011680" y="3611880"/>
            <a:ext cx="3108960" cy="0"/>
          </a:xfrm>
          <a:prstGeom prst="line">
            <a:avLst/>
          </a:prstGeom>
          <a:noFill/>
          <a:ln w="12700">
            <a:solidFill>
              <a:srgbClr val="26406E"/>
            </a:solidFill>
            <a:prstDash val="solid"/>
          </a:ln>
        </p:spPr>
      </p:sp>
      <p:sp>
        <p:nvSpPr>
          <p:cNvPr id="5" name="Text 3"/>
          <p:cNvSpPr txBox="1"/>
          <p:nvPr/>
        </p:nvSpPr>
        <p:spPr>
          <a:xfrm>
            <a:off x="548640" y="3840480"/>
            <a:ext cx="6035040" cy="320040"/>
          </a:xfrm>
          <a:prstGeom prst="rect">
            <a:avLst/>
          </a:prstGeom>
          <a:noFill/>
          <a:ln/>
        </p:spPr>
        <p:txBody>
          <a:bodyPr wrap="square" lIns="0" tIns="0" rIns="0" bIns="0" rtlCol="0" anchor="t"/>
          <a:lstStyle/>
          <a:p>
            <a:pPr algn="ctr" indent="0" marL="0">
              <a:buNone/>
            </a:pPr>
            <a:r>
              <a:rPr lang="en-US" sz="1300" dirty="0">
                <a:solidFill>
                  <a:srgbClr val="B8C4D6"/>
                </a:solidFill>
                <a:latin typeface="Calibri" pitchFamily="34" charset="0"/>
                <a:ea typeface="Calibri" pitchFamily="34" charset="-122"/>
                <a:cs typeface="Calibri" pitchFamily="34" charset="-120"/>
              </a:rPr>
              <a:t>Momen Ibrahim  ·  es-momen.ibrahim2019@alexu.edu.eg</a:t>
            </a:r>
            <a:endParaRPr lang="en-US" sz="1300" dirty="0"/>
          </a:p>
        </p:txBody>
      </p:sp>
      <p:sp>
        <p:nvSpPr>
          <p:cNvPr id="6" name="Text 4"/>
          <p:cNvSpPr txBox="1"/>
          <p:nvPr/>
        </p:nvSpPr>
        <p:spPr>
          <a:xfrm>
            <a:off x="548640" y="4187952"/>
            <a:ext cx="6035040" cy="320040"/>
          </a:xfrm>
          <a:prstGeom prst="rect">
            <a:avLst/>
          </a:prstGeom>
          <a:noFill/>
          <a:ln/>
        </p:spPr>
        <p:txBody>
          <a:bodyPr wrap="square" lIns="0" tIns="0" rIns="0" bIns="0" rtlCol="0" anchor="t"/>
          <a:lstStyle/>
          <a:p>
            <a:pPr algn="ctr" indent="0" marL="0">
              <a:buNone/>
            </a:pPr>
            <a:r>
              <a:rPr lang="en-US" sz="1300" dirty="0">
                <a:solidFill>
                  <a:srgbClr val="9FB3D0"/>
                </a:solidFill>
                <a:latin typeface="Calibri" pitchFamily="34" charset="0"/>
                <a:ea typeface="Calibri" pitchFamily="34" charset="-122"/>
                <a:cs typeface="Calibri" pitchFamily="34" charset="-120"/>
              </a:rPr>
              <a:t>Team ALEXIS  ·  Alexandria University, Egypt</a:t>
            </a:r>
            <a:endParaRPr lang="en-US" sz="1300" dirty="0"/>
          </a:p>
        </p:txBody>
      </p:sp>
      <p:sp>
        <p:nvSpPr>
          <p:cNvPr id="7" name="Shape 5"/>
          <p:cNvSpPr/>
          <p:nvPr/>
        </p:nvSpPr>
        <p:spPr>
          <a:xfrm>
            <a:off x="7086600" y="1143000"/>
            <a:ext cx="4617720" cy="4114800"/>
          </a:xfrm>
          <a:prstGeom prst="roundRect">
            <a:avLst>
              <a:gd name="adj" fmla="val 2222"/>
            </a:avLst>
          </a:prstGeom>
          <a:solidFill>
            <a:srgbClr val="FFFFFF"/>
          </a:solidFill>
          <a:ln w="9525">
            <a:solidFill>
              <a:srgbClr val="FFFFFF"/>
            </a:solidFill>
            <a:prstDash val="solid"/>
          </a:ln>
          <a:effectLst>
            <a:outerShdw sx="100000" sy="100000" kx="0" ky="0" algn="bl" rotWithShape="0" blurRad="101600" dist="25400" dir="5400000">
              <a:srgbClr val="0D1B3A">
                <a:alpha val="35000"/>
              </a:srgbClr>
            </a:outerShdw>
          </a:effectLst>
        </p:spPr>
      </p:sp>
      <p:pic>
        <p:nvPicPr>
          <p:cNvPr id="8" name="Image 0" descr="/home/aigca/ALEXIS/Posters/build/pptx/media/sa_qr_paper.png">    </p:cNvPr>
          <p:cNvPicPr>
            <a:picLocks noChangeAspect="1"/>
          </p:cNvPicPr>
          <p:nvPr/>
        </p:nvPicPr>
        <p:blipFill>
          <a:blip r:embed="rId1"/>
          <a:stretch>
            <a:fillRect/>
          </a:stretch>
        </p:blipFill>
        <p:spPr>
          <a:xfrm>
            <a:off x="7315200" y="1417320"/>
            <a:ext cx="1965960" cy="1965960"/>
          </a:xfrm>
          <a:prstGeom prst="rect">
            <a:avLst/>
          </a:prstGeom>
        </p:spPr>
      </p:pic>
      <p:sp>
        <p:nvSpPr>
          <p:cNvPr id="9" name="Text 6"/>
          <p:cNvSpPr txBox="1"/>
          <p:nvPr/>
        </p:nvSpPr>
        <p:spPr>
          <a:xfrm>
            <a:off x="7315200" y="3493008"/>
            <a:ext cx="1965960" cy="274320"/>
          </a:xfrm>
          <a:prstGeom prst="rect">
            <a:avLst/>
          </a:prstGeom>
          <a:noFill/>
          <a:ln/>
        </p:spPr>
        <p:txBody>
          <a:bodyPr wrap="square" lIns="0" tIns="0" rIns="0" bIns="0" rtlCol="0" anchor="t"/>
          <a:lstStyle/>
          <a:p>
            <a:pPr algn="ctr" indent="0" marL="0">
              <a:buNone/>
            </a:pPr>
            <a:r>
              <a:rPr lang="en-US" sz="1300" b="1" spc="100" kern="0" dirty="0">
                <a:solidFill>
                  <a:srgbClr val="1E6BFF"/>
                </a:solidFill>
                <a:latin typeface="Arial" pitchFamily="34" charset="0"/>
                <a:ea typeface="Arial" pitchFamily="34" charset="-122"/>
                <a:cs typeface="Arial" pitchFamily="34" charset="-120"/>
              </a:rPr>
              <a:t>PAPER</a:t>
            </a:r>
            <a:endParaRPr lang="en-US" sz="1300" dirty="0"/>
          </a:p>
        </p:txBody>
      </p:sp>
      <p:sp>
        <p:nvSpPr>
          <p:cNvPr id="10" name="Text 7"/>
          <p:cNvSpPr txBox="1"/>
          <p:nvPr/>
        </p:nvSpPr>
        <p:spPr>
          <a:xfrm>
            <a:off x="7315200" y="3749040"/>
            <a:ext cx="1965960" cy="274320"/>
          </a:xfrm>
          <a:prstGeom prst="rect">
            <a:avLst/>
          </a:prstGeom>
          <a:noFill/>
          <a:ln/>
        </p:spPr>
        <p:txBody>
          <a:bodyPr wrap="square" lIns="0" tIns="0" rIns="0" bIns="0" rtlCol="0" anchor="t"/>
          <a:lstStyle/>
          <a:p>
            <a:pPr algn="ctr" indent="0" marL="0">
              <a:buNone/>
            </a:pPr>
            <a:r>
              <a:rPr lang="en-US" sz="1200" dirty="0">
                <a:solidFill>
                  <a:srgbClr val="5A6472"/>
                </a:solidFill>
                <a:latin typeface="Calibri" pitchFamily="34" charset="0"/>
                <a:ea typeface="Calibri" pitchFamily="34" charset="-122"/>
                <a:cs typeface="Calibri" pitchFamily="34" charset="-120"/>
              </a:rPr>
              <a:t>ACL Anthology</a:t>
            </a:r>
            <a:endParaRPr lang="en-US" sz="1200" dirty="0"/>
          </a:p>
        </p:txBody>
      </p:sp>
      <p:pic>
        <p:nvPicPr>
          <p:cNvPr id="11" name="Image 1" descr="/home/aigca/ALEXIS/Posters/build/pptx/media/sa_qr_code.png">    </p:cNvPr>
          <p:cNvPicPr>
            <a:picLocks noChangeAspect="1"/>
          </p:cNvPicPr>
          <p:nvPr/>
        </p:nvPicPr>
        <p:blipFill>
          <a:blip r:embed="rId2"/>
          <a:stretch>
            <a:fillRect/>
          </a:stretch>
        </p:blipFill>
        <p:spPr>
          <a:xfrm>
            <a:off x="9509760" y="1417320"/>
            <a:ext cx="1965960" cy="1965960"/>
          </a:xfrm>
          <a:prstGeom prst="rect">
            <a:avLst/>
          </a:prstGeom>
        </p:spPr>
      </p:pic>
      <p:sp>
        <p:nvSpPr>
          <p:cNvPr id="12" name="Text 8"/>
          <p:cNvSpPr txBox="1"/>
          <p:nvPr/>
        </p:nvSpPr>
        <p:spPr>
          <a:xfrm>
            <a:off x="9509760" y="3493008"/>
            <a:ext cx="1965960" cy="274320"/>
          </a:xfrm>
          <a:prstGeom prst="rect">
            <a:avLst/>
          </a:prstGeom>
          <a:noFill/>
          <a:ln/>
        </p:spPr>
        <p:txBody>
          <a:bodyPr wrap="square" lIns="0" tIns="0" rIns="0" bIns="0" rtlCol="0" anchor="t"/>
          <a:lstStyle/>
          <a:p>
            <a:pPr algn="ctr" indent="0" marL="0">
              <a:buNone/>
            </a:pPr>
            <a:r>
              <a:rPr lang="en-US" sz="1300" b="1" spc="100" kern="0" dirty="0">
                <a:solidFill>
                  <a:srgbClr val="1E6BFF"/>
                </a:solidFill>
                <a:latin typeface="Arial" pitchFamily="34" charset="0"/>
                <a:ea typeface="Arial" pitchFamily="34" charset="-122"/>
                <a:cs typeface="Arial" pitchFamily="34" charset="-120"/>
              </a:rPr>
              <a:t>CODE</a:t>
            </a:r>
            <a:endParaRPr lang="en-US" sz="1300" dirty="0"/>
          </a:p>
        </p:txBody>
      </p:sp>
      <p:sp>
        <p:nvSpPr>
          <p:cNvPr id="13" name="Text 9"/>
          <p:cNvSpPr txBox="1"/>
          <p:nvPr/>
        </p:nvSpPr>
        <p:spPr>
          <a:xfrm>
            <a:off x="9509760" y="3749040"/>
            <a:ext cx="1965960" cy="274320"/>
          </a:xfrm>
          <a:prstGeom prst="rect">
            <a:avLst/>
          </a:prstGeom>
          <a:noFill/>
          <a:ln/>
        </p:spPr>
        <p:txBody>
          <a:bodyPr wrap="square" lIns="0" tIns="0" rIns="0" bIns="0" rtlCol="0" anchor="t"/>
          <a:lstStyle/>
          <a:p>
            <a:pPr algn="ctr" indent="0" marL="0">
              <a:buNone/>
            </a:pPr>
            <a:r>
              <a:rPr lang="en-US" sz="1200" dirty="0">
                <a:solidFill>
                  <a:srgbClr val="5A6472"/>
                </a:solidFill>
                <a:latin typeface="Calibri" pitchFamily="34" charset="0"/>
                <a:ea typeface="Calibri" pitchFamily="34" charset="-122"/>
                <a:cs typeface="Calibri" pitchFamily="34" charset="-120"/>
              </a:rPr>
              <a:t>GitHub</a:t>
            </a:r>
            <a:endParaRPr lang="en-US" sz="1200" dirty="0"/>
          </a:p>
        </p:txBody>
      </p:sp>
      <p:sp>
        <p:nvSpPr>
          <p:cNvPr id="14" name="Shape 10"/>
          <p:cNvSpPr/>
          <p:nvPr/>
        </p:nvSpPr>
        <p:spPr>
          <a:xfrm>
            <a:off x="7315200" y="4206240"/>
            <a:ext cx="4160520" cy="777240"/>
          </a:xfrm>
          <a:prstGeom prst="roundRect">
            <a:avLst>
              <a:gd name="adj" fmla="val 9412"/>
            </a:avLst>
          </a:prstGeom>
          <a:solidFill>
            <a:srgbClr val="0D1117"/>
          </a:solidFill>
          <a:ln w="9525">
            <a:solidFill>
              <a:srgbClr val="0D1117"/>
            </a:solidFill>
            <a:prstDash val="solid"/>
          </a:ln>
        </p:spPr>
      </p:sp>
      <p:sp>
        <p:nvSpPr>
          <p:cNvPr id="15" name="Text 11"/>
          <p:cNvSpPr txBox="1"/>
          <p:nvPr/>
        </p:nvSpPr>
        <p:spPr>
          <a:xfrm>
            <a:off x="7406640" y="4224528"/>
            <a:ext cx="3977640" cy="731520"/>
          </a:xfrm>
          <a:prstGeom prst="rect">
            <a:avLst/>
          </a:prstGeom>
          <a:noFill/>
          <a:ln/>
        </p:spPr>
        <p:txBody>
          <a:bodyPr wrap="square" lIns="0" tIns="0" rIns="0" bIns="0" rtlCol="0" anchor="ctr"/>
          <a:lstStyle/>
          <a:p>
            <a:pPr algn="ctr" indent="0" marL="0">
              <a:buNone/>
            </a:pPr>
            <a:r>
              <a:rPr lang="en-US" sz="1100" dirty="0">
                <a:solidFill>
                  <a:srgbClr val="22C3FF"/>
                </a:solidFill>
                <a:latin typeface="Calibri" pitchFamily="34" charset="0"/>
                <a:ea typeface="Calibri" pitchFamily="34" charset="-122"/>
                <a:cs typeface="Calibri" pitchFamily="34" charset="-120"/>
              </a:rPr>
              <a:t>aclanthology.org/2026.arabicnlp-sharedtasks.187</a:t>
            </a:r>
            <a:endParaRPr lang="en-US" sz="1100" dirty="0"/>
          </a:p>
          <a:p>
            <a:pPr algn="ctr" indent="0" marL="0">
              <a:buNone/>
            </a:pPr>
            <a:r>
              <a:rPr lang="en-US" sz="1100" dirty="0">
                <a:solidFill>
                  <a:srgbClr val="22C3FF"/>
                </a:solidFill>
                <a:latin typeface="Calibri" pitchFamily="34" charset="0"/>
                <a:ea typeface="Calibri" pitchFamily="34" charset="-122"/>
                <a:cs typeface="Calibri" pitchFamily="34" charset="-120"/>
              </a:rPr>
              <a:t>github.com/Momen-Ibrahim-Fawzy/ALEXIS-DialectSentEval-Subtask1-SentimentAnalysis-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3" type="body" hasCustomPrompt="1"/>
          </p:nvPr>
        </p:nvSpPr>
        <p:spPr>
          <a:xfrm>
            <a:off x="786384" y="457200"/>
            <a:ext cx="8229600" cy="256032"/>
          </a:xfrm>
          <a:prstGeom prst="rect">
            <a:avLst/>
          </a:prstGeom>
          <a:noFill/>
          <a:ln/>
        </p:spPr>
        <p:txBody>
          <a:bodyPr wrap="square" lIns="0" tIns="0" rIns="0" bIns="0" rtlCol="0" anchor="ctr"/>
          <a:lstStyle/>
          <a:p>
            <a:pPr algn="l" indent="0" marL="0">
              <a:buNone/>
            </a:pPr>
            <a:r>
              <a:rPr lang="en-US" sz="1100" b="1" spc="100" kern="0" dirty="0">
                <a:solidFill>
                  <a:srgbClr val="1E6BFF"/>
                </a:solidFill>
                <a:latin typeface="Arial" pitchFamily="34" charset="0"/>
                <a:ea typeface="Arial" pitchFamily="34" charset="-122"/>
                <a:cs typeface="Arial" pitchFamily="34" charset="-120"/>
              </a:rPr>
              <a:t>BACKUP</a:t>
            </a:r>
            <a:endParaRPr lang="en-US" sz="1100" dirty="0"/>
          </a:p>
        </p:txBody>
      </p:sp>
      <p:sp>
        <p:nvSpPr>
          <p:cNvPr id="3" name="Text 1"/>
          <p:cNvSpPr/>
          <p:nvPr>
            <p:ph idx="104" type="title" hasCustomPrompt="1"/>
          </p:nvPr>
        </p:nvSpPr>
        <p:spPr>
          <a:xfrm>
            <a:off x="457200" y="768096"/>
            <a:ext cx="11247120" cy="566928"/>
          </a:xfrm>
          <a:prstGeom prst="rect">
            <a:avLst/>
          </a:prstGeom>
          <a:noFill/>
          <a:ln/>
        </p:spPr>
        <p:txBody>
          <a:bodyPr wrap="square" lIns="0" tIns="0" rIns="0" bIns="0" rtlCol="0" anchor="t"/>
          <a:lstStyle/>
          <a:p>
            <a:pPr algn="l" indent="0" marL="0">
              <a:buNone/>
            </a:pPr>
            <a:r>
              <a:rPr lang="en-US" sz="2800" b="1" dirty="0">
                <a:solidFill>
                  <a:srgbClr val="0D1117"/>
                </a:solidFill>
                <a:latin typeface="Arial" pitchFamily="34" charset="0"/>
                <a:ea typeface="Arial" pitchFamily="34" charset="-122"/>
                <a:cs typeface="Arial" pitchFamily="34" charset="-120"/>
              </a:rPr>
              <a:t>Key hyperparameters of the deployed system</a:t>
            </a:r>
            <a:endParaRPr lang="en-US" sz="2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1371600" y="1600200"/>
          <a:ext cx="9445752" cy="914400"/>
        </p:xfrm>
        <a:graphic>
          <a:graphicData uri="http://schemas.openxmlformats.org/drawingml/2006/table">
            <a:tbl>
              <a:tblPr/>
              <a:tblGrid>
                <a:gridCol w="4206240"/>
                <a:gridCol w="5239512"/>
              </a:tblGrid>
              <a:tr h="393192">
                <a:tc>
                  <a:txBody>
                    <a:bodyPr/>
                    <a:lstStyle/>
                    <a:p>
                      <a:pPr algn="l" indent="0" marL="0">
                        <a:buNone/>
                      </a:pPr>
                      <a:r>
                        <a:rPr lang="en-US" sz="1250" b="1" spc="50" kern="0" dirty="0">
                          <a:solidFill>
                            <a:srgbClr val="FFFFFF"/>
                          </a:solidFill>
                          <a:latin typeface="Arial" pitchFamily="34" charset="0"/>
                          <a:ea typeface="Arial" pitchFamily="34" charset="-122"/>
                          <a:cs typeface="Arial" pitchFamily="34" charset="-120"/>
                        </a:rPr>
                        <a:t>Hyperparameter</a:t>
                      </a:r>
                      <a:endParaRPr lang="en-US" sz="1250" dirty="0">
                        <a:latin typeface="Arial" charset="0"/>
                        <a:ea typeface="Arial" charset="0"/>
                        <a:cs typeface="Arial"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0D1117"/>
                    </a:solidFill>
                  </a:tcPr>
                </a:tc>
                <a:tc>
                  <a:txBody>
                    <a:bodyPr/>
                    <a:lstStyle/>
                    <a:p>
                      <a:pPr algn="l" indent="0" marL="0">
                        <a:buNone/>
                      </a:pPr>
                      <a:r>
                        <a:rPr lang="en-US" sz="1250" b="1" spc="50" kern="0" dirty="0">
                          <a:solidFill>
                            <a:srgbClr val="FFFFFF"/>
                          </a:solidFill>
                          <a:latin typeface="Arial" pitchFamily="34" charset="0"/>
                          <a:ea typeface="Arial" pitchFamily="34" charset="-122"/>
                          <a:cs typeface="Arial" pitchFamily="34" charset="-120"/>
                        </a:rPr>
                        <a:t>Value</a:t>
                      </a:r>
                      <a:endParaRPr lang="en-US" sz="1250" dirty="0">
                        <a:latin typeface="Arial" charset="0"/>
                        <a:ea typeface="Arial" charset="0"/>
                        <a:cs typeface="Arial"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0D1117"/>
                    </a:solidFill>
                  </a:tcPr>
                </a:tc>
              </a:tr>
              <a:tr h="393192">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Max sequence length</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128 sub-words</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393192">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Pooling</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Masked mean</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393192">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Loss</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Class-weighted cross-entropy</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393192">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Class weights (neg. / pos. / neu.)</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 0.88 / 0.95 / 1.24 (sklearn ‘balanced’, per fold)</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393192">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FGM perturbation norm ε</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393192">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Self-training rounds</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393192">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Committee confidence threshold</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0.55</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393192">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Pseudo-label loss weight</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0.7×</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393192">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Char-noise rate (per character)</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 6%</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r h="393192">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Ensemble combination</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D1117"/>
                          </a:solidFill>
                          <a:latin typeface="Calibri" pitchFamily="34" charset="0"/>
                          <a:ea typeface="Calibri" pitchFamily="34" charset="-122"/>
                          <a:cs typeface="Calibri" pitchFamily="34" charset="-120"/>
                        </a:rPr>
                        <a:t>Uniform softmax average</a:t>
                      </a:r>
                      <a:endParaRPr lang="en-US" sz="1400" dirty="0">
                        <a:latin typeface="Calibri" charset="0"/>
                        <a:ea typeface="Calibri" charset="0"/>
                        <a:cs typeface="Calibri" charset="0"/>
                      </a:endParaRPr>
                    </a:p>
                  </a:txBody>
                  <a:tcPr marL="91440" marR="91440" marT="0" marB="0"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6BFF"/>
                </a:solidFill>
                <a:latin typeface="Arial"/>
                <a:ea typeface="Arial"/>
                <a:cs typeface="Arial"/>
              </a:defRPr>
            </a:lvl1pPr>
          </a:lstStyle>
          <a:p>
            <a:pPr algn="r"/>
            <a:fld id="{F7021451-1387-4CA6-816F-3879F97B5CBC}" type="slidenum">
              <a:rPr b="1" lang="en-US"/>
              <a:t>18</a:t>
            </a:fld>
            <a:endParaRPr lang="en-US"/>
          </a:p>
        </p:txBody>
      </p:sp>
    </p:spTree>
  </p:cSld>
  <p:clrMapOvr>
    <a:masterClrMapping/>
  </p:clrMapOvr>
</p:sld>
</file>

<file path=ppt/theme/theme1.xml><?xml version="1.0" encoding="utf-8"?>
<a:theme xmlns:a="http://schemas.openxmlformats.org/drawingml/2006/main" name="ALEXIS AI MOMENT">
  <a:themeElements>
    <a:clrScheme name="ALEXIS AI MOMENT">
      <a:dk1>
        <a:srgbClr val="0D1117"/>
      </a:dk1>
      <a:lt1>
        <a:srgbClr val="FFFFFF"/>
      </a:lt1>
      <a:dk2>
        <a:srgbClr val="12203A"/>
      </a:dk2>
      <a:lt2>
        <a:srgbClr val="F4F7FB"/>
      </a:lt2>
      <a:accent1>
        <a:srgbClr val="1E6BFF"/>
      </a:accent1>
      <a:accent2>
        <a:srgbClr val="22C3FF"/>
      </a:accent2>
      <a:accent3>
        <a:srgbClr val="E8A020"/>
      </a:accent3>
      <a:accent4>
        <a:srgbClr val="5A6472"/>
      </a:accent4>
      <a:accent5>
        <a:srgbClr val="138A52"/>
      </a:accent5>
      <a:accent6>
        <a:srgbClr val="C8372D"/>
      </a:accent6>
      <a:hlink>
        <a:srgbClr val="1E6BFF"/>
      </a:hlink>
      <a:folHlink>
        <a:srgbClr val="9FB3D0"/>
      </a:folHlink>
    </a:clrScheme>
    <a:fontScheme name="ALEXIS AI MOMEN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Team ALEXIS, Alexandria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ALEXIS at DialectSentEval Subtask 1</dc:title>
  <dc:subject>ArabicNLP 2026 shared-task system paper</dc:subject>
  <dc:creator>Momen Ibrahim</dc:creator>
  <cp:lastModifiedBy>Momen Ibrahim</cp:lastModifiedBy>
  <cp:revision>1</cp:revision>
  <dcterms:created xsi:type="dcterms:W3CDTF">2026-10-26T11:23:35Z</dcterms:created>
  <dcterms:modified xsi:type="dcterms:W3CDTF">2026-10-26T11:23:35Z</dcterms:modified>
</cp:coreProperties>
</file>